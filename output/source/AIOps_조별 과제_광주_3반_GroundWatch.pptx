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91e92be0fec4ed5" /><Relationship Type="http://schemas.openxmlformats.org/officeDocument/2006/relationships/extended-properties" Target="/docProps/app.xml" Id="R6b24e26c5478473c" /><Relationship Type="http://schemas.openxmlformats.org/officeDocument/2006/relationships/officeDocument" Target="/ppt/presentation.xml" Id="R08e3411d484d41d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dc5918155b2490c"/>
  </p:sldMasterIdLst>
  <p:notesMasterIdLst>
    <p:notesMasterId xmlns:r="http://schemas.openxmlformats.org/officeDocument/2006/relationships" r:id="R351930d9ba014a3d"/>
  </p:notesMasterIdLst>
  <p:sldIdLst>
    <p:sldId xmlns:r="http://schemas.openxmlformats.org/officeDocument/2006/relationships" id="256" r:id="Ra92600b2bf7d49df"/>
    <p:sldId xmlns:r="http://schemas.openxmlformats.org/officeDocument/2006/relationships" id="257" r:id="R2f17a064c72f427c"/>
    <p:sldId xmlns:r="http://schemas.openxmlformats.org/officeDocument/2006/relationships" id="258" r:id="Re23457b2c7b74d27"/>
    <p:sldId xmlns:r="http://schemas.openxmlformats.org/officeDocument/2006/relationships" id="259" r:id="R973b340fa5d34671"/>
    <p:sldId xmlns:r="http://schemas.openxmlformats.org/officeDocument/2006/relationships" id="260" r:id="R13d3fd43f0c04799"/>
    <p:sldId xmlns:r="http://schemas.openxmlformats.org/officeDocument/2006/relationships" id="261" r:id="R03f17b8f073a4a2b"/>
    <p:sldId xmlns:r="http://schemas.openxmlformats.org/officeDocument/2006/relationships" id="262" r:id="Rb25578da63504b2c"/>
    <p:sldId xmlns:r="http://schemas.openxmlformats.org/officeDocument/2006/relationships" id="263" r:id="Ra64f76587288445d"/>
    <p:sldId xmlns:r="http://schemas.openxmlformats.org/officeDocument/2006/relationships" id="264" r:id="Rfcba1ec393af4be0"/>
    <p:sldId xmlns:r="http://schemas.openxmlformats.org/officeDocument/2006/relationships" id="265" r:id="Rc165b78c1f2643de"/>
    <p:sldId xmlns:r="http://schemas.openxmlformats.org/officeDocument/2006/relationships" id="266" r:id="R471ed03e825d4408"/>
    <p:sldId xmlns:r="http://schemas.openxmlformats.org/officeDocument/2006/relationships" id="267" r:id="Rc24cfe8dfb8e41d1"/>
    <p:sldId xmlns:r="http://schemas.openxmlformats.org/officeDocument/2006/relationships" id="268" r:id="R145bd0d196714e89"/>
    <p:sldId xmlns:r="http://schemas.openxmlformats.org/officeDocument/2006/relationships" id="269" r:id="Re885998ceace42af"/>
    <p:sldId xmlns:r="http://schemas.openxmlformats.org/officeDocument/2006/relationships" id="270" r:id="R29fa7fca2c854c01"/>
    <p:sldId xmlns:r="http://schemas.openxmlformats.org/officeDocument/2006/relationships" id="271" r:id="R131eac18856f4a7f"/>
    <p:sldId xmlns:r="http://schemas.openxmlformats.org/officeDocument/2006/relationships" id="272" r:id="R1f13addcfa674c8d"/>
    <p:sldId xmlns:r="http://schemas.openxmlformats.org/officeDocument/2006/relationships" id="273" r:id="Raa31ea72c7434157"/>
    <p:sldId xmlns:r="http://schemas.openxmlformats.org/officeDocument/2006/relationships" id="274" r:id="R50a71a6be9a24571"/>
    <p:sldId xmlns:r="http://schemas.openxmlformats.org/officeDocument/2006/relationships" id="275" r:id="R819e8e890f2a4ad9"/>
    <p:sldId xmlns:r="http://schemas.openxmlformats.org/officeDocument/2006/relationships" id="276" r:id="Re684b88eb65b4afa"/>
    <p:sldId xmlns:r="http://schemas.openxmlformats.org/officeDocument/2006/relationships" id="277" r:id="R1c13a91c58a1499a"/>
    <p:sldId xmlns:r="http://schemas.openxmlformats.org/officeDocument/2006/relationships" id="278" r:id="R412d8737424b4614"/>
    <p:sldId xmlns:r="http://schemas.openxmlformats.org/officeDocument/2006/relationships" id="279" r:id="R9be2e86e43e54195"/>
    <p:sldId xmlns:r="http://schemas.openxmlformats.org/officeDocument/2006/relationships" id="280" r:id="R69a0ec3b48814489"/>
    <p:sldId xmlns:r="http://schemas.openxmlformats.org/officeDocument/2006/relationships" id="281" r:id="R89d3b1280c1646e2"/>
    <p:sldId xmlns:r="http://schemas.openxmlformats.org/officeDocument/2006/relationships" id="282" r:id="Rd3211312a4c94229"/>
    <p:sldId xmlns:r="http://schemas.openxmlformats.org/officeDocument/2006/relationships" id="283" r:id="R79144e8efbaf42c1"/>
    <p:sldId xmlns:r="http://schemas.openxmlformats.org/officeDocument/2006/relationships" id="284" r:id="R941ad60bd100493d"/>
    <p:sldId xmlns:r="http://schemas.openxmlformats.org/officeDocument/2006/relationships" id="285" r:id="R7a2e559ebb4c4a9e"/>
    <p:sldId xmlns:r="http://schemas.openxmlformats.org/officeDocument/2006/relationships" id="286" r:id="Rca10f1bf32f04770"/>
    <p:sldId xmlns:r="http://schemas.openxmlformats.org/officeDocument/2006/relationships" id="287" r:id="Reb8ec2e5f80547c7"/>
    <p:sldId xmlns:r="http://schemas.openxmlformats.org/officeDocument/2006/relationships" id="288" r:id="Rd4365287e1de4283"/>
    <p:sldId xmlns:r="http://schemas.openxmlformats.org/officeDocument/2006/relationships" id="289" r:id="R66863d8eab474ab0"/>
    <p:sldId xmlns:r="http://schemas.openxmlformats.org/officeDocument/2006/relationships" id="290" r:id="Rc7d1b600798e4a58"/>
    <p:sldId xmlns:r="http://schemas.openxmlformats.org/officeDocument/2006/relationships" id="291" r:id="R19cfe9b2cb3a4293"/>
    <p:sldId xmlns:r="http://schemas.openxmlformats.org/officeDocument/2006/relationships" id="292" r:id="Rb0868886286c4ed3"/>
  </p:sldIdLst>
  <p:sldSz cx="9144000" cy="5143500"/>
  <p:notesSz cx="6858000" cy="9144000"/>
  <p:embeddedFontLst>
    <p:embeddedFont>
      <p:font typeface="NanumGothic"/>
      <p:regular xmlns:r="http://schemas.openxmlformats.org/officeDocument/2006/relationships" r:id="Rc617fcd526294631"/>
      <p:bold xmlns:r="http://schemas.openxmlformats.org/officeDocument/2006/relationships" r:id="R505ceae28a4b435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f1b51f53c545ff" /><Relationship Type="http://schemas.openxmlformats.org/officeDocument/2006/relationships/slideMaster" Target="/ppt/slideMasters/slideMaster1.xml" Id="R9dc5918155b2490c" /><Relationship Type="http://schemas.openxmlformats.org/officeDocument/2006/relationships/notesMaster" Target="/ppt/notesMasters/notesMaster1.xml" Id="R351930d9ba014a3d" /><Relationship Type="http://schemas.openxmlformats.org/officeDocument/2006/relationships/presProps" Target="/ppt/presProps.xml" Id="R5c759fc8556a43d5" /><Relationship Type="http://schemas.openxmlformats.org/officeDocument/2006/relationships/tableStyles" Target="/ppt/tableStyles.xml" Id="R0708c01b22404f98" /><Relationship Type="http://schemas.openxmlformats.org/officeDocument/2006/relationships/font" Target="/ppt/fonts/font.dat" Id="Rc617fcd526294631" /><Relationship Type="http://schemas.openxmlformats.org/officeDocument/2006/relationships/font" Target="/ppt/fonts/font2.dat" Id="R505ceae28a4b435b" /><Relationship Type="http://schemas.openxmlformats.org/officeDocument/2006/relationships/slide" Target="/ppt/slides/slide1.xml" Id="Ra92600b2bf7d49df" /><Relationship Type="http://schemas.openxmlformats.org/officeDocument/2006/relationships/slide" Target="/ppt/slides/slide2.xml" Id="R2f17a064c72f427c" /><Relationship Type="http://schemas.openxmlformats.org/officeDocument/2006/relationships/slide" Target="/ppt/slides/slide3.xml" Id="Re23457b2c7b74d27" /><Relationship Type="http://schemas.openxmlformats.org/officeDocument/2006/relationships/slide" Target="/ppt/slides/slide4.xml" Id="R973b340fa5d34671" /><Relationship Type="http://schemas.openxmlformats.org/officeDocument/2006/relationships/slide" Target="/ppt/slides/slide5.xml" Id="R13d3fd43f0c04799" /><Relationship Type="http://schemas.openxmlformats.org/officeDocument/2006/relationships/slide" Target="/ppt/slides/slide6.xml" Id="R03f17b8f073a4a2b" /><Relationship Type="http://schemas.openxmlformats.org/officeDocument/2006/relationships/slide" Target="/ppt/slides/slide7.xml" Id="Rb25578da63504b2c" /><Relationship Type="http://schemas.openxmlformats.org/officeDocument/2006/relationships/slide" Target="/ppt/slides/slide8.xml" Id="Ra64f76587288445d" /><Relationship Type="http://schemas.openxmlformats.org/officeDocument/2006/relationships/slide" Target="/ppt/slides/slide9.xml" Id="Rfcba1ec393af4be0" /><Relationship Type="http://schemas.openxmlformats.org/officeDocument/2006/relationships/slide" Target="/ppt/slides/slide10.xml" Id="Rc165b78c1f2643de" /><Relationship Type="http://schemas.openxmlformats.org/officeDocument/2006/relationships/slide" Target="/ppt/slides/slide11.xml" Id="R471ed03e825d4408" /><Relationship Type="http://schemas.openxmlformats.org/officeDocument/2006/relationships/slide" Target="/ppt/slides/slide12.xml" Id="Rc24cfe8dfb8e41d1" /><Relationship Type="http://schemas.openxmlformats.org/officeDocument/2006/relationships/slide" Target="/ppt/slides/slide13.xml" Id="R145bd0d196714e89" /><Relationship Type="http://schemas.openxmlformats.org/officeDocument/2006/relationships/slide" Target="/ppt/slides/slide14.xml" Id="Re885998ceace42af" /><Relationship Type="http://schemas.openxmlformats.org/officeDocument/2006/relationships/slide" Target="/ppt/slides/slide15.xml" Id="R29fa7fca2c854c01" /><Relationship Type="http://schemas.openxmlformats.org/officeDocument/2006/relationships/slide" Target="/ppt/slides/slide16.xml" Id="R131eac18856f4a7f" /><Relationship Type="http://schemas.openxmlformats.org/officeDocument/2006/relationships/slide" Target="/ppt/slides/slide17.xml" Id="R1f13addcfa674c8d" /><Relationship Type="http://schemas.openxmlformats.org/officeDocument/2006/relationships/slide" Target="/ppt/slides/slide18.xml" Id="Raa31ea72c7434157" /><Relationship Type="http://schemas.openxmlformats.org/officeDocument/2006/relationships/slide" Target="/ppt/slides/slide19.xml" Id="R50a71a6be9a24571" /><Relationship Type="http://schemas.openxmlformats.org/officeDocument/2006/relationships/slide" Target="/ppt/slides/slide20.xml" Id="R819e8e890f2a4ad9" /><Relationship Type="http://schemas.openxmlformats.org/officeDocument/2006/relationships/slide" Target="/ppt/slides/slide21.xml" Id="Re684b88eb65b4afa" /><Relationship Type="http://schemas.openxmlformats.org/officeDocument/2006/relationships/slide" Target="/ppt/slides/slide22.xml" Id="R1c13a91c58a1499a" /><Relationship Type="http://schemas.openxmlformats.org/officeDocument/2006/relationships/slide" Target="/ppt/slides/slide23.xml" Id="R412d8737424b4614" /><Relationship Type="http://schemas.openxmlformats.org/officeDocument/2006/relationships/slide" Target="/ppt/slides/slide24.xml" Id="R9be2e86e43e54195" /><Relationship Type="http://schemas.openxmlformats.org/officeDocument/2006/relationships/slide" Target="/ppt/slides/slide25.xml" Id="R69a0ec3b48814489" /><Relationship Type="http://schemas.openxmlformats.org/officeDocument/2006/relationships/slide" Target="/ppt/slides/slide26.xml" Id="R89d3b1280c1646e2" /><Relationship Type="http://schemas.openxmlformats.org/officeDocument/2006/relationships/slide" Target="/ppt/slides/slide27.xml" Id="Rd3211312a4c94229" /><Relationship Type="http://schemas.openxmlformats.org/officeDocument/2006/relationships/slide" Target="/ppt/slides/slide28.xml" Id="R79144e8efbaf42c1" /><Relationship Type="http://schemas.openxmlformats.org/officeDocument/2006/relationships/slide" Target="/ppt/slides/slide29.xml" Id="R941ad60bd100493d" /><Relationship Type="http://schemas.openxmlformats.org/officeDocument/2006/relationships/slide" Target="/ppt/slides/slide30.xml" Id="R7a2e559ebb4c4a9e" /><Relationship Type="http://schemas.openxmlformats.org/officeDocument/2006/relationships/slide" Target="/ppt/slides/slide31.xml" Id="Rca10f1bf32f04770" /><Relationship Type="http://schemas.openxmlformats.org/officeDocument/2006/relationships/slide" Target="/ppt/slides/slide32.xml" Id="Reb8ec2e5f80547c7" /><Relationship Type="http://schemas.openxmlformats.org/officeDocument/2006/relationships/slide" Target="/ppt/slides/slide33.xml" Id="Rd4365287e1de4283" /><Relationship Type="http://schemas.openxmlformats.org/officeDocument/2006/relationships/slide" Target="/ppt/slides/slide34.xml" Id="R66863d8eab474ab0" /><Relationship Type="http://schemas.openxmlformats.org/officeDocument/2006/relationships/slide" Target="/ppt/slides/slide35.xml" Id="Rc7d1b600798e4a58" /><Relationship Type="http://schemas.openxmlformats.org/officeDocument/2006/relationships/slide" Target="/ppt/slides/slide36.xml" Id="R19cfe9b2cb3a4293" /><Relationship Type="http://schemas.openxmlformats.org/officeDocument/2006/relationships/slide" Target="/ppt/slides/slide37.xml" Id="Rb0868886286c4e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771cb5114045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NanumGothic"/>
        <a:cs typeface="NanumGothic"/>
      </a:majorFont>
      <a:minorFont>
        <a:latin typeface="NanumGothic"/>
        <a:ea typeface="NanumGothic"/>
        <a:cs typeface="Nanum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92fad92f5b4892" /><Relationship Type="http://schemas.openxmlformats.org/officeDocument/2006/relationships/notesMaster" Target="/ppt/notesMasters/notesMaster1.xml" Id="Rdab1aa02adbd41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1eae96e7c6451c" /><Relationship Type="http://schemas.openxmlformats.org/officeDocument/2006/relationships/notesMaster" Target="/ppt/notesMasters/notesMaster1.xml" Id="Ra5c0c2c2593844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3cb1cda71847e4" /><Relationship Type="http://schemas.openxmlformats.org/officeDocument/2006/relationships/notesMaster" Target="/ppt/notesMasters/notesMaster1.xml" Id="R25095e65c5344f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211c95d4e44414" /><Relationship Type="http://schemas.openxmlformats.org/officeDocument/2006/relationships/notesMaster" Target="/ppt/notesMasters/notesMaster1.xml" Id="R05910769578f4f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a1dbaf0b5746aa" /><Relationship Type="http://schemas.openxmlformats.org/officeDocument/2006/relationships/notesMaster" Target="/ppt/notesMasters/notesMaster1.xml" Id="R4e5200ca034d43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c78a3e41ca4b22" /><Relationship Type="http://schemas.openxmlformats.org/officeDocument/2006/relationships/notesMaster" Target="/ppt/notesMasters/notesMaster1.xml" Id="R8665fc1696f64d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7401e7b0924168" /><Relationship Type="http://schemas.openxmlformats.org/officeDocument/2006/relationships/notesMaster" Target="/ppt/notesMasters/notesMaster1.xml" Id="R8c017b6300ad47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9abb2813b54aa4" /><Relationship Type="http://schemas.openxmlformats.org/officeDocument/2006/relationships/notesMaster" Target="/ppt/notesMasters/notesMaster1.xml" Id="R6da75bb44a354f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766772968d44c7" /><Relationship Type="http://schemas.openxmlformats.org/officeDocument/2006/relationships/notesMaster" Target="/ppt/notesMasters/notesMaster1.xml" Id="R0b270c354b0947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a52de8f31744af" /><Relationship Type="http://schemas.openxmlformats.org/officeDocument/2006/relationships/notesMaster" Target="/ppt/notesMasters/notesMaster1.xml" Id="R58b55110480645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d040cbab0b445d" /><Relationship Type="http://schemas.openxmlformats.org/officeDocument/2006/relationships/notesMaster" Target="/ppt/notesMasters/notesMaster1.xml" Id="R652155e14afc46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b9d9887bbe4c22" /><Relationship Type="http://schemas.openxmlformats.org/officeDocument/2006/relationships/notesMaster" Target="/ppt/notesMasters/notesMaster1.xml" Id="R1cf6bbdaaaa845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1dc89f5c5543a2" /><Relationship Type="http://schemas.openxmlformats.org/officeDocument/2006/relationships/notesMaster" Target="/ppt/notesMasters/notesMaster1.xml" Id="R77ba3e910bb247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4e445b738d45d1" /><Relationship Type="http://schemas.openxmlformats.org/officeDocument/2006/relationships/notesMaster" Target="/ppt/notesMasters/notesMaster1.xml" Id="R626015be6b9d47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cdd9702a1a4238" /><Relationship Type="http://schemas.openxmlformats.org/officeDocument/2006/relationships/notesMaster" Target="/ppt/notesMasters/notesMaster1.xml" Id="R44c956b8a60f491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3fbe42c215c4101" /><Relationship Type="http://schemas.openxmlformats.org/officeDocument/2006/relationships/notesMaster" Target="/ppt/notesMasters/notesMaster1.xml" Id="Rc844dceba25f40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de5ba59e704793" /><Relationship Type="http://schemas.openxmlformats.org/officeDocument/2006/relationships/notesMaster" Target="/ppt/notesMasters/notesMaster1.xml" Id="R0b92f2f936184d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9309b7d7e0249a7" /><Relationship Type="http://schemas.openxmlformats.org/officeDocument/2006/relationships/notesMaster" Target="/ppt/notesMasters/notesMaster1.xml" Id="R04feb0400e22459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dc48f444774d36" /><Relationship Type="http://schemas.openxmlformats.org/officeDocument/2006/relationships/notesMaster" Target="/ppt/notesMasters/notesMaster1.xml" Id="R7e58a04b812d411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169172832c04ad1" /><Relationship Type="http://schemas.openxmlformats.org/officeDocument/2006/relationships/notesMaster" Target="/ppt/notesMasters/notesMaster1.xml" Id="R5e519db43f0446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65b670bdf6402a" /><Relationship Type="http://schemas.openxmlformats.org/officeDocument/2006/relationships/notesMaster" Target="/ppt/notesMasters/notesMaster1.xml" Id="Rd82476e199524c9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1e463de36874f38" /><Relationship Type="http://schemas.openxmlformats.org/officeDocument/2006/relationships/notesMaster" Target="/ppt/notesMasters/notesMaster1.xml" Id="R7d12e4f22d894c6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1b5591c482443f" /><Relationship Type="http://schemas.openxmlformats.org/officeDocument/2006/relationships/notesMaster" Target="/ppt/notesMasters/notesMaster1.xml" Id="R78b0acbaa7174cc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5e8e7458c9b45ec" /><Relationship Type="http://schemas.openxmlformats.org/officeDocument/2006/relationships/notesMaster" Target="/ppt/notesMasters/notesMaster1.xml" Id="R22a0e92d05944b5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92f0914f3a4cff" /><Relationship Type="http://schemas.openxmlformats.org/officeDocument/2006/relationships/notesMaster" Target="/ppt/notesMasters/notesMaster1.xml" Id="R7a896e092894486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1065cc096b24742" /><Relationship Type="http://schemas.openxmlformats.org/officeDocument/2006/relationships/notesMaster" Target="/ppt/notesMasters/notesMaster1.xml" Id="R81e996752c324d7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ab1237df97d41f5" /><Relationship Type="http://schemas.openxmlformats.org/officeDocument/2006/relationships/notesMaster" Target="/ppt/notesMasters/notesMaster1.xml" Id="Re202431634ce4d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89a4d35b6ed4706" /><Relationship Type="http://schemas.openxmlformats.org/officeDocument/2006/relationships/notesMaster" Target="/ppt/notesMasters/notesMaster1.xml" Id="R599aa3dc05cc4f7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ee45b8aef5d4f7f" /><Relationship Type="http://schemas.openxmlformats.org/officeDocument/2006/relationships/notesMaster" Target="/ppt/notesMasters/notesMaster1.xml" Id="Rc69f07a69d544ea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6e9fcd0c2464895" /><Relationship Type="http://schemas.openxmlformats.org/officeDocument/2006/relationships/notesMaster" Target="/ppt/notesMasters/notesMaster1.xml" Id="R9ecbc3a43a5a4da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e17c80421c41a6" /><Relationship Type="http://schemas.openxmlformats.org/officeDocument/2006/relationships/notesMaster" Target="/ppt/notesMasters/notesMaster1.xml" Id="Rc96ff055a1a8485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803d9cc4204455f" /><Relationship Type="http://schemas.openxmlformats.org/officeDocument/2006/relationships/notesMaster" Target="/ppt/notesMasters/notesMaster1.xml" Id="R9b1ec78212ab46d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cdd23a6170745dc" /><Relationship Type="http://schemas.openxmlformats.org/officeDocument/2006/relationships/notesMaster" Target="/ppt/notesMasters/notesMaster1.xml" Id="R81e97eaa589e498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b9d59df1cde47d6" /><Relationship Type="http://schemas.openxmlformats.org/officeDocument/2006/relationships/notesMaster" Target="/ppt/notesMasters/notesMaster1.xml" Id="R2dc4b83e455a44a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25f0ba30b964e67" /><Relationship Type="http://schemas.openxmlformats.org/officeDocument/2006/relationships/notesMaster" Target="/ppt/notesMasters/notesMaster1.xml" Id="Re2f2a54724d4406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7153841a4bb4b3d" /><Relationship Type="http://schemas.openxmlformats.org/officeDocument/2006/relationships/notesMaster" Target="/ppt/notesMasters/notesMaster1.xml" Id="R3ce23d85d2d745e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4eaddca18874e56" /><Relationship Type="http://schemas.openxmlformats.org/officeDocument/2006/relationships/notesMaster" Target="/ppt/notesMasters/notesMaster1.xml" Id="Radac3cab5ebb43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광주3반 5조 발표를 맡은 한형준입니다. GroundWatch는 서울 25개 구별 대표 관측소의 수위·강수를 기본 화면에 제공합니다. 구 전체 평균은 아닙니다. 서울 추가 실측은9월30일까지 확보했고 이후 합성 확장을 명확히 구분합니다. 추가 실측 조회가 기존 모델의 재평가나 승격 완료를 뜻하지는 않습니다. 전국 실측 3곳의 280일 자료와 장마 평가는 추가 조회이고 운영 미승인입니다. 입력 마지막 날의 1일 뒤 수위를 추정하며, 발행 시점에 따라 당일 추정과 다음 날 예측을 구분합니다. 오늘은 운영 기준과 실제 동작 결과를 설명하겠습니다.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제안 B2B 고객은 지하수 관측·시설 유지관리 업무를 수행하는 기업의 운영 담당자입니다. 업무 담당자는 수위·강수·입력 날짜와 모델 품질을 함께 확인하고, 모델 운영자는 오차 증가와 재학습·교체 근거를 관리합니다. 공공기관은 자료 제공·현장 검증 협업 대상이며 공공기관 직접 판매는 B2G입니다. B2G가 과제 B2B 조건으로 인정됐다고 주장하지 않으며 실제 고객 도입·계약·매출·현장 효과는 아직 검증하지 않았습니다.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장애가 나면 담당자는 예측을 조회할 수 없습니다. 응답이 늦으면 여러 관측소를 확인하고 비교하는 업무가 지연됩니다. 모델 품질이 나빠지면 오차가 커진 예측을 계속 업무에 참고할 수 있습니다. 이 문제들이 서로 다르기 때문에 생존·준비 상태, 응답 지표, 모델 오차를 나누어 감시하도록 설계했습니다. 이는 저희가 정의한 업무 시나리오이며 현장 고객 효과를 측정한 결과는 아닙니다.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가이드의 도메인 매핑표를 기준으로 여덟 항목을 바꿨습니다. 예측 대상은 종가에서 다음 날 지하수위로, 입력은 20일 수위와 강수로 치환했습니다. 고정 금액으로 판단하던 게이트는 기존 예측 방식과의 상대 오차 비교로 바꿨습니다. 재학습과 알림의 흐름은 유지하면서 관측소, 날짜, 단위, 모델 버전으로 기록을 연결했습니다. 다음부터는 이렇게 바꾼 기준이 어떤 서비스 범위를 만드는지 설명하겠습니다.</a:t>
            </a:r>
          </a:p>
          <a:p xmlns:a="http://schemas.openxmlformats.org/drawingml/2006/main">
            <a:r>
              <a:t/>
            </a:r>
          </a:p>
          <a:p xmlns:a="http://schemas.openxmlformats.org/drawingml/2006/main">
            <a:r>
              <a:t>공식 가이드17~18쪽의8개 도메인 매핑 항목을 유지했습니다. 이해관계자는 지하수 관측·시설 유지관리 기업의 업무·모델 운영자로 제안합니다.</a:t>
            </a:r>
          </a:p>
          <a:p xmlns:a="http://schemas.openxmlformats.org/drawingml/2006/main">
            <a:r>
              <a:t/>
            </a:r>
          </a:p>
          <a:p xmlns:a="http://schemas.openxmlformats.org/drawingml/2006/main">
            <a:r>
              <a:t>공식 가이드17~18쪽의8개 도메인 매핑 항목을 유지했습니다. 이해관계자는 지하수 관측·시설 유지관리 기업의 업무·모델 운영자로 제안합니다.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확인할 수 있는 결과는 관측소별 다음 날 수위 예측과 모델 운영 상태입니다. 기본 시연 자료에는 공식 과거 관측과 별도로 구분한 합성 확장이 포함됩니다. 현장 적용을 위해서는 관측소의 적합성과 수위 변화의 원인, 실제 업무 시간이나 비용 효과를 추가로 검증해야 합니다. 싱크홀 발생 확률이나 안전 등급을 산출했다고 설명하지 않습니다. B2B는 관측·시설 유지관리 기업에 제안하고 공공기관은 협업 대상으로 구분합니다. 도입·계약·매출 실적은 확인하지 않았습니다.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최근 연속 20일의 수위와 강수를 관측소별 모델에 입력합니다. 모델은 LSTM으로 다음 날의 변화량을 예측하고 마지막 입력 수위에 더합니다. 관측소마다 모델과 scaler를 따로 관리하며 scaler는 학습 구간만 보고 학습합니다. 예측 결과에는 대상 날짜와 모델 버전을 함께 남겨 이후 실제 관측값이 들어왔을 때 같은 날짜의 오차를 계산할 수 있게 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응답 목표는 p95 1초 이하입니다. p95는 요청 시간의 95백분위로, 일부 느린 요청까지 살피기 위한 지표입니다. 저장된 300초, 107개 요청의 측정에서는 0.6538초였고 서버 오류인 5xx는 0건이었습니다. 이 수치는 해당 요청 창의 결과이며 장기간 가용성을 보장하는 SLA는 아닙니다. 초기 실제 관측 모델은 종로구 검증 RMSE 0.032519로, 직전 수위를 그대로 예측하는 persistence 기준의 허용 상한 0.037465를 통과했습니다. 수위에는 음수와 0이 있어 백분율 오차보다 같은 수위 단위의 RMSE를 중심으로 설명합니다.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시연의 막대를 각각 가리킨다.]</a:t>
            </a:r>
          </a:p>
          <a:p xmlns:a="http://schemas.openxmlformats.org/drawingml/2006/main">
            <a:r>
              <a:t/>
            </a:r>
          </a:p>
          <a:p xmlns:a="http://schemas.openxmlformats.org/drawingml/2006/main">
            <a:r>
              <a:t>AIOps의 가치는 새 모델을 만들었다는 사실보다, 실제로 나아졌는지 확인하고 교체를 결정한 결과로 보여드리겠습니다. 이번 합성 시연에서 같은 후속 정답 30일을 비교했을 때 기존 RMSE는 0.0232006, 후보는 0.0210489로 9.27% 감소했습니다. 과거 구간 검사도 통과해 v2로 교체했습니다. 반면 다른 시연의 후보는 2.51% 개선되어 5% 기준에 미달했고 기존 모델을 유지했습니다. 그래프는 각 시연의 기존 오차를 100으로 맞춘 것으로, 서로 다른 시연의 후보를 직접 비교하는 그래프는 아닙니다. 현장 비용 절감이나 사고 예방 수치는 아직 측정하지 않았습니다.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장마나 장기 가뭄은 강수와 지하수위의 관계를 학습 때와 다르게 만들 수 있습니다. 양수나 배수 조건이 바뀌면 강수만으로 설명하기 어려운 수위 변화가 나타날 수 있습니다. 센서 교체나 영점 보정은 측정 기준의 변화를 일으킬 수 있습니다. 이런 상황에서는 먼저 원자료, 단위, 관측 조건을 확인해야 합니다. 현재 시스템은 이 원인들을 분류하는 기능 대신 실제 정답에 대한 예측 오차 증가를 감지합니다. 시연에서는 첫 정답 22일째부터 수위에 0.2를 더해 이러한 변화를 재현했습니다.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서울 기존 모델은 초기 검증 구간, 전국 모델은 동결한 holdout 구간을 기준으로 guard와 오차 임계값을 계산합니다.</a:t>
            </a:r>
          </a:p>
          <a:p xmlns:a="http://schemas.openxmlformats.org/drawingml/2006/main">
            <a:r>
              <a:t/>
            </a:r>
          </a:p>
          <a:p xmlns:a="http://schemas.openxmlformats.org/drawingml/2006/main">
            <a:r>
              <a:t>모델을 배포하기 전에 입력과 성능을 차례로 검사합니다. 입력은 연속 20일인지, 관측소와 날짜·단위가 맞는지, 강수가 0 이상인지 확인합니다. 초기 모델은 persistence 검증 RMSE의 110% 이내여야 합니다. 재학습 후보는 학습 이후 새로 확보한 정답 30일에서 기존 모델보다 오차가 5% 이상 줄어야 하고, 과거 검증 구간도 110% 허용 범위를 통과해야 합니다. 마지막으로 모델 로드와 시험 예측이 성공해야 서빙 모델을 바꿉니다.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서울 기존 모델은 초기 검증 구간, 전국 모델은 동결한 holdout 구간을 기준으로 guard와 오차 임계값을 계산합니다.</a:t>
            </a:r>
          </a:p>
          <a:p xmlns:a="http://schemas.openxmlformats.org/drawingml/2006/main">
            <a:r>
              <a:t/>
            </a:r>
          </a:p>
          <a:p xmlns:a="http://schemas.openxmlformats.org/drawingml/2006/main">
            <a:r>
              <a:t>서비스와 모델을 각각 감시합니다. 서비스는 300초에 최소 20요청이 모였을 때 p95가 1초를 넘거나 5xx 비율이 1% 이상이면 이벤트를 기록합니다. 모델은 21일 RMSE를 사용하고 정상 검증 구간의 rolling RMSE 95백분위에 1.5배를 곱한 값을 임계로 사용합니다. 단발 초과에 반응하지 않도록 연속 2회 조건을 두고, 중복 재학습을 줄이기 위해 21일 cooldown을 적용했습니다. 이 값들은 과제의 운영 정책이며 지반 안전 기준은 아닙니다.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[왼쪽부터 오른쪽으로 순서대로 가리킨다.]</a:t>
            </a:r>
          </a:p>
          <a:p xmlns:a="http://schemas.openxmlformats.org/drawingml/2006/main">
            <a:r>
              <a:t/>
            </a:r>
          </a:p>
          <a:p xmlns:a="http://schemas.openxmlformats.org/drawingml/2006/main">
            <a:r>
              <a:t>정답이 쌓이면 오차를 감시하고, 반복 초과 시 품질 알림과 재학습 작업을 남깁니다. 최근 41일에는 입력 문맥 20일과 학습 정답 21일이 들어갑니다. 후보를 만든 뒤에는 새로운 정답 30일을 기다려 기존 모델과 비교합니다. 개선과 회귀 검사에 모두 통과하면 교체하고 실패하면 기존 모델을 유지합니다. 따라서 재학습 완료와 모델 교체는 서로 다른 단계입니다.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정답이 부족하면 평가를 기다립니다. 후보가 성능 기준에 미달하거나 입력 날짜에 공백이 있으면 기존 모델을 유지합니다. 모델 로드 실패도 전환을 중단하고 오류를 기록합니다. 이미 검증한 이전 모델로 돌아갈 때는 사유를 남기는 복귀 요청을 사용합니다. 프로세스가 재시작되어 중단된 작업도 성공으로 처리하지 않고 interrupted로 보존합니다. 이처럼 무엇을 바꾸지 않았는지와 그 이유까지 운영 이력에 남깁니다.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[위쪽 데이터 흐름을 왼쪽부터 읽는다.]</a:t>
            </a:r>
          </a:p>
          <a:p xmlns:a="http://schemas.openxmlformats.org/drawingml/2006/main">
            <a:r>
              <a:t/>
            </a:r>
          </a:p>
          <a:p xmlns:a="http://schemas.openxmlformats.org/drawingml/2006/main">
            <a:r>
              <a:t>자료를 업로드하면 FastAPI가 형식을 검사하고 worker가 모델을 학습합니다. 학습 결과와 지표·버전은 MLflow에 등록하고 FastAPI가 검증된 모델로 추론합니다. 예측과 운영 기록은 SQLite에 저장합니다. 이 구성은 단일 serving-app 컨테이너 안에서 실행합니다. MLflow는 로컬 SQLite와 artifact 파일을 사용하므로 별도 MLflow 서버를 띄운 구조는 아닙니다. 대시보드는 서빙 API를 호출하고 자료와 모델, 운영 이력은 볼륨으로 보존합니다.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운영 중 데이터가 흐르는 순서입니다. 먼저 예측값과 모델 버전·대상일을 저장합니다. 그 날짜의 실제 정답이 도착하면 예측과 연결해 오차를 계산합니다. 반복된 오차 증가를 감지하면 이벤트와 로그를 남기고 worker의 재학습 작업을 등록합니다. 이후 후보 검증과 교체는 앞서 설명한 운영 정책을 따릅니다.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사용되는 API를 기능별로 모았습니다. 추론은 POST, 생존과 준비 확인은 GET입니다. 업로드와 학습, 자료 진행, 복귀는 비동기 작업으로 접수합니다. 여기서 202는 요청을 받았다는 뜻이며 완료 여부는 작업 조회에서 다시 확인합니다. 순차 배치 검증에는 replays의 advance를 사용합니다. 교수자 원본의 batch-test나 logs 주소를 팀 서비스의 엔드포인트로 옮겨 적지 않았습니다.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실제 20일 요청 중 한 행입니다. 관측소, 날짜, 수위, 강수와 수위 단위를 보냅니다. 정상 응답에는 예측값뿐 아니라 사용 모델 버전과 입력·예측 날짜가 함께 있습니다. 빈 sequence를 보낸 실제 요청은 422와 too_short 오류를 반환했습니다. 따라서 잘못된 입력을 받아 임의의 예측값을 만드는 대신 계약 단계에서 막는 것을 확인했습니다.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업로드는 관측 CSV와 관측소·단위 manifest를 함께 전송합니다. 학습에는 자료 식별자와 대상 구를 보냅니다. 배치 검증은 진행할 일수를 보내며 새 정답을 순서대로 공개하고 감시·후보 평가까지 실행합니다. 표의 식별자는 계약을 설명하기 위한 예시이며 실제 요청과 응답은 증거 파일에 보존했습니다. 접수 결과로 받은 작업 식별자를 조회해 최종 상태와 오류를 확인합니다.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live는 프로세스 생존, ready는 입력과 모델의 준비를 확인합니다. 준비가 부족하면 ready는 503을 반환합니다. events와 jobs에서는 품질 이벤트와 작업의 상태·오류를 조회합니다. 실제 시연에서도 초기 모델 준비가 끝나기 전에 자료 진행을 요청했을 때 409가 반환되어, 준비되지 않은 상태의 진행을 막는 것을 확인했습니다. 이제부터는 이렇게 호출한 결과를 실제 화면으로 보여드리겠습니다.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실제 진단 화면입니다. container가 true이고 컨테이너 ID와 API 프로세스 9, worker 프로세스 7을 확인할 수 있습니다. worker_running도 true입니다. 이는 프로세스가 실행 중이라는 증거이며 모델 품질이나 장기 가용성까지 입증하는 값은 아닙니다. 다음 화면들은 이 검증 과정에서 직접 캡처한 결과입니다.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종로구의 시연 시작 상태입니다. 모델 버전은 1이고 7월 10일 입력으로 7월 11일 수위를 예측했습니다. 예측값은 약 -22.6053 gl.-m입니다. 이 시점에는 후속 정답이 0일이므로 오차 평가와 드리프트 판단은 대기합니다. 이후 같은 시연에서 자료를 진행하겠습니다.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8월 1일부터 수위에 0.2를 더한 시연 자료를 공개했습니다. 오차 감시와 드리프트 감지가 완료됐고 자동 재학습도 완료된 화면입니다. 21일 RMSE가 약 0.0549187로 임계값 0.0172312를 넘었습니다. 다만 후보를 만들었다고 즉시 교체하지는 않았고, 이 캡처에서는 후속 정답 30일을 기다리는 상태였습니다.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실제 종로구 품질 이벤트입니다. 오차와 임계값, 재학습 요청 메시지, 발생 시각을 함께 확인할 수 있습니다. 알림은 10월 8일 06시 12분 24초 UTC에 기록됐습니다. 이 알림은 운영 화면과 SQLite 이벤트로 제공하며 외부 메신저를 보냈다고 설명하지 않습니다.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알림에 이어 생성된 fine_tune 작업의 실제 기록입니다. 상태는 completed이고 후보 버전은 2입니다. 결과의 awaiting_shadow는 새 정답으로 비교 평가를 기다린다는 뜻입니다. 이때 서빙 모델은 여전히 v1이고 필요한 후속 정답은 30개입니다. 화면을 통해 학습 완료와 배포 완료를 구분할 수 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[기존·후보 막대와 점선을 가리킨다.]</a:t>
            </a:r>
          </a:p>
          <a:p xmlns:a="http://schemas.openxmlformats.org/drawingml/2006/main">
            <a:r>
              <a:t/>
            </a:r>
          </a:p>
          <a:p xmlns:a="http://schemas.openxmlformats.org/drawingml/2006/main">
            <a:r>
              <a:t>후속 정답 30일이 확보된 뒤의 평가 화면입니다. 막대는 짧을수록 오차가 작고 점선은 기존보다 5% 이상 줄어야 하는 기준입니다. 후보의 오차는 기존 대비 9.27% 줄었습니다. 과거 구간 오차도 허용 상한을 통과했습니다. 그래서 화면 상단에 후보 모델로 교체 완료가 표시됩니다. 작은 소수점 숫자를 해석해야 했던 평가를 그래프와 개선율로 먼저 읽을 수 있게 바꿨습니다.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후보 평가, 모델 교체, 현재 모델 서빙을 따로 확인한 화면입니다. 후보 v2가 게이트를 통과해 교체됐고 실제 예측에서도 v2가 사용됐습니다. 등록된 후보가 존재한다는 사실만 확인한 것이 아니라, 최종 응답에 새 모델이 쓰이는 것까지 확인했습니다.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같은 시연의 진행 후 예측 화면입니다. 모델 버전은 2이고 9월 1일 입력으로 9월 2일 수위를 약 -21.4740 gl.-m로 예측했습니다. 앞의 v1 화면과 날짜가 다르므로 두 예측값의 차이를 정확도 개선으로 해석하지 않습니다. 정확도 개선은 25쪽의 동일 정답 30일 비교가 근거이고, 이 화면은 교체한 모델이 실제 응답을 만든다는 근거입니다.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합성 교체 시연의 실제 실행 화면]</a:t>
            </a:r>
          </a:p>
          <a:p xmlns:a="http://schemas.openxmlformats.org/drawingml/2006/main">
            <a:r>
              <a:t/>
            </a:r>
          </a:p>
          <a:p xmlns:a="http://schemas.openxmlformats.org/drawingml/2006/main">
            <a:r>
              <a:t>강수량은 날짜별로 관측되는 이산 자료라 실제 값이 있는 날의 날짜를 표시했습니다. 0mm는 점으로, 결측은 빈칸으로 구분하고 긴 기간은 가로로 이동할 수 있습니다. 이 캡처에서는 8월 27일 강수 3.5mm가 막대로 보이고, 비가 없는 날은 0mm 점으로 보입니다. 운영자가 그래프의 값과 날짜를 함께 읽을 수 있게 개선한 부분입니다.</a:t>
            </a:r>
          </a:p>
          <a:p xmlns:a="http://schemas.openxmlformats.org/drawingml/2006/main">
            <a:r>
              <a:t/>
            </a:r>
          </a:p>
          <a:p xmlns:a="http://schemas.openxmlformats.org/drawingml/2006/main">
            <a:r>
              <a:t>근거:[object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화면은 서울 25개 구별 대표 관측소이며 종로를 처음 선택합니다. 서울 추가 실측22,582행을2026년9월30일까지 확보했습니다. 10월1일부터는 합성 확장으로 분리하며 실제 관측 날짜와 모델 입력 날짜를 함께 표시합니다. 저장자료 검증 모드를 선택하면 과거 25개 모델을 확인합니다. 전국 실측3곳과 전국17시도 합성 시뮬레이션은 별도 자료 범위이며 운영 미승인입니다. 최신HTTP에서서울25곳중23곳 모델준비,전국실측3곳중1곳,합성17곳중16곳이 모델준비입니다. 서울2곳은과거날짜공백을채우지않았고합성1곳은초기게이트탈락으로persistence를표시합니다. 자료조회가능과모델준비를구분합니다. 같은 관측소 선택이 상세와 모델 관리로 이어지고 실제 전국 강수 지도와 장마 평가를 조회합니다. GIMS 위치만 확보한 1,023개는 기본 지도와 목록에 표시하지 않습니다. 관측소 상세는 Three.js로 최근 실측과 추정 수위를 비교합니다. 전국은 해발 기준면의 수위 비교이고 서울 GL 단면은 별도 개념도입니다. 실제 지층 도면은 없으며 3D를 사용할 수 없으면 2D 비교도로 대체합니다.</a:t>
            </a:r>
          </a:p>
          <a:p xmlns:a="http://schemas.openxmlformats.org/drawingml/2006/main">
            <a:r>
              <a:t/>
            </a:r>
          </a:p>
          <a:p xmlns:a="http://schemas.openxmlformats.org/drawingml/2006/main">
            <a:r>
              <a:t>추가 조회 모드 ‘서울 실제 API 관측·예측 · 원값’은 기존 저장자료 경로와 별도입니다. VTsSec 원값·ASOS108 강수·강수 결측 마스크의3특성을 api_native_masked_v1 namespace에서 사용합니다. 수위 단위가 확정되지 않아 원값을 해발·GL로 바꾸거나 공간도표에 표시하지 않습니다. 격리 볼륨에서 수집·학습이 미준비일 수 있으며 실제API25개 모델준비나 운영승격 성공을 보장하지 않습니다.</a:t>
            </a:r>
          </a:p>
          <a:p xmlns:a="http://schemas.openxmlformats.org/drawingml/2006/main">
            <a:r>
              <a:t/>
            </a:r>
          </a:p>
          <a:p xmlns:a="http://schemas.openxmlformats.org/drawingml/2006/main">
            <a:r>
              <a:t>근거: frontend/src/main.tsx; evidence/records/2026-10-08-national/integrated-network-http.json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서울 25개 구별 대표 관측소가 기본 서비스입니다. GIMS 참고 위치 1,023곳은 확보 목록만 보존하며 기본 지도에서 제외합니다. 서울 25곳을 합한 1,048개는 원천 목록 수이며 서비스 범위가 아닙니다. 광주도척, 무안무안, 제주조천 세 곳은 2026년 1월1일부터 10월7일까지 각각 280일 실측을 확보했습니다. AWS 일자료는280일201,206건입니다. API허브 ASOS 활용 승인과 실제 응답을 확인했습니다. ASOS2020~2025년 원천은 유효2,731행·결측3,845행으로 연속6년 모델 입력이 아닙니다. 원천 음수 결측은0으로 채우지 않습니다. 전국17시도 수위·강수는 합성 시나리오이며 실측3곳과 분리합니다. 장마 통계는 66지점 54년 3,564행을 평가 전용으로 사용합니다. 위치 목록의 표준화 테스트 레이어 한계와 미확인 지점은 별도 상태로 남깁니다.</a:t>
            </a:r>
          </a:p>
          <a:p xmlns:a="http://schemas.openxmlformats.org/drawingml/2006/main">
            <a:r>
              <a:t/>
            </a:r>
          </a:p>
          <a:p xmlns:a="http://schemas.openxmlformats.org/drawingml/2006/main">
            <a:r>
              <a:t>근거: data/national_stations_gims.json; data/national_groundwater_samples.json; data/national_aws_history.json.gz; data/rainy_seasons_kma_manifest.json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서울 수위는 gl.-m 표기를 보존하고 전국 실험 자료는 elevation m, 즉 기준면에 대한 수위로 관리합니다. GIMS가 제공한 기상지점 이름을 기상청 ASOS 이름과 대조한 세 연결만 실험 입력으로 사용합니다. 기관 간 숫자 코드가 같다고 같은 지점으로 간주하지 않습니다. 원천 필드와 날짜·단위 계약 확인은 학습 실험의 근거이고, 현장 운영 승인과 기준점 변경 이력 검증을 대신하지 않습니다.</a:t>
            </a:r>
          </a:p>
          <a:p xmlns:a="http://schemas.openxmlformats.org/drawingml/2006/main">
            <a:r>
              <a:t/>
            </a:r>
          </a:p>
          <a:p xmlns:a="http://schemas.openxmlformats.org/drawingml/2006/main">
            <a:r>
              <a:t>추가 조회 모드 ‘서울 실제 API 관측·예측 · 원값’은 기존 저장자료 경로와 별도입니다. VTsSec 원값·ASOS108 강수·강수 결측 마스크의3특성을 api_native_masked_v1 namespace에서 사용합니다. 수위 단위가 확정되지 않아 원값을 해발·GL로 바꾸거나 공간도표에 표시하지 않습니다. 격리 볼륨에서 수집·학습이 미준비일 수 있으며 실제API25개 모델준비나 운영승격 성공을 보장하지 않습니다.</a:t>
            </a:r>
          </a:p>
          <a:p xmlns:a="http://schemas.openxmlformats.org/drawingml/2006/main">
            <a:r>
              <a:t/>
            </a:r>
          </a:p>
          <a:p xmlns:a="http://schemas.openxmlformats.org/drawingml/2006/main">
            <a:r>
              <a:t>근거: data/national_experimental_joined.json; data/README.md; docs/contracts.md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M0는 최근20일 수위·강수의 두 채널입니다. M1은 같은 시계열에3·7·14일 누적강수, 최대20일 연속강수일수, 연중sin/cos 등6개 요약특징을 추가합니다. 실제 장마 시작·종료일은 사후에 확정되므로 모델 입력으로 넣지 않고 평가 그룹을 나누는 데만 사용합니다. 실측 두 모델은 학습 종료5월31일, 튜닝 검증6월, 최종 비교7월1일~10월7일99정답으로 고정했습니다. 별도 합성17시도는 학습2022~2023년, 검증2024년1~3월, 평가2024년4월1일~2025년12월31일640정답입니다. 합성 장마는 매년6월20일~7월25일 시나리오로 정하며 공식 장마 통계가 아닙니다. scaler와 강한 강수 P95도 학습 구간만 사용합니다.</a:t>
            </a:r>
          </a:p>
          <a:p xmlns:a="http://schemas.openxmlformats.org/drawingml/2006/main">
            <a:r>
              <a:t/>
            </a:r>
          </a:p>
          <a:p xmlns:a="http://schemas.openxmlformats.org/drawingml/2006/main">
            <a:r>
              <a:t>실제API 원값 모드는3특성이며 M0/M1의 기존2특성 경로와 namespace를 분리합니다.</a:t>
            </a:r>
          </a:p>
          <a:p xmlns:a="http://schemas.openxmlformats.org/drawingml/2006/main">
            <a:r>
              <a:t/>
            </a:r>
          </a:p>
          <a:p xmlns:a="http://schemas.openxmlformats.org/drawingml/2006/main">
            <a:r>
              <a:t>근거: serving_app/national_models.py; scripts/evaluate_national_seasons.py; evidence/records/2026-10-08-national/seasonal-evaluation.json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표는 공통 최종 평가99정답의 RMSE입니다. 감소율이 양수면 M1이 M0보다 좋습니다. 제주 M1은 M0보다 전체29.43%, 장마52.27%좋지만 전체 persistence보다 약0.71%나쁩니다. 제주 장마는19개 정답뿐이므로30개 계절 게이트를 충족하지 않습니다. 무안과 광주에서는 M1이 더 나빴습니다. 별도 합성17곳34모델의640일 평가도 완료했습니다. 전체 pooled RMSE는M0 0.04083450에서M1 0.04066274로 줄고16곳이 미세 개선했지만5%개선 지점은0곳입니다. 합성 장마72정답/지점의pooled RMSE는0.09114846에서0.09118669로 악화됐고 강한 강수618개 합계도0.12931976에서0.12972571로 악화됐습니다. 합성 시나리오에서 장마 개선을 입증하지 못했고 실측 운영 승격 근거로 사용하지 않습니다. 따라서 강수 특징을 넣으면 무조건 더 좋아진다고 결론내리지 않고, 나쁜 후보는 교체하지 않습니다.</a:t>
            </a:r>
          </a:p>
          <a:p xmlns:a="http://schemas.openxmlformats.org/drawingml/2006/main">
            <a:r>
              <a:t/>
            </a:r>
          </a:p>
          <a:p xmlns:a="http://schemas.openxmlformats.org/drawingml/2006/main">
            <a:r>
              <a:t>근거: evidence/records/2026-10-08-national/seasonal-evaluation.json; synthetic-seasonal-evaluation.json; synthetic-seasonal-summary.json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원본 검증 후3개 지하수 관측소와 완료 일강수를 D−1기준으로 수집합니다. 기본Compose에서는 전국 scheduler와 실험 감시가 활성화됩니다. 실제 발행 예측에 정답이 연결되면21일RMSE를 매일 계산하고 연속2회 초과,21일대기,41일자료 조건에서 후보를 학습합니다. 새 정답30일 비교와5%개선·guard 조건을 만족해야 합니다. 현재3곳은실험 연결이므로 운영 승격은 차단됩니다. 동결guard의 계절 표본이 부족한M1후보는 회복 불가능한 조건이므로 즉시 만료합니다. 그외 후속 정답 대기는90일 상한으로 만료해 영구 대기를 방지합니다. 합성 미래30일 공개 실험은 검증용이며 실제 미래30일 운영 실증이 아닙니다. D−1자료로D에발행하는값은입력기준1일후의당일추정이며발행일기준내일예측이아닙니다. 오늘 내려받은 과거자료로 당시 예측을 발행한 것처럼 소급하지 않습니다.</a:t>
            </a:r>
          </a:p>
          <a:p xmlns:a="http://schemas.openxmlformats.org/drawingml/2006/main">
            <a:r>
              <a:t/>
            </a:r>
          </a:p>
          <a:p xmlns:a="http://schemas.openxmlformats.org/drawingml/2006/main">
            <a:r>
              <a:t>실제API 원값 모드의 감지 임계는 초기validation RMSE×1.5이며 rolling21일 RMSE의P95가 아닙니다. 최근21일 오차를 연속2회 초과하면cooldown21일과최근41일 조건으로 최대30epoch 파인튜닝합니다. cutoff 다음날부터 정확히 연속30일의 새 정답에서5%개선을 확인하고, 후보 학습과 겹치지 않는 동일 과거guard 최소10정답에서 부모 모델 대비 악화10%이내를 확인합니다. CSV·전국 모델의 기존 임계·guard 정책과 섞지 않습니다. 준비·평가·승격은 별도 상태이며 현재 수집 미준비 가능성이 있습니다.</a:t>
            </a:r>
          </a:p>
          <a:p xmlns:a="http://schemas.openxmlformats.org/drawingml/2006/main">
            <a:r>
              <a:t/>
            </a:r>
          </a:p>
          <a:p xmlns:a="http://schemas.openxmlformats.org/drawingml/2006/main">
            <a:r>
              <a:t>근거: serving_app/national_observation_worker.py; national_service.py; evidence/records/2026-10-08-national/integrated-pipeline-http.json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기존v1시연 API는 호환 경로로 유지하고 사용자 화면은v2network읽기계약을 통해 같은 관측소목록을 봅니다. network history는수위와연결강수, pipeline은모델·감시·장마평가·수집상태를 제공합니다. Compose컨테이너 안에서API와영속worker를 실행하고재기동 후완료모델을중복학습하지 않습니다. 최종 통합 전체 컨테이너 테스트245개 통과·1skip과 프런트32개 테스트·빌드를 확인했습니다. 최종Docker healthy와브라우저화면을확인했습니다. 재기동후34완료모델·17관측소·29,597합성행·58작업이보존되고중복학습되지않았습니다. 이 실행 검증은 실제 미래 정답30일이나 운영 승격 근거는 아닙니다.</a:t>
            </a:r>
          </a:p>
          <a:p xmlns:a="http://schemas.openxmlformats.org/drawingml/2006/main">
            <a:r>
              <a:t/>
            </a:r>
          </a:p>
          <a:p xmlns:a="http://schemas.openxmlformats.org/drawingml/2006/main">
            <a:r>
              <a:t>추가 조회 모드 ‘서울 실제 API 관측·예측 · 원값’은 기존 저장자료 경로와 별도입니다. VTsSec 원값·ASOS108 강수·강수 결측 마스크의3특성을 api_native_masked_v1 namespace에서 사용합니다. 수위 단위가 확정되지 않아 원값을 해발·GL로 바꾸거나 공간도표에 표시하지 않습니다. 격리 볼륨에서 수집·학습이 미준비일 수 있으며 실제API25개 모델준비나 운영승격 성공을 보장하지 않습니다.</a:t>
            </a:r>
          </a:p>
          <a:p xmlns:a="http://schemas.openxmlformats.org/drawingml/2006/main">
            <a:r>
              <a:t/>
            </a:r>
          </a:p>
          <a:p xmlns:a="http://schemas.openxmlformats.org/drawingml/2006/main">
            <a:r>
              <a:t>근거: serving_app/network_api.py; compose.yaml; evidence/README.md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서비스는 서울 25개 구별 대표 관측소 관제입니다. 서울 추가 실측은9월30일까지 확보했으며10월1일 이후는 합성 시연으로 분리합니다. 추가 실측의 기존 모델 재평가는 완료로 주장하지 않습니다. 전국 3곳의 280일 실측과 LSTM 1곳·persistence 2곳은 운영 미승인 추가 조회입니다. GIMS 위치 목록은 기본 화면에서 제외합니다. 미연결 예보와 미확인 특보는 화면에서 제외하되 원천 샘플은 보존합니다. 실제 발행 이후 정답 30일 평가와 현장 운영 승인은 아직 추가 검증 대상입니다.</a:t>
            </a:r>
          </a:p>
          <a:p xmlns:a="http://schemas.openxmlformats.org/drawingml/2006/main">
            <a:r>
              <a:t/>
            </a:r>
          </a:p>
          <a:p xmlns:a="http://schemas.openxmlformats.org/drawingml/2006/main">
            <a:r>
              <a:t>근거: TODO.md; data/national_forecast_sample.json; data/national_warning_status.json; docs/operations.md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팀은 기획·일정 관리, 화면·백엔드, AI 모델·AIOps, 데이터 분석·전처리 역할로 구성했습니다. 저희가 확인한 결과는 예측 오차를 감시하고, 검증한 후보를 실제 서빙에 반영하며, 기준 미달 후보는 유지 정책으로 처리한 것입니다. 발표를 마치겠습니다. 감사합니다.</a:t>
            </a:r>
          </a:p>
          <a:p xmlns:a="http://schemas.openxmlformats.org/drawingml/2006/main">
            <a:r>
              <a:t/>
            </a:r>
          </a:p>
          <a:p xmlns:a="http://schemas.openxmlformats.org/drawingml/2006/main">
            <a:r>
              <a:t>근거: 사진: 사용자 제공 1.JPG 박건우, 2.jpg 한형준, 3.png 장서연, 4.png 최은주, 5.png 조건우, 6.png 이병주. 역할은 proposal.md 배정이며 개인별 구현 실적을 증명하지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026cf0f93d46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740f963cd741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61641134bd4f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615733adcd41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c0b8d8fd6e449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8f72358b4a47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3A0E04-4C21-45DE-8760-703EFDC7FB29}"/>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C63490-DC33-4367-AE7C-29917885DB11}"/>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F47D99-F49B-4E79-8C44-832735CB7E24}"/>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1D0546-2E06-48CC-B79D-AF1593C2503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BDFB8A6-7FDD-45FB-98D1-937CE15645E5}"/>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NanumGothic"/>
                <a:ea typeface="NanumGothic"/>
                <a:cs typeface="NanumGothic"/>
              </a:defRPr>
            </a:defPPr>
            <a:lvl1pPr marL="171450" indent="-171450">
              <a:lnSpc>
                <a:spcPct val="110000"/>
              </a:lnSpc>
              <a:spcBef>
                <a:spcPts val="0"/>
              </a:spcBef>
              <a:spcAft>
                <a:spcPts val="900"/>
              </a:spcAft>
              <a:buChar char="•"/>
              <a:defRPr/>
            </a:lvl1pPr>
            <a:lvl2pPr marL="400050" indent="-171450">
              <a:lnSpc>
                <a:spcPct val="110000"/>
              </a:lnSpc>
              <a:spcBef>
                <a:spcPts val="0"/>
              </a:spcBef>
              <a:spcAft>
                <a:spcPts val="900"/>
              </a:spcAft>
              <a:buChar char="•"/>
              <a:defRPr/>
            </a:lvl2pPr>
            <a:lvl3pPr marL="628650" indent="-171450">
              <a:lnSpc>
                <a:spcPct val="110000"/>
              </a:lnSpc>
              <a:spcBef>
                <a:spcPts val="0"/>
              </a:spcBef>
              <a:spcAft>
                <a:spcPts val="900"/>
              </a:spcAft>
              <a:buChar char="•"/>
              <a:defRPr/>
            </a:lvl3pPr>
            <a:lvl4pPr marL="857250" indent="-171450">
              <a:lnSpc>
                <a:spcPct val="110000"/>
              </a:lnSpc>
              <a:spcBef>
                <a:spcPts val="0"/>
              </a:spcBef>
              <a:spcAft>
                <a:spcPts val="900"/>
              </a:spcAft>
              <a:buChar char="•"/>
              <a:defRPr/>
            </a:lvl4pPr>
            <a:lvl5pPr marL="1085850" indent="-171450">
              <a:lnSpc>
                <a:spcPct val="110000"/>
              </a:lnSpc>
              <a:spcBef>
                <a:spcPts val="0"/>
              </a:spcBef>
              <a:spcAft>
                <a:spcPts val="900"/>
              </a:spcAft>
              <a:buChar char="•"/>
              <a:defRPr/>
            </a:lvl5pPr>
            <a:lvl6pPr marL="1314450" indent="-171450">
              <a:lnSpc>
                <a:spcPct val="110000"/>
              </a:lnSpc>
              <a:spcBef>
                <a:spcPts val="0"/>
              </a:spcBef>
              <a:spcAft>
                <a:spcPts val="900"/>
              </a:spcAft>
              <a:buChar char="•"/>
              <a:defRPr/>
            </a:lvl6pPr>
            <a:lvl7pPr marL="1543050" indent="-171450">
              <a:lnSpc>
                <a:spcPct val="110000"/>
              </a:lnSpc>
              <a:spcBef>
                <a:spcPts val="0"/>
              </a:spcBef>
              <a:spcAft>
                <a:spcPts val="900"/>
              </a:spcAft>
              <a:buChar char="•"/>
              <a:defRPr/>
            </a:lvl7pPr>
            <a:lvl8pPr marL="1771650" indent="-171450">
              <a:lnSpc>
                <a:spcPct val="110000"/>
              </a:lnSpc>
              <a:spcBef>
                <a:spcPts val="0"/>
              </a:spcBef>
              <a:spcAft>
                <a:spcPts val="900"/>
              </a:spcAft>
              <a:buChar char="•"/>
              <a:defRPr/>
            </a:lvl8pPr>
            <a:lvl9pPr marL="2000250" indent="-171450">
              <a:lnSpc>
                <a:spcPct val="110000"/>
              </a:lnSpc>
              <a:spcBef>
                <a:spcPts val="0"/>
              </a:spcBef>
              <a:spcAft>
                <a:spcPts val="9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F5CB76-A04B-4080-9FFA-A6F9C658BD96}"/>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6684A56-35EC-4285-8E15-FB344AE4684B}"/>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NanumGothic"/>
                <a:ea typeface="NanumGothic"/>
                <a:cs typeface="NanumGothic"/>
              </a:defRPr>
            </a:defPPr>
            <a:lvl1pPr marL="171450" indent="-171450">
              <a:lnSpc>
                <a:spcPct val="110000"/>
              </a:lnSpc>
              <a:spcBef>
                <a:spcPts val="0"/>
              </a:spcBef>
              <a:spcAft>
                <a:spcPts val="900"/>
              </a:spcAft>
              <a:buChar char="•"/>
              <a:defRPr/>
            </a:lvl1pPr>
            <a:lvl2pPr marL="400050" indent="-171450">
              <a:lnSpc>
                <a:spcPct val="110000"/>
              </a:lnSpc>
              <a:spcBef>
                <a:spcPts val="0"/>
              </a:spcBef>
              <a:spcAft>
                <a:spcPts val="900"/>
              </a:spcAft>
              <a:buChar char="•"/>
              <a:defRPr/>
            </a:lvl2pPr>
            <a:lvl3pPr marL="628650" indent="-171450">
              <a:lnSpc>
                <a:spcPct val="110000"/>
              </a:lnSpc>
              <a:spcBef>
                <a:spcPts val="0"/>
              </a:spcBef>
              <a:spcAft>
                <a:spcPts val="900"/>
              </a:spcAft>
              <a:buChar char="•"/>
              <a:defRPr/>
            </a:lvl3pPr>
            <a:lvl4pPr marL="857250" indent="-171450">
              <a:lnSpc>
                <a:spcPct val="110000"/>
              </a:lnSpc>
              <a:spcBef>
                <a:spcPts val="0"/>
              </a:spcBef>
              <a:spcAft>
                <a:spcPts val="900"/>
              </a:spcAft>
              <a:buChar char="•"/>
              <a:defRPr/>
            </a:lvl4pPr>
            <a:lvl5pPr marL="1085850" indent="-171450">
              <a:lnSpc>
                <a:spcPct val="110000"/>
              </a:lnSpc>
              <a:spcBef>
                <a:spcPts val="0"/>
              </a:spcBef>
              <a:spcAft>
                <a:spcPts val="900"/>
              </a:spcAft>
              <a:buChar char="•"/>
              <a:defRPr/>
            </a:lvl5pPr>
            <a:lvl6pPr marL="1314450" indent="-171450">
              <a:lnSpc>
                <a:spcPct val="110000"/>
              </a:lnSpc>
              <a:spcBef>
                <a:spcPts val="0"/>
              </a:spcBef>
              <a:spcAft>
                <a:spcPts val="900"/>
              </a:spcAft>
              <a:buChar char="•"/>
              <a:defRPr/>
            </a:lvl6pPr>
            <a:lvl7pPr marL="1543050" indent="-171450">
              <a:lnSpc>
                <a:spcPct val="110000"/>
              </a:lnSpc>
              <a:spcBef>
                <a:spcPts val="0"/>
              </a:spcBef>
              <a:spcAft>
                <a:spcPts val="900"/>
              </a:spcAft>
              <a:buChar char="•"/>
              <a:defRPr/>
            </a:lvl7pPr>
            <a:lvl8pPr marL="1771650" indent="-171450">
              <a:lnSpc>
                <a:spcPct val="110000"/>
              </a:lnSpc>
              <a:spcBef>
                <a:spcPts val="0"/>
              </a:spcBef>
              <a:spcAft>
                <a:spcPts val="900"/>
              </a:spcAft>
              <a:buChar char="•"/>
              <a:defRPr/>
            </a:lvl8pPr>
            <a:lvl9pPr marL="2000250" indent="-171450">
              <a:lnSpc>
                <a:spcPct val="110000"/>
              </a:lnSpc>
              <a:spcBef>
                <a:spcPts val="0"/>
              </a:spcBef>
              <a:spcAft>
                <a:spcPts val="9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290A50-4C39-4274-8225-4AA0E109FEBB}"/>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NanumGothic"/>
                <a:ea typeface="NanumGothic"/>
                <a:cs typeface="NanumGothic"/>
              </a:defRPr>
            </a:defPPr>
            <a:lvl1pPr marL="171450" indent="-171450">
              <a:lnSpc>
                <a:spcPct val="110000"/>
              </a:lnSpc>
              <a:spcBef>
                <a:spcPts val="0"/>
              </a:spcBef>
              <a:spcAft>
                <a:spcPts val="900"/>
              </a:spcAft>
              <a:buChar char="•"/>
              <a:defRPr/>
            </a:lvl1pPr>
            <a:lvl2pPr marL="400050" indent="-171450">
              <a:lnSpc>
                <a:spcPct val="110000"/>
              </a:lnSpc>
              <a:spcBef>
                <a:spcPts val="0"/>
              </a:spcBef>
              <a:spcAft>
                <a:spcPts val="900"/>
              </a:spcAft>
              <a:buChar char="•"/>
              <a:defRPr/>
            </a:lvl2pPr>
            <a:lvl3pPr marL="628650" indent="-171450">
              <a:lnSpc>
                <a:spcPct val="110000"/>
              </a:lnSpc>
              <a:spcBef>
                <a:spcPts val="0"/>
              </a:spcBef>
              <a:spcAft>
                <a:spcPts val="900"/>
              </a:spcAft>
              <a:buChar char="•"/>
              <a:defRPr/>
            </a:lvl3pPr>
            <a:lvl4pPr marL="857250" indent="-171450">
              <a:lnSpc>
                <a:spcPct val="110000"/>
              </a:lnSpc>
              <a:spcBef>
                <a:spcPts val="0"/>
              </a:spcBef>
              <a:spcAft>
                <a:spcPts val="900"/>
              </a:spcAft>
              <a:buChar char="•"/>
              <a:defRPr/>
            </a:lvl4pPr>
            <a:lvl5pPr marL="1085850" indent="-171450">
              <a:lnSpc>
                <a:spcPct val="110000"/>
              </a:lnSpc>
              <a:spcBef>
                <a:spcPts val="0"/>
              </a:spcBef>
              <a:spcAft>
                <a:spcPts val="900"/>
              </a:spcAft>
              <a:buChar char="•"/>
              <a:defRPr/>
            </a:lvl5pPr>
            <a:lvl6pPr marL="1314450" indent="-171450">
              <a:lnSpc>
                <a:spcPct val="110000"/>
              </a:lnSpc>
              <a:spcBef>
                <a:spcPts val="0"/>
              </a:spcBef>
              <a:spcAft>
                <a:spcPts val="900"/>
              </a:spcAft>
              <a:buChar char="•"/>
              <a:defRPr/>
            </a:lvl6pPr>
            <a:lvl7pPr marL="1543050" indent="-171450">
              <a:lnSpc>
                <a:spcPct val="110000"/>
              </a:lnSpc>
              <a:spcBef>
                <a:spcPts val="0"/>
              </a:spcBef>
              <a:spcAft>
                <a:spcPts val="900"/>
              </a:spcAft>
              <a:buChar char="•"/>
              <a:defRPr/>
            </a:lvl7pPr>
            <a:lvl8pPr marL="1771650" indent="-171450">
              <a:lnSpc>
                <a:spcPct val="110000"/>
              </a:lnSpc>
              <a:spcBef>
                <a:spcPts val="0"/>
              </a:spcBef>
              <a:spcAft>
                <a:spcPts val="900"/>
              </a:spcAft>
              <a:buChar char="•"/>
              <a:defRPr/>
            </a:lvl8pPr>
            <a:lvl9pPr marL="2000250" indent="-171450">
              <a:lnSpc>
                <a:spcPct val="110000"/>
              </a:lnSpc>
              <a:spcBef>
                <a:spcPts val="0"/>
              </a:spcBef>
              <a:spcAft>
                <a:spcPts val="9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FBD4E5-794D-4C57-A554-3C7295455C50}"/>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NanumGothic"/>
                <a:ea typeface="NanumGothic"/>
                <a:cs typeface="NanumGothic"/>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9DD189-3EB5-4ADB-AEC4-128CA24E0B36}"/>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NanumGothic"/>
                <a:ea typeface="NanumGothic"/>
                <a:cs typeface="NanumGothic"/>
              </a:defRPr>
            </a:defPPr>
            <a:lvl1pPr marL="171450" indent="-171450">
              <a:lnSpc>
                <a:spcPct val="110000"/>
              </a:lnSpc>
              <a:spcBef>
                <a:spcPts val="0"/>
              </a:spcBef>
              <a:spcAft>
                <a:spcPts val="900"/>
              </a:spcAft>
              <a:buChar char="•"/>
              <a:defRPr/>
            </a:lvl1pPr>
            <a:lvl2pPr marL="400050" indent="-171450">
              <a:lnSpc>
                <a:spcPct val="110000"/>
              </a:lnSpc>
              <a:spcBef>
                <a:spcPts val="0"/>
              </a:spcBef>
              <a:spcAft>
                <a:spcPts val="900"/>
              </a:spcAft>
              <a:buChar char="•"/>
              <a:defRPr/>
            </a:lvl2pPr>
            <a:lvl3pPr marL="628650" indent="-171450">
              <a:lnSpc>
                <a:spcPct val="110000"/>
              </a:lnSpc>
              <a:spcBef>
                <a:spcPts val="0"/>
              </a:spcBef>
              <a:spcAft>
                <a:spcPts val="900"/>
              </a:spcAft>
              <a:buChar char="•"/>
              <a:defRPr/>
            </a:lvl3pPr>
            <a:lvl4pPr marL="857250" indent="-171450">
              <a:lnSpc>
                <a:spcPct val="110000"/>
              </a:lnSpc>
              <a:spcBef>
                <a:spcPts val="0"/>
              </a:spcBef>
              <a:spcAft>
                <a:spcPts val="900"/>
              </a:spcAft>
              <a:buChar char="•"/>
              <a:defRPr/>
            </a:lvl4pPr>
            <a:lvl5pPr marL="1085850" indent="-171450">
              <a:lnSpc>
                <a:spcPct val="110000"/>
              </a:lnSpc>
              <a:spcBef>
                <a:spcPts val="0"/>
              </a:spcBef>
              <a:spcAft>
                <a:spcPts val="900"/>
              </a:spcAft>
              <a:buChar char="•"/>
              <a:defRPr/>
            </a:lvl5pPr>
            <a:lvl6pPr marL="1314450" indent="-171450">
              <a:lnSpc>
                <a:spcPct val="110000"/>
              </a:lnSpc>
              <a:spcBef>
                <a:spcPts val="0"/>
              </a:spcBef>
              <a:spcAft>
                <a:spcPts val="900"/>
              </a:spcAft>
              <a:buChar char="•"/>
              <a:defRPr/>
            </a:lvl6pPr>
            <a:lvl7pPr marL="1543050" indent="-171450">
              <a:lnSpc>
                <a:spcPct val="110000"/>
              </a:lnSpc>
              <a:spcBef>
                <a:spcPts val="0"/>
              </a:spcBef>
              <a:spcAft>
                <a:spcPts val="900"/>
              </a:spcAft>
              <a:buChar char="•"/>
              <a:defRPr/>
            </a:lvl7pPr>
            <a:lvl8pPr marL="1771650" indent="-171450">
              <a:lnSpc>
                <a:spcPct val="110000"/>
              </a:lnSpc>
              <a:spcBef>
                <a:spcPts val="0"/>
              </a:spcBef>
              <a:spcAft>
                <a:spcPts val="900"/>
              </a:spcAft>
              <a:buChar char="•"/>
              <a:defRPr/>
            </a:lvl8pPr>
            <a:lvl9pPr marL="2000250" indent="-171450">
              <a:lnSpc>
                <a:spcPct val="110000"/>
              </a:lnSpc>
              <a:spcBef>
                <a:spcPts val="0"/>
              </a:spcBef>
              <a:spcAft>
                <a:spcPts val="9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810724e4e34500" /><Relationship Type="http://schemas.openxmlformats.org/officeDocument/2006/relationships/slideLayout" Target="/ppt/slideLayouts/slideLayout1.xml" Id="R5b6334a503614bd5" /><Relationship Type="http://schemas.openxmlformats.org/officeDocument/2006/relationships/slideLayout" Target="/ppt/slideLayouts/slideLayout2.xml" Id="Rf03b28224ba2429a" /><Relationship Type="http://schemas.openxmlformats.org/officeDocument/2006/relationships/slideLayout" Target="/ppt/slideLayouts/slideLayout3.xml" Id="R97292c9d044a48ea" /><Relationship Type="http://schemas.openxmlformats.org/officeDocument/2006/relationships/slideLayout" Target="/ppt/slideLayouts/slideLayout4.xml" Id="R3dbf380b99dd49bc" /><Relationship Type="http://schemas.openxmlformats.org/officeDocument/2006/relationships/slideLayout" Target="/ppt/slideLayouts/slideLayout5.xml" Id="Rb216c0f6791048dd" /><Relationship Type="http://schemas.openxmlformats.org/officeDocument/2006/relationships/slideLayout" Target="/ppt/slideLayouts/slideLayout6.xml" Id="R7f7d7dafd65f46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6334a503614bd5"/>
    <p:sldLayoutId xmlns:r="http://schemas.openxmlformats.org/officeDocument/2006/relationships" id="2147483650" r:id="Rf03b28224ba2429a"/>
    <p:sldLayoutId xmlns:r="http://schemas.openxmlformats.org/officeDocument/2006/relationships" id="2147483651" r:id="R97292c9d044a48ea"/>
    <p:sldLayoutId xmlns:r="http://schemas.openxmlformats.org/officeDocument/2006/relationships" id="2147483652" r:id="R3dbf380b99dd49bc"/>
    <p:sldLayoutId xmlns:r="http://schemas.openxmlformats.org/officeDocument/2006/relationships" id="2147483653" r:id="Rb216c0f6791048dd"/>
    <p:sldLayoutId xmlns:r="http://schemas.openxmlformats.org/officeDocument/2006/relationships" id="2147483654" r:id="R7f7d7dafd65f46aa"/>
  </p:sldLayoutIdLst>
  <p:txStyles>
    <p:titleStyle>
      <a:lvl1pPr xmlns:a="http://schemas.openxmlformats.org/drawingml/2006/main" algn="l">
        <a:lnSpc>
          <a:spcPct val="90000"/>
        </a:lnSpc>
        <a:spcBef>
          <a:spcPts val="0"/>
        </a:spcBef>
        <a:buNone/>
        <a:defRPr sz="4400">
          <a:solidFill>
            <a:schemeClr val="tx1"/>
          </a:solidFill>
          <a:latin typeface="NanumGothic"/>
          <a:ea typeface="NanumGothic"/>
          <a:cs typeface="NanumGothic"/>
        </a:defRPr>
      </a:lvl1pPr>
    </p:titleStyle>
    <p:bodyStyle>
      <a:lvl1pPr xmlns:a="http://schemas.openxmlformats.org/drawingml/2006/main" marL="228600" indent="-228600" algn="l">
        <a:lnSpc>
          <a:spcPct val="90000"/>
        </a:lnSpc>
        <a:spcBef>
          <a:spcPts val="1000"/>
        </a:spcBef>
        <a:buChar char="•"/>
        <a:defRPr sz="2800">
          <a:solidFill>
            <a:schemeClr val="tx1"/>
          </a:solidFill>
          <a:latin typeface="NanumGothic"/>
          <a:ea typeface="NanumGothic"/>
          <a:cs typeface="NanumGothic"/>
        </a:defRPr>
      </a:lvl1pPr>
      <a:lvl2pPr xmlns:a="http://schemas.openxmlformats.org/drawingml/2006/main" marL="685800" indent="-228600" algn="l">
        <a:lnSpc>
          <a:spcPct val="90000"/>
        </a:lnSpc>
        <a:spcBef>
          <a:spcPts val="500"/>
        </a:spcBef>
        <a:buChar char="•"/>
        <a:defRPr sz="2400">
          <a:solidFill>
            <a:schemeClr val="tx1"/>
          </a:solidFill>
          <a:latin typeface="NanumGothic"/>
          <a:ea typeface="NanumGothic"/>
          <a:cs typeface="NanumGothic"/>
        </a:defRPr>
      </a:lvl2pPr>
      <a:lvl3pPr xmlns:a="http://schemas.openxmlformats.org/drawingml/2006/main" marL="1143000" indent="-228600" algn="l">
        <a:lnSpc>
          <a:spcPct val="90000"/>
        </a:lnSpc>
        <a:spcBef>
          <a:spcPts val="500"/>
        </a:spcBef>
        <a:buChar char="•"/>
        <a:defRPr sz="2000">
          <a:solidFill>
            <a:schemeClr val="tx1"/>
          </a:solidFill>
          <a:latin typeface="NanumGothic"/>
          <a:ea typeface="NanumGothic"/>
          <a:cs typeface="NanumGothic"/>
        </a:defRPr>
      </a:lvl3pPr>
      <a:lvl4pPr xmlns:a="http://schemas.openxmlformats.org/drawingml/2006/main" marL="1600200" indent="-228600" algn="l">
        <a:lnSpc>
          <a:spcPct val="90000"/>
        </a:lnSpc>
        <a:spcBef>
          <a:spcPts val="500"/>
        </a:spcBef>
        <a:buChar char="•"/>
        <a:defRPr sz="1800">
          <a:solidFill>
            <a:schemeClr val="tx1"/>
          </a:solidFill>
          <a:latin typeface="NanumGothic"/>
          <a:ea typeface="NanumGothic"/>
          <a:cs typeface="NanumGothic"/>
        </a:defRPr>
      </a:lvl4pPr>
      <a:lvl5pPr xmlns:a="http://schemas.openxmlformats.org/drawingml/2006/main" marL="2057400" indent="-228600" algn="l">
        <a:lnSpc>
          <a:spcPct val="90000"/>
        </a:lnSpc>
        <a:spcBef>
          <a:spcPts val="500"/>
        </a:spcBef>
        <a:buChar char="•"/>
        <a:defRPr sz="1800">
          <a:solidFill>
            <a:schemeClr val="tx1"/>
          </a:solidFill>
          <a:latin typeface="NanumGothic"/>
          <a:ea typeface="NanumGothic"/>
          <a:cs typeface="NanumGothic"/>
        </a:defRPr>
      </a:lvl5pPr>
      <a:lvl6pPr xmlns:a="http://schemas.openxmlformats.org/drawingml/2006/main" marL="2514600" indent="-228600" algn="l">
        <a:lnSpc>
          <a:spcPct val="90000"/>
        </a:lnSpc>
        <a:spcBef>
          <a:spcPts val="500"/>
        </a:spcBef>
        <a:buChar char="•"/>
        <a:defRPr sz="1800">
          <a:solidFill>
            <a:schemeClr val="tx1"/>
          </a:solidFill>
          <a:latin typeface="NanumGothic"/>
          <a:ea typeface="NanumGothic"/>
          <a:cs typeface="NanumGothic"/>
        </a:defRPr>
      </a:lvl6pPr>
      <a:lvl7pPr xmlns:a="http://schemas.openxmlformats.org/drawingml/2006/main" marL="2971800" indent="-228600" algn="l">
        <a:lnSpc>
          <a:spcPct val="90000"/>
        </a:lnSpc>
        <a:spcBef>
          <a:spcPts val="500"/>
        </a:spcBef>
        <a:buChar char="•"/>
        <a:defRPr sz="1800">
          <a:solidFill>
            <a:schemeClr val="tx1"/>
          </a:solidFill>
          <a:latin typeface="NanumGothic"/>
          <a:ea typeface="NanumGothic"/>
          <a:cs typeface="NanumGothic"/>
        </a:defRPr>
      </a:lvl7pPr>
      <a:lvl8pPr xmlns:a="http://schemas.openxmlformats.org/drawingml/2006/main" marL="3429000" indent="-228600" algn="l">
        <a:lnSpc>
          <a:spcPct val="90000"/>
        </a:lnSpc>
        <a:spcBef>
          <a:spcPts val="500"/>
        </a:spcBef>
        <a:buChar char="•"/>
        <a:defRPr sz="1800">
          <a:solidFill>
            <a:schemeClr val="tx1"/>
          </a:solidFill>
          <a:latin typeface="NanumGothic"/>
          <a:ea typeface="NanumGothic"/>
          <a:cs typeface="NanumGothic"/>
        </a:defRPr>
      </a:lvl8pPr>
      <a:lvl9pPr xmlns:a="http://schemas.openxmlformats.org/drawingml/2006/main" marL="3886200" indent="-228600" algn="l">
        <a:lnSpc>
          <a:spcPct val="90000"/>
        </a:lnSpc>
        <a:spcBef>
          <a:spcPts val="500"/>
        </a:spcBef>
        <a:buChar char="•"/>
        <a:defRPr sz="1800">
          <a:solidFill>
            <a:schemeClr val="tx1"/>
          </a:solidFill>
          <a:latin typeface="NanumGothic"/>
          <a:ea typeface="NanumGothic"/>
          <a:cs typeface="NanumGothic"/>
        </a:defRPr>
      </a:lvl9pPr>
    </p:bodyStyle>
    <p:otherStyle>
      <a:lvl1pPr xmlns:a="http://schemas.openxmlformats.org/drawingml/2006/main" marL="0" algn="l">
        <a:buNone/>
        <a:defRPr sz="1800">
          <a:solidFill>
            <a:schemeClr val="tx1"/>
          </a:solidFill>
          <a:latin typeface="NanumGothic"/>
          <a:ea typeface="NanumGothic"/>
          <a:cs typeface="NanumGothic"/>
        </a:defRPr>
      </a:lvl1pPr>
      <a:lvl2pPr xmlns:a="http://schemas.openxmlformats.org/drawingml/2006/main" marL="457200" algn="l">
        <a:buNone/>
        <a:defRPr sz="1800">
          <a:solidFill>
            <a:schemeClr val="tx1"/>
          </a:solidFill>
          <a:latin typeface="NanumGothic"/>
          <a:ea typeface="NanumGothic"/>
          <a:cs typeface="NanumGothic"/>
        </a:defRPr>
      </a:lvl2pPr>
      <a:lvl3pPr xmlns:a="http://schemas.openxmlformats.org/drawingml/2006/main" marL="914400" algn="l">
        <a:buNone/>
        <a:defRPr sz="1800">
          <a:solidFill>
            <a:schemeClr val="tx1"/>
          </a:solidFill>
          <a:latin typeface="NanumGothic"/>
          <a:ea typeface="NanumGothic"/>
          <a:cs typeface="NanumGothic"/>
        </a:defRPr>
      </a:lvl3pPr>
      <a:lvl4pPr xmlns:a="http://schemas.openxmlformats.org/drawingml/2006/main" marL="1371600" algn="l">
        <a:buNone/>
        <a:defRPr sz="1800">
          <a:solidFill>
            <a:schemeClr val="tx1"/>
          </a:solidFill>
          <a:latin typeface="NanumGothic"/>
          <a:ea typeface="NanumGothic"/>
          <a:cs typeface="NanumGothic"/>
        </a:defRPr>
      </a:lvl4pPr>
      <a:lvl5pPr xmlns:a="http://schemas.openxmlformats.org/drawingml/2006/main" marL="1828800" algn="l">
        <a:buNone/>
        <a:defRPr sz="1800">
          <a:solidFill>
            <a:schemeClr val="tx1"/>
          </a:solidFill>
          <a:latin typeface="NanumGothic"/>
          <a:ea typeface="NanumGothic"/>
          <a:cs typeface="NanumGothic"/>
        </a:defRPr>
      </a:lvl5pPr>
      <a:lvl6pPr xmlns:a="http://schemas.openxmlformats.org/drawingml/2006/main" marL="2286000" algn="l">
        <a:buNone/>
        <a:defRPr sz="1800">
          <a:solidFill>
            <a:schemeClr val="tx1"/>
          </a:solidFill>
          <a:latin typeface="NanumGothic"/>
          <a:ea typeface="NanumGothic"/>
          <a:cs typeface="NanumGothic"/>
        </a:defRPr>
      </a:lvl6pPr>
      <a:lvl7pPr xmlns:a="http://schemas.openxmlformats.org/drawingml/2006/main" marL="2743200" algn="l">
        <a:buNone/>
        <a:defRPr sz="1800">
          <a:solidFill>
            <a:schemeClr val="tx1"/>
          </a:solidFill>
          <a:latin typeface="NanumGothic"/>
          <a:ea typeface="NanumGothic"/>
          <a:cs typeface="NanumGothic"/>
        </a:defRPr>
      </a:lvl7pPr>
      <a:lvl8pPr xmlns:a="http://schemas.openxmlformats.org/drawingml/2006/main" marL="3200400" algn="l">
        <a:buNone/>
        <a:defRPr sz="1800">
          <a:solidFill>
            <a:schemeClr val="tx1"/>
          </a:solidFill>
          <a:latin typeface="NanumGothic"/>
          <a:ea typeface="NanumGothic"/>
          <a:cs typeface="NanumGothic"/>
        </a:defRPr>
      </a:lvl8pPr>
      <a:lvl9pPr xmlns:a="http://schemas.openxmlformats.org/drawingml/2006/main" marL="3657600" algn="l">
        <a:buNone/>
        <a:defRPr sz="1800">
          <a:solidFill>
            <a:schemeClr val="tx1"/>
          </a:solidFill>
          <a:latin typeface="NanumGothic"/>
          <a:ea typeface="NanumGothic"/>
          <a:cs typeface="NanumGothic"/>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NanumGothic"/>
        <a:cs typeface="NanumGothic"/>
      </a:majorFont>
      <a:minorFont>
        <a:latin typeface="NanumGothic"/>
        <a:ea typeface="NanumGothic"/>
        <a:cs typeface="Nanum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013fcec60dc4a8a" /><Relationship Type="http://schemas.openxmlformats.org/officeDocument/2006/relationships/notesSlide" Target="/ppt/notesSlides/notesSlide1.xml" Id="R22a8dc55707745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1d550078314e88" /><Relationship Type="http://schemas.openxmlformats.org/officeDocument/2006/relationships/notesSlide" Target="/ppt/notesSlides/notesSlide2.xml" Id="R6ae3b6979c0b4b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6736787a9945ad" /><Relationship Type="http://schemas.openxmlformats.org/officeDocument/2006/relationships/notesSlide" Target="/ppt/notesSlides/notesSlide3.xml" Id="Reabb0198af5247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37e1d7da2448db" /><Relationship Type="http://schemas.openxmlformats.org/officeDocument/2006/relationships/notesSlide" Target="/ppt/notesSlides/notesSlide4.xml" Id="Radaade7d62f249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c1f47d82f742fe" /><Relationship Type="http://schemas.openxmlformats.org/officeDocument/2006/relationships/notesSlide" Target="/ppt/notesSlides/notesSlide5.xml" Id="R009374158b744a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404d4d295f04240" /><Relationship Type="http://schemas.openxmlformats.org/officeDocument/2006/relationships/notesSlide" Target="/ppt/notesSlides/notesSlide6.xml" Id="Rb3998deb7bfe41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f52eca5ebc422a" /><Relationship Type="http://schemas.openxmlformats.org/officeDocument/2006/relationships/notesSlide" Target="/ppt/notesSlides/notesSlide7.xml" Id="R7813423cc40444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0e7bee92e64fee" /><Relationship Type="http://schemas.openxmlformats.org/officeDocument/2006/relationships/chart" Target="/ppt/slides/charts/chart1.xml" Id="R4802f0edc1d8422b" /><Relationship Type="http://schemas.openxmlformats.org/officeDocument/2006/relationships/notesSlide" Target="/ppt/notesSlides/notesSlide8.xml" Id="Rd0dca4c168d34f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e6939651218422b" /><Relationship Type="http://schemas.openxmlformats.org/officeDocument/2006/relationships/notesSlide" Target="/ppt/notesSlides/notesSlide9.xml" Id="R3f48452d4d1449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6cb8c3f1864f39" /><Relationship Type="http://schemas.openxmlformats.org/officeDocument/2006/relationships/notesSlide" Target="/ppt/notesSlides/notesSlide10.xml" Id="Rc09e1007064543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14fe111b8fd4981" /><Relationship Type="http://schemas.openxmlformats.org/officeDocument/2006/relationships/notesSlide" Target="/ppt/notesSlides/notesSlide11.xml" Id="R6e6525463edc43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e3776265c6d4333" /><Relationship Type="http://schemas.openxmlformats.org/officeDocument/2006/relationships/notesSlide" Target="/ppt/notesSlides/notesSlide12.xml" Id="R1e93240ebe3047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30a524547044d40" /><Relationship Type="http://schemas.openxmlformats.org/officeDocument/2006/relationships/notesSlide" Target="/ppt/notesSlides/notesSlide13.xml" Id="R505392eae04a4a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43bd964e538411f" /><Relationship Type="http://schemas.openxmlformats.org/officeDocument/2006/relationships/notesSlide" Target="/ppt/notesSlides/notesSlide14.xml" Id="R20178341282b4d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07da3608c247eb" /><Relationship Type="http://schemas.openxmlformats.org/officeDocument/2006/relationships/notesSlide" Target="/ppt/notesSlides/notesSlide15.xml" Id="R2a0cf79347a94a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11a531a3e444771" /><Relationship Type="http://schemas.openxmlformats.org/officeDocument/2006/relationships/notesSlide" Target="/ppt/notesSlides/notesSlide16.xml" Id="R99ed2d37a1e349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8151bea4ed64a7d" /><Relationship Type="http://schemas.openxmlformats.org/officeDocument/2006/relationships/notesSlide" Target="/ppt/notesSlides/notesSlide17.xml" Id="R0d0746009e864f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88f41a623014cfe" /><Relationship Type="http://schemas.openxmlformats.org/officeDocument/2006/relationships/notesSlide" Target="/ppt/notesSlides/notesSlide18.xml" Id="Rabd45393518143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f2b53543a474af9" /><Relationship Type="http://schemas.openxmlformats.org/officeDocument/2006/relationships/notesSlide" Target="/ppt/notesSlides/notesSlide19.xml" Id="R3af87d165742494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4697d81f317498d" /><Relationship Type="http://schemas.openxmlformats.org/officeDocument/2006/relationships/image" Target="/ppt/media/image.png" Id="R0f0271058042493e" /><Relationship Type="http://schemas.openxmlformats.org/officeDocument/2006/relationships/notesSlide" Target="/ppt/notesSlides/notesSlide20.xml" Id="R3f23dc8791fd457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81f318f25a5457e" /><Relationship Type="http://schemas.openxmlformats.org/officeDocument/2006/relationships/image" Target="/ppt/media/image2.png" Id="R9468ff89c2d046a7" /><Relationship Type="http://schemas.openxmlformats.org/officeDocument/2006/relationships/notesSlide" Target="/ppt/notesSlides/notesSlide21.xml" Id="Rf8a197c4f4284e6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c58ae730d1c4ba0" /><Relationship Type="http://schemas.openxmlformats.org/officeDocument/2006/relationships/image" Target="/ppt/media/image3.png" Id="R52a0c77a3687413f" /><Relationship Type="http://schemas.openxmlformats.org/officeDocument/2006/relationships/notesSlide" Target="/ppt/notesSlides/notesSlide22.xml" Id="R764c66223bab4c8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8c4b3d8567a4bf4" /><Relationship Type="http://schemas.openxmlformats.org/officeDocument/2006/relationships/image" Target="/ppt/media/image4.png" Id="Rdcd0e9cf25964ae1" /><Relationship Type="http://schemas.openxmlformats.org/officeDocument/2006/relationships/notesSlide" Target="/ppt/notesSlides/notesSlide23.xml" Id="R5e1ae2bdaf5348a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55942436b60418a" /><Relationship Type="http://schemas.openxmlformats.org/officeDocument/2006/relationships/image" Target="/ppt/media/image5.png" Id="R5e39655a994c4514" /><Relationship Type="http://schemas.openxmlformats.org/officeDocument/2006/relationships/notesSlide" Target="/ppt/notesSlides/notesSlide24.xml" Id="R4f7783bfe35a467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efae50422f148ea" /><Relationship Type="http://schemas.openxmlformats.org/officeDocument/2006/relationships/image" Target="/ppt/media/image6.png" Id="R8325af6d39864abb" /><Relationship Type="http://schemas.openxmlformats.org/officeDocument/2006/relationships/notesSlide" Target="/ppt/notesSlides/notesSlide25.xml" Id="R6bf340e1d90b4b6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91164cddfa4412f" /><Relationship Type="http://schemas.openxmlformats.org/officeDocument/2006/relationships/image" Target="/ppt/media/image7.png" Id="Rdf56bed142234368" /><Relationship Type="http://schemas.openxmlformats.org/officeDocument/2006/relationships/notesSlide" Target="/ppt/notesSlides/notesSlide26.xml" Id="Rb628a63c608749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9653f2a1889474a" /><Relationship Type="http://schemas.openxmlformats.org/officeDocument/2006/relationships/image" Target="/ppt/media/image8.png" Id="Raadd076752c1451b" /><Relationship Type="http://schemas.openxmlformats.org/officeDocument/2006/relationships/notesSlide" Target="/ppt/notesSlides/notesSlide27.xml" Id="R5cdce28f31304f9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1a3c29568f94a31" /><Relationship Type="http://schemas.openxmlformats.org/officeDocument/2006/relationships/image" Target="/ppt/media/image9.png" Id="Rfff5d1cd1d234f7c" /><Relationship Type="http://schemas.openxmlformats.org/officeDocument/2006/relationships/notesSlide" Target="/ppt/notesSlides/notesSlide28.xml" Id="R6ecacc2657eb4bc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88b4f6fd9514009" /><Relationship Type="http://schemas.openxmlformats.org/officeDocument/2006/relationships/image" Target="/ppt/media/image.jpeg" Id="R639e5ffc25134bcc" /><Relationship Type="http://schemas.openxmlformats.org/officeDocument/2006/relationships/notesSlide" Target="/ppt/notesSlides/notesSlide29.xml" Id="R4670d4f560fb42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b95333ff045415f" /><Relationship Type="http://schemas.openxmlformats.org/officeDocument/2006/relationships/notesSlide" Target="/ppt/notesSlides/notesSlide30.xml" Id="R4e60e113d4fb41d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d4e2b5b077e4a4c" /><Relationship Type="http://schemas.openxmlformats.org/officeDocument/2006/relationships/notesSlide" Target="/ppt/notesSlides/notesSlide31.xml" Id="Rc03b8c748f5e4ca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ccffe5e4b584768" /><Relationship Type="http://schemas.openxmlformats.org/officeDocument/2006/relationships/notesSlide" Target="/ppt/notesSlides/notesSlide32.xml" Id="R51ed51fff34e4d3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37b2baa6b5949ea" /><Relationship Type="http://schemas.openxmlformats.org/officeDocument/2006/relationships/notesSlide" Target="/ppt/notesSlides/notesSlide33.xml" Id="Rdd5c85ee49c84b5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0371a4ec4e24237" /><Relationship Type="http://schemas.openxmlformats.org/officeDocument/2006/relationships/notesSlide" Target="/ppt/notesSlides/notesSlide34.xml" Id="R2ee995a1c417418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da6df899f6443fe" /><Relationship Type="http://schemas.openxmlformats.org/officeDocument/2006/relationships/notesSlide" Target="/ppt/notesSlides/notesSlide35.xml" Id="R9030425db3c044c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57fe012462a445f" /><Relationship Type="http://schemas.openxmlformats.org/officeDocument/2006/relationships/notesSlide" Target="/ppt/notesSlides/notesSlide36.xml" Id="R921a9e040dd745f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e9d9e04a62f945b5" /><Relationship Type="http://schemas.openxmlformats.org/officeDocument/2006/relationships/image" Target="/ppt/media/image10.png" Id="Rab77c379209848ec" /><Relationship Type="http://schemas.openxmlformats.org/officeDocument/2006/relationships/image" Target="/ppt/media/image2.jpeg" Id="R000e16149bcb4b9b" /><Relationship Type="http://schemas.openxmlformats.org/officeDocument/2006/relationships/image" Target="/ppt/media/image11.png" Id="R8eb24b9504814e3d" /><Relationship Type="http://schemas.openxmlformats.org/officeDocument/2006/relationships/image" Target="/ppt/media/image12.png" Id="R31d7ddd3d8d24e66" /><Relationship Type="http://schemas.openxmlformats.org/officeDocument/2006/relationships/image" Target="/ppt/media/image13.png" Id="R8c5d71035d2c4ef6" /><Relationship Type="http://schemas.openxmlformats.org/officeDocument/2006/relationships/image" Target="/ppt/media/image3.jpeg" Id="R0e553add81144a22" /><Relationship Type="http://schemas.openxmlformats.org/officeDocument/2006/relationships/notesSlide" Target="/ppt/notesSlides/notesSlide37.xml" Id="R4eef8871b8d34de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ko-KR"/>
  <c:chart>
    <c:plotArea>
      <c:barChart>
        <c:barDir val="col"/>
        <c:grouping val="clustered"/>
        <c:varyColors val="0"/>
        <c:ser>
          <c:idx val="0"/>
          <c:order val="0"/>
          <c:tx>
            <c:v>기존 모델</c:v>
          </c:tx>
          <c:spPr>
            <a:solidFill xmlns:a="http://schemas.openxmlformats.org/drawingml/2006/main">
              <a:srgbClr val="8EA6A3"/>
            </a:solidFill>
          </c:spPr>
          <c:cat>
            <c:strRef>
              <c:f>'Chart Data'!$A$2:$A$3</c:f>
              <c:strCache>
                <c:ptCount val="2"/>
                <c:pt idx="0">
                  <c:v>교체된 후보</c:v>
                </c:pt>
                <c:pt idx="1">
                  <c:v>유지된 후보</c:v>
                </c:pt>
              </c:strCache>
            </c:strRef>
          </c:cat>
          <c:val>
            <c:numRef>
              <c:f>'Chart Data'!$B$2:$B$3</c:f>
              <c:numCache>
                <c:formatCode>General</c:formatCode>
                <c:ptCount val="2"/>
                <c:pt idx="0">
                  <c:v>100</c:v>
                </c:pt>
                <c:pt idx="1">
                  <c:v>100</c:v>
                </c:pt>
              </c:numCache>
            </c:numRef>
          </c:val>
        </c:ser>
        <c:ser>
          <c:idx val="1"/>
          <c:order val="1"/>
          <c:tx>
            <c:v>후보 모델</c:v>
          </c:tx>
          <c:spPr>
            <a:solidFill xmlns:a="http://schemas.openxmlformats.org/drawingml/2006/main">
              <a:srgbClr val="007D68"/>
            </a:solidFill>
          </c:spPr>
          <c:cat>
            <c:strRef>
              <c:f>'Chart Data'!$C$2:$C$3</c:f>
              <c:strCache>
                <c:ptCount val="2"/>
                <c:pt idx="0">
                  <c:v>교체된 후보</c:v>
                </c:pt>
                <c:pt idx="1">
                  <c:v>유지된 후보</c:v>
                </c:pt>
              </c:strCache>
            </c:strRef>
          </c:cat>
          <c:val>
            <c:numRef>
              <c:f>'Chart Data'!$D$2:$D$3</c:f>
              <c:numCache>
                <c:formatCode>General</c:formatCode>
                <c:ptCount val="2"/>
                <c:pt idx="0">
                  <c:v>90.73</c:v>
                </c:pt>
                <c:pt idx="1">
                  <c:v>97.49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00" lang="ko-KR">
                  <a:latin typeface="NanumGothic"/>
                  <a:ea typeface="NanumGothic"/>
                  <a:cs typeface="Nanum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lang="ko-KR">
                <a:solidFill>
                  <a:srgbClr val="666666"/>
                </a:solidFill>
                <a:latin typeface="NanumGothic"/>
                <a:ea typeface="NanumGothic"/>
                <a:cs typeface="NanumGothic"/>
              </a:defRPr>
            </a:pPr>
          </a:p>
        </c:txPr>
        <c:crossAx val="48672768"/>
      </c:catAx>
      <c:valAx>
        <c:axId val="48672768"/>
        <c:scaling>
          <c:orientation val="minMax"/>
          <c:max val="12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lang="ko-KR">
                <a:solidFill>
                  <a:srgbClr val="666666"/>
                </a:solidFill>
                <a:latin typeface="NanumGothic"/>
                <a:ea typeface="NanumGothic"/>
                <a:cs typeface="NanumGothic"/>
              </a:defRPr>
            </a:pPr>
          </a:p>
        </c:txPr>
        <c:crossAx val="48650112"/>
        <c:crossBetween val="between"/>
        <c:majorUnit val="20"/>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lang="ko-KR">
              <a:latin typeface="NanumGothic"/>
              <a:ea typeface="NanumGothic"/>
              <a:cs typeface="NanumGothic"/>
            </a:defRPr>
          </a:pPr>
        </a:p>
      </c:txPr>
    </c:legend>
    <c:plotVisOnly val="1"/>
  </c:chart>
  <c:spPr>
    <a:solidFill xmlns:a="http://schemas.openxmlformats.org/drawingml/2006/main">
      <a:srgbClr val="FAFB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CF38D8-F40B-469F-8A16-3AC8304DD040}"/>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SKALA 모델 서빙 · AIOps 조별 미니프로젝트</a:t>
            </a:r>
          </a:p>
        </p:txBody>
      </p:sp>
      <p:sp>
        <p:nvSpPr>
          <p:cNvPr id="2" name="">
            <a:extLst xmlns:a="http://schemas.openxmlformats.org/drawingml/2006/main">
              <a:ext uri="{FF2B5EF4-FFF2-40B4-BE49-F238E27FC236}">
                <a16:creationId xmlns:a16="http://schemas.microsoft.com/office/drawing/2014/main" id="{7FC7FBB7-9DA6-43F1-8FDF-5E036F730353}"/>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GroundWatch</a:t>
            </a:r>
          </a:p>
        </p:txBody>
      </p:sp>
      <p:sp>
        <p:nvSpPr>
          <p:cNvPr id="3" name="">
            <a:extLst xmlns:a="http://schemas.openxmlformats.org/drawingml/2006/main">
              <a:ext uri="{FF2B5EF4-FFF2-40B4-BE49-F238E27FC236}">
                <a16:creationId xmlns:a16="http://schemas.microsoft.com/office/drawing/2014/main" id="{593060C8-ACE3-4336-A7B1-9E9F5ED2EF41}"/>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652A71FF-9D4E-4E81-A7D1-3BD3210A3D9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a:t>
            </a:r>
          </a:p>
        </p:txBody>
      </p:sp>
      <p:sp>
        <p:nvSpPr>
          <p:cNvPr id="5" name="">
            <a:extLst xmlns:a="http://schemas.openxmlformats.org/drawingml/2006/main">
              <a:ext uri="{FF2B5EF4-FFF2-40B4-BE49-F238E27FC236}">
                <a16:creationId xmlns:a16="http://schemas.microsoft.com/office/drawing/2014/main" id="{1AB690EB-9B77-4A28-A4FB-36B8FCB20908}"/>
              </a:ext>
            </a:extLst>
          </p:cNvPr>
          <p:cNvSpPr>
            <a:spLocks xmlns:a="http://schemas.openxmlformats.org/drawingml/2006/main" noGrp="1"/>
          </p:cNvSpPr>
          <p:nvPr/>
        </p:nvSpPr>
        <p:spPr>
          <a:xfrm xmlns:a="http://schemas.openxmlformats.org/drawingml/2006/main">
            <a:off x="571500" y="1666875"/>
            <a:ext cx="7620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007D68"/>
                </a:solidFill>
                <a:latin typeface="NanumGothic"/>
                <a:ea typeface="NanumGothic"/>
                <a:cs typeface="NanumGothic"/>
              </a:defRPr>
            </a:defPPr>
          </a:lstStyle>
          <a:p xmlns:a="http://schemas.openxmlformats.org/drawingml/2006/main">
            <a:pPr>
              <a:buNone/>
              <a:defRPr sz="2850" b="1">
                <a:solidFill>
                  <a:srgbClr val="007D68"/>
                </a:solidFill>
                <a:latin typeface="NanumGothic"/>
                <a:ea typeface="NanumGothic"/>
                <a:cs typeface="NanumGothic"/>
              </a:defRPr>
            </a:pPr>
            <a:r>
              <a:rPr sz="2850" b="1">
                <a:solidFill>
                  <a:srgbClr val="007D68"/>
                </a:solidFill>
                <a:latin typeface="NanumGothic"/>
                <a:ea typeface="NanumGothic"/>
                <a:cs typeface="NanumGothic"/>
              </a:rPr>
              <a:t>서울 구별 지하수 관측과</a:t>
            </a:r>
          </a:p>
          <a:p xmlns:a="http://schemas.openxmlformats.org/drawingml/2006/main">
            <a:pPr>
              <a:buNone/>
              <a:defRPr sz="2850" b="1">
                <a:solidFill>
                  <a:srgbClr val="007D68"/>
                </a:solidFill>
                <a:latin typeface="NanumGothic"/>
                <a:ea typeface="NanumGothic"/>
                <a:cs typeface="NanumGothic"/>
              </a:defRPr>
            </a:pPr>
            <a:r>
              <a:rPr sz="2850" b="1">
                <a:solidFill>
                  <a:srgbClr val="007D68"/>
                </a:solidFill>
                <a:latin typeface="NanumGothic"/>
                <a:ea typeface="NanumGothic"/>
                <a:cs typeface="NanumGothic"/>
              </a:rPr>
              <a:t>모델 품질 감시 AIOps</a:t>
            </a:r>
          </a:p>
        </p:txBody>
      </p:sp>
      <p:sp>
        <p:nvSpPr>
          <p:cNvPr id="6" name="">
            <a:extLst xmlns:a="http://schemas.openxmlformats.org/drawingml/2006/main">
              <a:ext uri="{FF2B5EF4-FFF2-40B4-BE49-F238E27FC236}">
                <a16:creationId xmlns:a16="http://schemas.microsoft.com/office/drawing/2014/main" id="{C3A6B6E1-AA01-4FE7-9520-87807774B243}"/>
              </a:ext>
            </a:extLst>
          </p:cNvPr>
          <p:cNvSpPr>
            <a:spLocks xmlns:a="http://schemas.openxmlformats.org/drawingml/2006/main" noGrp="1"/>
          </p:cNvSpPr>
          <p:nvPr/>
        </p:nvSpPr>
        <p:spPr>
          <a:xfrm xmlns:a="http://schemas.openxmlformats.org/drawingml/2006/main">
            <a:off x="571500" y="2990850"/>
            <a:ext cx="7905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22A2D"/>
                </a:solidFill>
                <a:latin typeface="NanumGothic"/>
                <a:ea typeface="NanumGothic"/>
                <a:cs typeface="NanumGothic"/>
              </a:defRPr>
            </a:defPPr>
          </a:lstStyle>
          <a:p xmlns:a="http://schemas.openxmlformats.org/drawingml/2006/main">
            <a:pPr>
              <a:buNone/>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서울 25개 구 대표 관측소와 전국 추가 실측을 연결하고</a:t>
            </a:r>
          </a:p>
          <a:p xmlns:a="http://schemas.openxmlformats.org/drawingml/2006/main">
            <a:pPr>
              <a:buNone/>
              <a:defRPr sz="1725" b="0">
                <a:solidFill>
                  <a:srgbClr val="222A2D"/>
                </a:solidFill>
                <a:latin typeface="NanumGothic"/>
                <a:ea typeface="NanumGothic"/>
                <a:cs typeface="NanumGothic"/>
              </a:defRPr>
            </a:pPr>
            <a:r>
              <a:rPr sz="1725" b="0">
                <a:solidFill>
                  <a:srgbClr val="222A2D"/>
                </a:solidFill>
                <a:latin typeface="NanumGothic"/>
                <a:ea typeface="NanumGothic"/>
                <a:cs typeface="NanumGothic"/>
              </a:rPr>
              <a:t>오차 감지부터 재학습·검증·교체까지 관리합니다</a:t>
            </a:r>
          </a:p>
        </p:txBody>
      </p:sp>
      <p:sp>
        <p:nvSpPr>
          <p:cNvPr id="7" name="">
            <a:extLst xmlns:a="http://schemas.openxmlformats.org/drawingml/2006/main">
              <a:ext uri="{FF2B5EF4-FFF2-40B4-BE49-F238E27FC236}">
                <a16:creationId xmlns:a16="http://schemas.microsoft.com/office/drawing/2014/main" id="{7FA956D4-2A0D-4A1D-B7B8-E2B03490990D}"/>
              </a:ext>
            </a:extLst>
          </p:cNvPr>
          <p:cNvSpPr>
            <a:spLocks xmlns:a="http://schemas.openxmlformats.org/drawingml/2006/main" noGrp="1"/>
          </p:cNvSpPr>
          <p:nvPr/>
        </p:nvSpPr>
        <p:spPr>
          <a:xfrm xmlns:a="http://schemas.openxmlformats.org/drawingml/2006/main">
            <a:off x="571500" y="4152900"/>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C686B"/>
                </a:solidFill>
                <a:latin typeface="NanumGothic"/>
                <a:ea typeface="NanumGothic"/>
                <a:cs typeface="NanumGothic"/>
              </a:defRPr>
            </a:defPPr>
          </a:lstStyle>
          <a:p xmlns:a="http://schemas.openxmlformats.org/drawingml/2006/main">
            <a:pPr>
              <a:buNone/>
              <a:defRPr sz="1200" b="0">
                <a:solidFill>
                  <a:srgbClr val="5C686B"/>
                </a:solidFill>
                <a:latin typeface="NanumGothic"/>
                <a:ea typeface="NanumGothic"/>
                <a:cs typeface="NanumGothic"/>
              </a:defRPr>
            </a:pPr>
            <a:r>
              <a:rPr sz="1200" b="0">
                <a:solidFill>
                  <a:srgbClr val="5C686B"/>
                </a:solidFill>
                <a:latin typeface="NanumGothic"/>
                <a:ea typeface="NanumGothic"/>
                <a:cs typeface="NanumGothic"/>
              </a:rPr>
              <a:t>2026.10.08   SKALA 4기 광주3반 5조   발표 한형준</a:t>
            </a:r>
          </a:p>
        </p:txBody>
      </p:sp>
    </p:spTree>
    <p:extLst>
      <p:ext uri="{BB962C8B-B14F-4D97-AF65-F5344CB8AC3E}">
        <p14:creationId xmlns:p14="http://schemas.microsoft.com/office/powerpoint/2010/main" val="755622975"/>
      </p:ext>
    </p:extLst>
  </p:cSld>
</p:sld>
</file>

<file path=ppt/slides/slide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E1BC296-876E-4F04-8299-BFD370854E4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① 이해관계자 가치</a:t>
            </a:r>
          </a:p>
        </p:txBody>
      </p:sp>
      <p:sp>
        <p:nvSpPr>
          <p:cNvPr id="2" name="">
            <a:extLst xmlns:a="http://schemas.openxmlformats.org/drawingml/2006/main">
              <a:ext uri="{FF2B5EF4-FFF2-40B4-BE49-F238E27FC236}">
                <a16:creationId xmlns:a16="http://schemas.microsoft.com/office/drawing/2014/main" id="{DE1257DB-F206-4037-BCE7-CF19388A53DF}"/>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예측을 확인하는 담당자와 품질을 지키는 운영자</a:t>
            </a:r>
          </a:p>
        </p:txBody>
      </p:sp>
      <p:sp>
        <p:nvSpPr>
          <p:cNvPr id="3" name="">
            <a:extLst xmlns:a="http://schemas.openxmlformats.org/drawingml/2006/main">
              <a:ext uri="{FF2B5EF4-FFF2-40B4-BE49-F238E27FC236}">
                <a16:creationId xmlns:a16="http://schemas.microsoft.com/office/drawing/2014/main" id="{BA91F848-9E17-4911-AFB4-EB59CD52D9C3}"/>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A3AA26F-BAD7-462E-81FF-D47F32F60A7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a:t>
            </a:r>
          </a:p>
        </p:txBody>
      </p:sp>
      <p:sp>
        <p:nvSpPr>
          <p:cNvPr id="5" name="">
            <a:extLst xmlns:a="http://schemas.openxmlformats.org/drawingml/2006/main">
              <a:ext uri="{FF2B5EF4-FFF2-40B4-BE49-F238E27FC236}">
                <a16:creationId xmlns:a16="http://schemas.microsoft.com/office/drawing/2014/main" id="{6CFD5F5F-741F-412E-91A7-BE46664757D2}"/>
              </a:ext>
            </a:extLst>
          </p:cNvPr>
          <p:cNvSpPr>
            <a:spLocks xmlns:a="http://schemas.openxmlformats.org/drawingml/2006/main" noGrp="1"/>
          </p:cNvSpPr>
          <p:nvPr/>
        </p:nvSpPr>
        <p:spPr>
          <a:xfrm xmlns:a="http://schemas.openxmlformats.org/drawingml/2006/main">
            <a:off x="571500"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기업 업무 담당자</a:t>
            </a:r>
          </a:p>
        </p:txBody>
      </p:sp>
      <p:sp>
        <p:nvSpPr>
          <p:cNvPr id="6" name="">
            <a:extLst xmlns:a="http://schemas.openxmlformats.org/drawingml/2006/main">
              <a:ext uri="{FF2B5EF4-FFF2-40B4-BE49-F238E27FC236}">
                <a16:creationId xmlns:a16="http://schemas.microsoft.com/office/drawing/2014/main" id="{5DF62057-3C62-4CC1-B2A9-093BDADA87A0}"/>
              </a:ext>
            </a:extLst>
          </p:cNvPr>
          <p:cNvSpPr>
            <a:spLocks xmlns:a="http://schemas.openxmlformats.org/drawingml/2006/main" noGrp="1"/>
          </p:cNvSpPr>
          <p:nvPr/>
        </p:nvSpPr>
        <p:spPr>
          <a:xfrm xmlns:a="http://schemas.openxmlformats.org/drawingml/2006/main">
            <a:off x="571500" y="2066925"/>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NanumGothic"/>
                <a:ea typeface="NanumGothic"/>
                <a:cs typeface="NanumGothic"/>
              </a:defRPr>
            </a:defPPr>
          </a:lstStyle>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관측소별 수위와 강수를 함께 확인합니다.</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자료 날짜와 예측 준비 상태를 구분합니다.</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사용 모델과 오차 상태를 알아야 합니다.</a:t>
            </a:r>
          </a:p>
        </p:txBody>
      </p:sp>
      <p:sp>
        <p:nvSpPr>
          <p:cNvPr id="7" name="">
            <a:extLst xmlns:a="http://schemas.openxmlformats.org/drawingml/2006/main">
              <a:ext uri="{FF2B5EF4-FFF2-40B4-BE49-F238E27FC236}">
                <a16:creationId xmlns:a16="http://schemas.microsoft.com/office/drawing/2014/main" id="{6001091B-E738-4CAC-BD81-452D191735D4}"/>
              </a:ext>
            </a:extLst>
          </p:cNvPr>
          <p:cNvSpPr>
            <a:spLocks xmlns:a="http://schemas.openxmlformats.org/drawingml/2006/main" noGrp="1"/>
          </p:cNvSpPr>
          <p:nvPr/>
        </p:nvSpPr>
        <p:spPr>
          <a:xfrm xmlns:a="http://schemas.openxmlformats.org/drawingml/2006/main">
            <a:off x="481012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서비스 운영자</a:t>
            </a:r>
          </a:p>
        </p:txBody>
      </p:sp>
      <p:sp>
        <p:nvSpPr>
          <p:cNvPr id="8" name="">
            <a:extLst xmlns:a="http://schemas.openxmlformats.org/drawingml/2006/main">
              <a:ext uri="{FF2B5EF4-FFF2-40B4-BE49-F238E27FC236}">
                <a16:creationId xmlns:a16="http://schemas.microsoft.com/office/drawing/2014/main" id="{50778ED0-E76A-4806-A10B-94009281E515}"/>
              </a:ext>
            </a:extLst>
          </p:cNvPr>
          <p:cNvSpPr>
            <a:spLocks xmlns:a="http://schemas.openxmlformats.org/drawingml/2006/main" noGrp="1"/>
          </p:cNvSpPr>
          <p:nvPr/>
        </p:nvSpPr>
        <p:spPr>
          <a:xfrm xmlns:a="http://schemas.openxmlformats.org/drawingml/2006/main">
            <a:off x="4810125" y="2066925"/>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NanumGothic"/>
                <a:ea typeface="NanumGothic"/>
                <a:cs typeface="NanumGothic"/>
              </a:defRPr>
            </a:defPPr>
          </a:lstStyle>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서버 정상과 모델 준비를 구분해야 합니다.</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오차가 커진 모델을 찾아 대응해야 합니다.</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새 모델을 바꾼 근거와 이력이 필요합니다.</a:t>
            </a:r>
          </a:p>
        </p:txBody>
      </p:sp>
      <p:sp>
        <p:nvSpPr>
          <p:cNvPr id="9" name="">
            <a:extLst xmlns:a="http://schemas.openxmlformats.org/drawingml/2006/main">
              <a:ext uri="{FF2B5EF4-FFF2-40B4-BE49-F238E27FC236}">
                <a16:creationId xmlns:a16="http://schemas.microsoft.com/office/drawing/2014/main" id="{3DCD9171-086B-492F-8F88-F142707D18C3}"/>
              </a:ext>
            </a:extLst>
          </p:cNvPr>
          <p:cNvSpPr>
            <a:spLocks xmlns:a="http://schemas.openxmlformats.org/drawingml/2006/main" noGrp="1"/>
          </p:cNvSpPr>
          <p:nvPr/>
        </p:nvSpPr>
        <p:spPr>
          <a:xfrm xmlns:a="http://schemas.openxmlformats.org/drawingml/2006/main">
            <a:off x="571500" y="3838575"/>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D68"/>
                </a:solidFill>
                <a:latin typeface="NanumGothic"/>
                <a:ea typeface="NanumGothic"/>
                <a:cs typeface="NanumGothic"/>
              </a:defRPr>
            </a:defPPr>
          </a:lstStyle>
          <a:p xmlns:a="http://schemas.openxmlformats.org/drawingml/2006/main">
            <a:pPr>
              <a:buNone/>
              <a:defRPr sz="1800" b="1">
                <a:solidFill>
                  <a:srgbClr val="007D68"/>
                </a:solidFill>
                <a:latin typeface="NanumGothic"/>
                <a:ea typeface="NanumGothic"/>
                <a:cs typeface="NanumGothic"/>
              </a:defRPr>
            </a:pPr>
            <a:r>
              <a:rPr sz="1800" b="1">
                <a:solidFill>
                  <a:srgbClr val="007D68"/>
                </a:solidFill>
                <a:latin typeface="NanumGothic"/>
                <a:ea typeface="NanumGothic"/>
                <a:cs typeface="NanumGothic"/>
              </a:rPr>
              <a:t>B2B 제안 고객: 지하수 관측·시설 유지관리 기업</a:t>
            </a:r>
          </a:p>
        </p:txBody>
      </p:sp>
      <p:sp>
        <p:nvSpPr>
          <p:cNvPr id="11" name="">
            <a:extLst xmlns:a="http://schemas.openxmlformats.org/drawingml/2006/main">
              <a:ext uri="{FF2B5EF4-FFF2-40B4-BE49-F238E27FC236}">
                <a16:creationId xmlns:a16="http://schemas.microsoft.com/office/drawing/2014/main" id="{BBEEE54C-00B8-4598-8325-E37DD03BBBF1}"/>
              </a:ext>
            </a:extLst>
          </p:cNvPr>
          <p:cNvSpPr>
            <a:spLocks xmlns:a="http://schemas.openxmlformats.org/drawingml/2006/main" noGrp="1"/>
          </p:cNvSpPr>
          <p:nvPr/>
        </p:nvSpPr>
        <p:spPr>
          <a:xfrm xmlns:a="http://schemas.openxmlformats.org/drawingml/2006/main">
            <a:off x="571500" y="4295775"/>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C686B"/>
                </a:solidFill>
                <a:latin typeface="NanumGothic"/>
                <a:ea typeface="NanumGothic"/>
                <a:cs typeface="NanumGothic"/>
              </a:defRPr>
            </a:defPPr>
          </a:lstStyle>
          <a:p xmlns:a="http://schemas.openxmlformats.org/drawingml/2006/main">
            <a:pPr>
              <a:defRPr sz="1200" b="0">
                <a:solidFill>
                  <a:srgbClr val="5C686B"/>
                </a:solidFill>
                <a:latin typeface="NanumGothic"/>
                <a:ea typeface="NanumGothic"/>
                <a:cs typeface="NanumGothic"/>
              </a:defRPr>
            </a:pPr>
            <a:r>
              <a:rPr sz="1200" b="0">
                <a:solidFill>
                  <a:srgbClr val="5C686B"/>
                </a:solidFill>
                <a:latin typeface="NanumGothic"/>
                <a:ea typeface="NanumGothic"/>
                <a:cs typeface="NanumGothic"/>
              </a:rPr>
              <a:t>공공기관은 협업 대상 · 실제 도입·매출·현장 효과는 미검증</a:t>
            </a:r>
          </a:p>
        </p:txBody>
      </p:sp>
    </p:spTree>
    <p:extLst>
      <p:ext uri="{BB962C8B-B14F-4D97-AF65-F5344CB8AC3E}">
        <p14:creationId xmlns:p14="http://schemas.microsoft.com/office/powerpoint/2010/main" val="95166090"/>
      </p:ext>
    </p:extLst>
  </p:cSld>
</p:sld>
</file>

<file path=ppt/slides/slide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C944C1-3548-4657-9922-CFDEE90424EC}"/>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① 이해관계자 가치</a:t>
            </a:r>
          </a:p>
        </p:txBody>
      </p:sp>
      <p:sp>
        <p:nvSpPr>
          <p:cNvPr id="2" name="">
            <a:extLst xmlns:a="http://schemas.openxmlformats.org/drawingml/2006/main">
              <a:ext uri="{FF2B5EF4-FFF2-40B4-BE49-F238E27FC236}">
                <a16:creationId xmlns:a16="http://schemas.microsoft.com/office/drawing/2014/main" id="{3A1BC6C5-E92D-48D3-B352-73A8A104EA95}"/>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장애·지연·품질 저하가 판단에 미치는 영향</a:t>
            </a:r>
          </a:p>
        </p:txBody>
      </p:sp>
      <p:sp>
        <p:nvSpPr>
          <p:cNvPr id="3" name="">
            <a:extLst xmlns:a="http://schemas.openxmlformats.org/drawingml/2006/main">
              <a:ext uri="{FF2B5EF4-FFF2-40B4-BE49-F238E27FC236}">
                <a16:creationId xmlns:a16="http://schemas.microsoft.com/office/drawing/2014/main" id="{DA3D5ADC-446D-4534-A6BD-9575E1C16BEE}"/>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4D1C2E8-687D-4A5F-A0A8-4DB7DE62D421}"/>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3</a:t>
            </a:r>
          </a:p>
        </p:txBody>
      </p:sp>
      <p:graphicFrame>
        <p:nvGraphicFramePr>
          <p:cNvPr id="5" name="">
            <a:extLst xmlns:a="http://schemas.openxmlformats.org/drawingml/2006/main">
              <a:ext uri="{FF2B5EF4-FFF2-40B4-BE49-F238E27FC236}">
                <a16:creationId xmlns:a16="http://schemas.microsoft.com/office/drawing/2014/main" id="{E629A52E-7221-4B35-8B93-2635C7A1F83C}"/>
              </a:ext>
            </a:extLst>
          </p:cNvPr>
          <p:cNvGraphicFramePr/>
          <p:nvPr/>
        </p:nvGraphicFramePr>
        <p:xfrm>
          <a:off xmlns:a="http://schemas.openxmlformats.org/drawingml/2006/main" x="571500" y="1571625"/>
          <a:ext xmlns:a="http://schemas.openxmlformats.org/drawingml/2006/main" cx="8001000" cy="2647950"/>
        </p:xfrm>
        <a:graphic xmlns:a="http://schemas.openxmlformats.org/drawingml/2006/main">
          <a:graphicData uri="http://schemas.openxmlformats.org/drawingml/2006/table">
            <a:tbl>
              <a:tblPr/>
              <a:tblGrid>
                <a:gridCol w="1666875"/>
                <a:gridCol w="3095625"/>
                <a:gridCol w="3238500"/>
              </a:tblGrid>
              <a:tr h="529590">
                <a:tc>
                  <a:txBody>
                    <a:bodyPr/>
                    <a:lstStyle/>
                    <a:p>
                      <a:r>
                        <a:rPr sz="1425" b="1">
                          <a:solidFill>
                            <a:srgbClr val="007D68"/>
                          </a:solidFill>
                          <a:latin typeface="NanumGothic"/>
                          <a:ea typeface="NanumGothic"/>
                          <a:cs typeface="NanumGothic"/>
                        </a:rPr>
                        <a:t>상황</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담당자의 불편</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필요한 운영 기능</a:t>
                      </a:r>
                    </a:p>
                  </a:txBody>
                  <a:tcPr marL="91440" marR="91440" marT="45720" marB="45720">
                    <a:solidFill>
                      <a:srgbClr val="E7EFEB"/>
                    </a:solidFill>
                  </a:tcPr>
                </a:tc>
              </a:tr>
              <a:tr h="529590">
                <a:tc>
                  <a:txBody>
                    <a:bodyPr/>
                    <a:lstStyle/>
                    <a:p>
                      <a:r>
                        <a:rPr sz="1425" b="0">
                          <a:solidFill>
                            <a:srgbClr val="222A2D"/>
                          </a:solidFill>
                          <a:latin typeface="NanumGothic"/>
                          <a:ea typeface="NanumGothic"/>
                          <a:cs typeface="NanumGothic"/>
                        </a:rPr>
                        <a:t>서빙 중단</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예측을 조회할 수 없음</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생존·준비 상태 분리, 실패 사유</a:t>
                      </a:r>
                    </a:p>
                  </a:txBody>
                  <a:tcPr marL="91440" marR="91440" marT="45720" marB="45720">
                    <a:solidFill>
                      <a:srgbClr val="FAFBF9"/>
                    </a:solidFill>
                  </a:tcPr>
                </a:tc>
              </a:tr>
              <a:tr h="529590">
                <a:tc>
                  <a:txBody>
                    <a:bodyPr/>
                    <a:lstStyle/>
                    <a:p>
                      <a:r>
                        <a:rPr sz="1425" b="0">
                          <a:solidFill>
                            <a:srgbClr val="222A2D"/>
                          </a:solidFill>
                          <a:latin typeface="NanumGothic"/>
                          <a:ea typeface="NanumGothic"/>
                          <a:cs typeface="NanumGothic"/>
                        </a:rPr>
                        <a:t>응답 지연</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조회와 비교 업무가 늦어짐</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p95·5xx 비율, 요청 로그</a:t>
                      </a:r>
                    </a:p>
                  </a:txBody>
                  <a:tcPr marL="91440" marR="91440" marT="45720" marB="45720">
                    <a:solidFill>
                      <a:srgbClr val="F2F6F3"/>
                    </a:solidFill>
                  </a:tcPr>
                </a:tc>
              </a:tr>
              <a:tr h="529590">
                <a:tc>
                  <a:txBody>
                    <a:bodyPr/>
                    <a:lstStyle/>
                    <a:p>
                      <a:r>
                        <a:rPr sz="1425" b="0">
                          <a:solidFill>
                            <a:srgbClr val="222A2D"/>
                          </a:solidFill>
                          <a:latin typeface="NanumGothic"/>
                          <a:ea typeface="NanumGothic"/>
                          <a:cs typeface="NanumGothic"/>
                        </a:rPr>
                        <a:t>모델 품질 저하</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오차가 커진 예측을 계속 사용</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정답 기반 감시와 후보 재평가</a:t>
                      </a:r>
                    </a:p>
                  </a:txBody>
                  <a:tcPr marL="91440" marR="91440" marT="45720" marB="45720">
                    <a:solidFill>
                      <a:srgbClr val="FAFBF9"/>
                    </a:solidFill>
                  </a:tcPr>
                </a:tc>
              </a:tr>
              <a:tr h="529590">
                <a:tc>
                  <a:txBody>
                    <a:bodyPr/>
                    <a:lstStyle/>
                    <a:p>
                      <a:r>
                        <a:rPr sz="1425" b="0">
                          <a:solidFill>
                            <a:srgbClr val="222A2D"/>
                          </a:solidFill>
                          <a:latin typeface="NanumGothic"/>
                          <a:ea typeface="NanumGothic"/>
                          <a:cs typeface="NanumGothic"/>
                        </a:rPr>
                        <a:t>입력 날짜 공백·부족</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예측 근거 또는 정답이 불충분</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20일 입력 검증, 평가 대기</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1853929611"/>
      </p:ext>
    </p:extLst>
  </p:cSld>
</p:sld>
</file>

<file path=ppt/slides/slide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E30AC9-D159-4712-BD71-B8543207AD4F}"/>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① 이해관계자 가치</a:t>
            </a:r>
          </a:p>
        </p:txBody>
      </p:sp>
      <p:sp>
        <p:nvSpPr>
          <p:cNvPr id="2" name="">
            <a:extLst xmlns:a="http://schemas.openxmlformats.org/drawingml/2006/main">
              <a:ext uri="{FF2B5EF4-FFF2-40B4-BE49-F238E27FC236}">
                <a16:creationId xmlns:a16="http://schemas.microsoft.com/office/drawing/2014/main" id="{63F495E4-5E05-4043-94C7-C4770ED0CF83}"/>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수업 파이프라인의 GroundWatch 도메인 매핑</a:t>
            </a:r>
          </a:p>
        </p:txBody>
      </p:sp>
      <p:sp>
        <p:nvSpPr>
          <p:cNvPr id="3" name="">
            <a:extLst xmlns:a="http://schemas.openxmlformats.org/drawingml/2006/main">
              <a:ext uri="{FF2B5EF4-FFF2-40B4-BE49-F238E27FC236}">
                <a16:creationId xmlns:a16="http://schemas.microsoft.com/office/drawing/2014/main" id="{84BC635F-6CAF-4BC6-8F3D-2C39A21BF09A}"/>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11CBD41-134B-4BDF-A445-A6E3D6764630}"/>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4</a:t>
            </a:r>
          </a:p>
        </p:txBody>
      </p:sp>
      <p:graphicFrame>
        <p:nvGraphicFramePr>
          <p:cNvPr id="5" name="">
            <a:extLst xmlns:a="http://schemas.openxmlformats.org/drawingml/2006/main">
              <a:ext uri="{FF2B5EF4-FFF2-40B4-BE49-F238E27FC236}">
                <a16:creationId xmlns:a16="http://schemas.microsoft.com/office/drawing/2014/main" id="{06AF1680-57C4-4B98-AAD4-601F258F75E7}"/>
              </a:ext>
            </a:extLst>
          </p:cNvPr>
          <p:cNvGraphicFramePr/>
          <p:nvPr/>
        </p:nvGraphicFramePr>
        <p:xfrm>
          <a:off xmlns:a="http://schemas.openxmlformats.org/drawingml/2006/main" x="571500" y="1457325"/>
          <a:ext xmlns:a="http://schemas.openxmlformats.org/drawingml/2006/main" cx="8001000" cy="3028950"/>
        </p:xfrm>
        <a:graphic xmlns:a="http://schemas.openxmlformats.org/drawingml/2006/main">
          <a:graphicData uri="http://schemas.openxmlformats.org/drawingml/2006/table">
            <a:tbl>
              <a:tblPr/>
              <a:tblGrid>
                <a:gridCol w="1428750"/>
                <a:gridCol w="2476500"/>
                <a:gridCol w="4095750"/>
              </a:tblGrid>
              <a:tr h="336550">
                <a:tc>
                  <a:txBody>
                    <a:bodyPr/>
                    <a:lstStyle/>
                    <a:p>
                      <a:r>
                        <a:rPr sz="1200" b="1">
                          <a:solidFill>
                            <a:srgbClr val="007D68"/>
                          </a:solidFill>
                          <a:latin typeface="NanumGothic"/>
                          <a:ea typeface="NanumGothic"/>
                          <a:cs typeface="NanumGothic"/>
                        </a:rPr>
                        <a:t>항목</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HAIC 템플릿</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GroundWatch</a:t>
                      </a:r>
                    </a:p>
                  </a:txBody>
                  <a:tcPr marL="91440" marR="91440" marT="45720" marB="45720">
                    <a:solidFill>
                      <a:srgbClr val="E7EFEB"/>
                    </a:solidFill>
                  </a:tcPr>
                </a:tc>
              </a:tr>
              <a:tr h="336550">
                <a:tc>
                  <a:txBody>
                    <a:bodyPr/>
                    <a:lstStyle/>
                    <a:p>
                      <a:r>
                        <a:rPr sz="1200" b="0">
                          <a:solidFill>
                            <a:srgbClr val="222A2D"/>
                          </a:solidFill>
                          <a:latin typeface="NanumGothic"/>
                          <a:ea typeface="NanumGothic"/>
                          <a:cs typeface="NanumGothic"/>
                        </a:rPr>
                        <a:t>예측 대상</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다음 날 종가</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관측소별 다음 날 지하수위</a:t>
                      </a:r>
                    </a:p>
                  </a:txBody>
                  <a:tcPr marL="91440" marR="91440" marT="45720" marB="45720">
                    <a:solidFill>
                      <a:srgbClr val="FAFBF9"/>
                    </a:solidFill>
                  </a:tcPr>
                </a:tc>
              </a:tr>
              <a:tr h="336550">
                <a:tc>
                  <a:txBody>
                    <a:bodyPr/>
                    <a:lstStyle/>
                    <a:p>
                      <a:r>
                        <a:rPr sz="1200" b="0">
                          <a:solidFill>
                            <a:srgbClr val="222A2D"/>
                          </a:solidFill>
                          <a:latin typeface="NanumGothic"/>
                          <a:ea typeface="NanumGothic"/>
                          <a:cs typeface="NanumGothic"/>
                        </a:rPr>
                        <a:t>입력</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20거래일 종가·거래량</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연속 20일 수위·강수 (20, 2)</a:t>
                      </a:r>
                    </a:p>
                  </a:txBody>
                  <a:tcPr marL="91440" marR="91440" marT="45720" marB="45720">
                    <a:solidFill>
                      <a:srgbClr val="F2F6F3"/>
                    </a:solidFill>
                  </a:tcPr>
                </a:tc>
              </a:tr>
              <a:tr h="336550">
                <a:tc>
                  <a:txBody>
                    <a:bodyPr/>
                    <a:lstStyle/>
                    <a:p>
                      <a:r>
                        <a:rPr sz="1200" b="0">
                          <a:solidFill>
                            <a:srgbClr val="222A2D"/>
                          </a:solidFill>
                          <a:latin typeface="NanumGothic"/>
                          <a:ea typeface="NanumGothic"/>
                          <a:cs typeface="NanumGothic"/>
                        </a:rPr>
                        <a:t>데이터 공급</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대시보드 CSV 업로드</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원관측 CSV·manifest, 별도 합성 확장</a:t>
                      </a:r>
                    </a:p>
                  </a:txBody>
                  <a:tcPr marL="91440" marR="91440" marT="45720" marB="45720">
                    <a:solidFill>
                      <a:srgbClr val="FAFBF9"/>
                    </a:solidFill>
                  </a:tcPr>
                </a:tc>
              </a:tr>
              <a:tr h="336550">
                <a:tc>
                  <a:txBody>
                    <a:bodyPr/>
                    <a:lstStyle/>
                    <a:p>
                      <a:r>
                        <a:rPr sz="1200" b="0">
                          <a:solidFill>
                            <a:srgbClr val="222A2D"/>
                          </a:solidFill>
                          <a:latin typeface="NanumGothic"/>
                          <a:ea typeface="NanumGothic"/>
                          <a:cs typeface="NanumGothic"/>
                        </a:rPr>
                        <a:t>배포 게이트</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RMSE ≤ 4달러</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초기 persistence × 1.10, 교체 5% 개선</a:t>
                      </a:r>
                    </a:p>
                  </a:txBody>
                  <a:tcPr marL="91440" marR="91440" marT="45720" marB="45720">
                    <a:solidFill>
                      <a:srgbClr val="F2F6F3"/>
                    </a:solidFill>
                  </a:tcPr>
                </a:tc>
              </a:tr>
              <a:tr h="336550">
                <a:tc>
                  <a:txBody>
                    <a:bodyPr/>
                    <a:lstStyle/>
                    <a:p>
                      <a:r>
                        <a:rPr sz="1200" b="0">
                          <a:solidFill>
                            <a:srgbClr val="222A2D"/>
                          </a:solidFill>
                          <a:latin typeface="NanumGothic"/>
                          <a:ea typeface="NanumGothic"/>
                          <a:cs typeface="NanumGothic"/>
                        </a:rPr>
                        <a:t>드리프트 신호</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변동성 3배 시연</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21일 예측 오차의 반복 임계 초과</a:t>
                      </a:r>
                    </a:p>
                  </a:txBody>
                  <a:tcPr marL="91440" marR="91440" marT="45720" marB="45720">
                    <a:solidFill>
                      <a:srgbClr val="FAFBF9"/>
                    </a:solidFill>
                  </a:tcPr>
                </a:tc>
              </a:tr>
              <a:tr h="336550">
                <a:tc>
                  <a:txBody>
                    <a:bodyPr/>
                    <a:lstStyle/>
                    <a:p>
                      <a:r>
                        <a:rPr sz="1200" b="0">
                          <a:solidFill>
                            <a:srgbClr val="222A2D"/>
                          </a:solidFill>
                          <a:latin typeface="NanumGothic"/>
                          <a:ea typeface="NanumGothic"/>
                          <a:cs typeface="NanumGothic"/>
                        </a:rPr>
                        <a:t>재학습</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최근 21거래일 fine-tuning</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41일 입력·21개 정답, 새 정답 30일 평가</a:t>
                      </a:r>
                    </a:p>
                  </a:txBody>
                  <a:tcPr marL="91440" marR="91440" marT="45720" marB="45720">
                    <a:solidFill>
                      <a:srgbClr val="F2F6F3"/>
                    </a:solidFill>
                  </a:tcPr>
                </a:tc>
              </a:tr>
              <a:tr h="336550">
                <a:tc>
                  <a:txBody>
                    <a:bodyPr/>
                    <a:lstStyle/>
                    <a:p>
                      <a:r>
                        <a:rPr sz="1200" b="0">
                          <a:solidFill>
                            <a:srgbClr val="222A2D"/>
                          </a:solidFill>
                          <a:latin typeface="NanumGothic"/>
                          <a:ea typeface="NanumGothic"/>
                          <a:cs typeface="NanumGothic"/>
                        </a:rPr>
                        <a:t>알림</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aiops.log WARN</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SQLite 품질 이벤트와 운영 화면</a:t>
                      </a:r>
                    </a:p>
                  </a:txBody>
                  <a:tcPr marL="91440" marR="91440" marT="45720" marB="45720">
                    <a:solidFill>
                      <a:srgbClr val="FAFBF9"/>
                    </a:solidFill>
                  </a:tcPr>
                </a:tc>
              </a:tr>
              <a:tr h="336550">
                <a:tc>
                  <a:txBody>
                    <a:bodyPr/>
                    <a:lstStyle/>
                    <a:p>
                      <a:r>
                        <a:rPr sz="1200" b="0">
                          <a:solidFill>
                            <a:srgbClr val="222A2D"/>
                          </a:solidFill>
                          <a:latin typeface="NanumGothic"/>
                          <a:ea typeface="NanumGothic"/>
                          <a:cs typeface="NanumGothic"/>
                        </a:rPr>
                        <a:t>이해관계자</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투자 분석가·운영자</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관측·시설 유지관리 기업 운영자</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247876811"/>
      </p:ext>
    </p:extLst>
  </p:cSld>
</p:sld>
</file>

<file path=ppt/slides/slide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2593D6-B742-49C5-85C3-52991750836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① 이해관계자 가치</a:t>
            </a:r>
          </a:p>
        </p:txBody>
      </p:sp>
      <p:sp>
        <p:nvSpPr>
          <p:cNvPr id="2" name="">
            <a:extLst xmlns:a="http://schemas.openxmlformats.org/drawingml/2006/main">
              <a:ext uri="{FF2B5EF4-FFF2-40B4-BE49-F238E27FC236}">
                <a16:creationId xmlns:a16="http://schemas.microsoft.com/office/drawing/2014/main" id="{3EBBC3E4-B4C3-4C74-ADB4-DBEA4B3F1F84}"/>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예측 품질과 현장 안전 판단의 경계</a:t>
            </a:r>
          </a:p>
        </p:txBody>
      </p:sp>
      <p:sp>
        <p:nvSpPr>
          <p:cNvPr id="3" name="">
            <a:extLst xmlns:a="http://schemas.openxmlformats.org/drawingml/2006/main">
              <a:ext uri="{FF2B5EF4-FFF2-40B4-BE49-F238E27FC236}">
                <a16:creationId xmlns:a16="http://schemas.microsoft.com/office/drawing/2014/main" id="{503AD4A8-D3F8-4E5E-B0CB-7965005AC268}"/>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D32DFF5-3D09-4039-A19B-3EB78DED549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5</a:t>
            </a:r>
          </a:p>
        </p:txBody>
      </p:sp>
      <p:sp>
        <p:nvSpPr>
          <p:cNvPr id="5" name="">
            <a:extLst xmlns:a="http://schemas.openxmlformats.org/drawingml/2006/main">
              <a:ext uri="{FF2B5EF4-FFF2-40B4-BE49-F238E27FC236}">
                <a16:creationId xmlns:a16="http://schemas.microsoft.com/office/drawing/2014/main" id="{ED1A8996-18B7-49E6-94C4-4EFAF88DE774}"/>
              </a:ext>
            </a:extLst>
          </p:cNvPr>
          <p:cNvSpPr>
            <a:spLocks xmlns:a="http://schemas.openxmlformats.org/drawingml/2006/main" noGrp="1"/>
          </p:cNvSpPr>
          <p:nvPr/>
        </p:nvSpPr>
        <p:spPr>
          <a:xfrm xmlns:a="http://schemas.openxmlformats.org/drawingml/2006/main">
            <a:off x="571500" y="16573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현재 제공하는 결과</a:t>
            </a:r>
          </a:p>
        </p:txBody>
      </p:sp>
      <p:sp>
        <p:nvSpPr>
          <p:cNvPr id="6" name="">
            <a:extLst xmlns:a="http://schemas.openxmlformats.org/drawingml/2006/main">
              <a:ext uri="{FF2B5EF4-FFF2-40B4-BE49-F238E27FC236}">
                <a16:creationId xmlns:a16="http://schemas.microsoft.com/office/drawing/2014/main" id="{3C8FC803-A0B6-4AA1-93B8-175DF7AD8BCF}"/>
              </a:ext>
            </a:extLst>
          </p:cNvPr>
          <p:cNvSpPr>
            <a:spLocks xmlns:a="http://schemas.openxmlformats.org/drawingml/2006/main" noGrp="1"/>
          </p:cNvSpPr>
          <p:nvPr/>
        </p:nvSpPr>
        <p:spPr>
          <a:xfrm xmlns:a="http://schemas.openxmlformats.org/drawingml/2006/main">
            <a:off x="571500" y="207645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NanumGothic"/>
                <a:ea typeface="NanumGothic"/>
                <a:cs typeface="NanumGothic"/>
              </a:defRPr>
            </a:defPPr>
          </a:lstStyle>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관측소별 다음 날 수위 예측</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같은 날짜의 실제 입력·저장 예측 비교</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모델 버전, 오차, 재학습·평가 이력</a:t>
            </a:r>
          </a:p>
        </p:txBody>
      </p:sp>
      <p:sp>
        <p:nvSpPr>
          <p:cNvPr id="7" name="">
            <a:extLst xmlns:a="http://schemas.openxmlformats.org/drawingml/2006/main">
              <a:ext uri="{FF2B5EF4-FFF2-40B4-BE49-F238E27FC236}">
                <a16:creationId xmlns:a16="http://schemas.microsoft.com/office/drawing/2014/main" id="{384B8DDC-25A4-4D65-8DDA-34765B5F35FF}"/>
              </a:ext>
            </a:extLst>
          </p:cNvPr>
          <p:cNvSpPr>
            <a:spLocks xmlns:a="http://schemas.openxmlformats.org/drawingml/2006/main" noGrp="1"/>
          </p:cNvSpPr>
          <p:nvPr/>
        </p:nvSpPr>
        <p:spPr>
          <a:xfrm xmlns:a="http://schemas.openxmlformats.org/drawingml/2006/main">
            <a:off x="4810125" y="165735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현장 검증 과제</a:t>
            </a:r>
          </a:p>
        </p:txBody>
      </p:sp>
      <p:sp>
        <p:nvSpPr>
          <p:cNvPr id="8" name="">
            <a:extLst xmlns:a="http://schemas.openxmlformats.org/drawingml/2006/main">
              <a:ext uri="{FF2B5EF4-FFF2-40B4-BE49-F238E27FC236}">
                <a16:creationId xmlns:a16="http://schemas.microsoft.com/office/drawing/2014/main" id="{96882041-405C-431F-8755-0ABF200751DF}"/>
              </a:ext>
            </a:extLst>
          </p:cNvPr>
          <p:cNvSpPr>
            <a:spLocks xmlns:a="http://schemas.openxmlformats.org/drawingml/2006/main" noGrp="1"/>
          </p:cNvSpPr>
          <p:nvPr/>
        </p:nvSpPr>
        <p:spPr>
          <a:xfrm xmlns:a="http://schemas.openxmlformats.org/drawingml/2006/main">
            <a:off x="4810125" y="2076450"/>
            <a:ext cx="371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22A2D"/>
                </a:solidFill>
                <a:latin typeface="NanumGothic"/>
                <a:ea typeface="NanumGothic"/>
                <a:cs typeface="NanumGothic"/>
              </a:defRPr>
            </a:defPPr>
          </a:lstStyle>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관측소·단위와 현장 적합성</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현장 원인과 수위 변화의 관계</a:t>
            </a:r>
          </a:p>
          <a:p xmlns:a="http://schemas.openxmlformats.org/drawingml/2006/main">
            <a:pPr>
              <a:buNone/>
              <a:defRPr sz="1500" b="0">
                <a:solidFill>
                  <a:srgbClr val="222A2D"/>
                </a:solidFill>
                <a:latin typeface="NanumGothic"/>
                <a:ea typeface="NanumGothic"/>
                <a:cs typeface="NanumGothic"/>
              </a:defRPr>
            </a:pPr>
            <a:r>
              <a:rPr sz="1500" b="0">
                <a:solidFill>
                  <a:srgbClr val="222A2D"/>
                </a:solidFill>
                <a:latin typeface="NanumGothic"/>
                <a:ea typeface="NanumGothic"/>
                <a:cs typeface="NanumGothic"/>
              </a:rPr>
              <a:t>업무 시간·비용 절감 효과</a:t>
            </a:r>
          </a:p>
        </p:txBody>
      </p:sp>
      <p:sp>
        <p:nvSpPr>
          <p:cNvPr id="9" name="">
            <a:extLst xmlns:a="http://schemas.openxmlformats.org/drawingml/2006/main">
              <a:ext uri="{FF2B5EF4-FFF2-40B4-BE49-F238E27FC236}">
                <a16:creationId xmlns:a16="http://schemas.microsoft.com/office/drawing/2014/main" id="{90417646-B000-43C9-B91D-A872417874AE}"/>
              </a:ext>
            </a:extLst>
          </p:cNvPr>
          <p:cNvSpPr>
            <a:spLocks xmlns:a="http://schemas.openxmlformats.org/drawingml/2006/main" noGrp="1"/>
          </p:cNvSpPr>
          <p:nvPr/>
        </p:nvSpPr>
        <p:spPr>
          <a:xfrm xmlns:a="http://schemas.openxmlformats.org/drawingml/2006/main">
            <a:off x="571500" y="383857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전국 실측 평가와 서울 합성 교체 시연은 근거를 분리합니다</a:t>
            </a:r>
          </a:p>
        </p:txBody>
      </p:sp>
    </p:spTree>
    <p:extLst>
      <p:ext uri="{BB962C8B-B14F-4D97-AF65-F5344CB8AC3E}">
        <p14:creationId xmlns:p14="http://schemas.microsoft.com/office/powerpoint/2010/main" val="1675812102"/>
      </p:ext>
    </p:extLst>
  </p:cSld>
</p:sld>
</file>

<file path=ppt/slides/slide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A084A3-8ECE-4DE1-B5FE-9CCAD487235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② AI 솔루션과 운영 목표</a:t>
            </a:r>
          </a:p>
        </p:txBody>
      </p:sp>
      <p:sp>
        <p:nvSpPr>
          <p:cNvPr id="2" name="">
            <a:extLst xmlns:a="http://schemas.openxmlformats.org/drawingml/2006/main">
              <a:ext uri="{FF2B5EF4-FFF2-40B4-BE49-F238E27FC236}">
                <a16:creationId xmlns:a16="http://schemas.microsoft.com/office/drawing/2014/main" id="{D1143293-267B-45FF-BC14-2DBF40C9F4B7}"/>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다음 날 수위 예측을 품질 감시까지 연결</a:t>
            </a:r>
          </a:p>
        </p:txBody>
      </p:sp>
      <p:sp>
        <p:nvSpPr>
          <p:cNvPr id="3" name="">
            <a:extLst xmlns:a="http://schemas.openxmlformats.org/drawingml/2006/main">
              <a:ext uri="{FF2B5EF4-FFF2-40B4-BE49-F238E27FC236}">
                <a16:creationId xmlns:a16="http://schemas.microsoft.com/office/drawing/2014/main" id="{F2FE8E77-022B-4149-A8F3-9A5ABF001A10}"/>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5C8D957-B6D5-4186-BF76-E385DEAA3550}"/>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6</a:t>
            </a:r>
          </a:p>
        </p:txBody>
      </p:sp>
      <p:sp>
        <p:nvSpPr>
          <p:cNvPr id="5" name="">
            <a:extLst xmlns:a="http://schemas.openxmlformats.org/drawingml/2006/main">
              <a:ext uri="{FF2B5EF4-FFF2-40B4-BE49-F238E27FC236}">
                <a16:creationId xmlns:a16="http://schemas.microsoft.com/office/drawing/2014/main" id="{B142BA3E-3D5C-492B-90A5-4A27251F1320}"/>
              </a:ext>
            </a:extLst>
          </p:cNvPr>
          <p:cNvSpPr>
            <a:spLocks xmlns:a="http://schemas.openxmlformats.org/drawingml/2006/main" noGrp="1"/>
          </p:cNvSpPr>
          <p:nvPr/>
        </p:nvSpPr>
        <p:spPr>
          <a:xfrm xmlns:a="http://schemas.openxmlformats.org/drawingml/2006/main">
            <a:off x="571500" y="1733550"/>
            <a:ext cx="180975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최근 20일</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수위·강수</a:t>
            </a:r>
          </a:p>
        </p:txBody>
      </p:sp>
      <p:sp>
        <p:nvSpPr>
          <p:cNvPr id="6" name="">
            <a:extLst xmlns:a="http://schemas.openxmlformats.org/drawingml/2006/main">
              <a:ext uri="{FF2B5EF4-FFF2-40B4-BE49-F238E27FC236}">
                <a16:creationId xmlns:a16="http://schemas.microsoft.com/office/drawing/2014/main" id="{18A68870-6623-4663-A8B7-0F14626EB75D}"/>
              </a:ext>
            </a:extLst>
          </p:cNvPr>
          <p:cNvSpPr>
            <a:spLocks xmlns:a="http://schemas.openxmlformats.org/drawingml/2006/main" noGrp="1"/>
          </p:cNvSpPr>
          <p:nvPr/>
        </p:nvSpPr>
        <p:spPr>
          <a:xfrm xmlns:a="http://schemas.openxmlformats.org/drawingml/2006/main">
            <a:off x="3000375" y="1733550"/>
            <a:ext cx="2619375" cy="85725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관측소별 residual LSTM</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다음 날 수위</a:t>
            </a:r>
          </a:p>
        </p:txBody>
      </p:sp>
      <p:sp>
        <p:nvSpPr>
          <p:cNvPr id="7" name="">
            <a:extLst xmlns:a="http://schemas.openxmlformats.org/drawingml/2006/main">
              <a:ext uri="{FF2B5EF4-FFF2-40B4-BE49-F238E27FC236}">
                <a16:creationId xmlns:a16="http://schemas.microsoft.com/office/drawing/2014/main" id="{E975EA02-DFF2-4BD5-A5AB-02067767F1AA}"/>
              </a:ext>
            </a:extLst>
          </p:cNvPr>
          <p:cNvSpPr>
            <a:spLocks xmlns:a="http://schemas.openxmlformats.org/drawingml/2006/main" noGrp="1"/>
          </p:cNvSpPr>
          <p:nvPr/>
        </p:nvSpPr>
        <p:spPr>
          <a:xfrm xmlns:a="http://schemas.openxmlformats.org/drawingml/2006/main">
            <a:off x="6191250" y="1733550"/>
            <a:ext cx="2381250" cy="85725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운영 대시보드</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예측과 모델 버전</a:t>
            </a:r>
          </a:p>
        </p:txBody>
      </p:sp>
      <p:cxnSp>
        <p:nvCxnSpPr>
          <p:cNvPr id="8" name="">
            <a:extLst xmlns:a="http://schemas.openxmlformats.org/drawingml/2006/main">
              <a:ext uri="{FF2B5EF4-FFF2-40B4-BE49-F238E27FC236}">
                <a16:creationId xmlns:a16="http://schemas.microsoft.com/office/drawing/2014/main" id="{A55DDB5F-A58B-4512-8D20-6F27C6F932D8}"/>
              </a:ext>
            </a:extLst>
          </p:cNvPr>
          <p:cNvCxnSpPr>
            <a:stCxn xmlns:a="http://schemas.openxmlformats.org/drawingml/2006/main" id="5" idx="3"/>
            <a:endCxn xmlns:a="http://schemas.openxmlformats.org/drawingml/2006/main" id="6" idx="1"/>
          </p:cNvCxnSpPr>
          <p:nvPr/>
        </p:nvCxnSpPr>
        <p:spPr>
          <a:xfrm xmlns:a="http://schemas.openxmlformats.org/drawingml/2006/main">
            <a:off x="2381250" y="2162175"/>
            <a:ext cx="619125"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E0641A70-803A-4A31-BB9F-707D13AC7E1D}"/>
              </a:ext>
            </a:extLst>
          </p:cNvPr>
          <p:cNvCxnSpPr>
            <a:stCxn xmlns:a="http://schemas.openxmlformats.org/drawingml/2006/main" id="6" idx="3"/>
            <a:endCxn xmlns:a="http://schemas.openxmlformats.org/drawingml/2006/main" id="7" idx="1"/>
          </p:cNvCxnSpPr>
          <p:nvPr/>
        </p:nvCxnSpPr>
        <p:spPr>
          <a:xfrm xmlns:a="http://schemas.openxmlformats.org/drawingml/2006/main">
            <a:off x="5619750" y="2162175"/>
            <a:ext cx="57150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AA2F38AE-E2C6-492D-A025-17940D771729}"/>
              </a:ext>
            </a:extLst>
          </p:cNvPr>
          <p:cNvSpPr>
            <a:spLocks xmlns:a="http://schemas.openxmlformats.org/drawingml/2006/main" noGrp="1"/>
          </p:cNvSpPr>
          <p:nvPr/>
        </p:nvSpPr>
        <p:spPr>
          <a:xfrm xmlns:a="http://schemas.openxmlformats.org/drawingml/2006/main">
            <a:off x="571500" y="2952750"/>
            <a:ext cx="800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22A2D"/>
                </a:solidFill>
                <a:latin typeface="NanumGothic"/>
                <a:ea typeface="NanumGothic"/>
                <a:cs typeface="NanumGothic"/>
              </a:defRPr>
            </a:defPPr>
          </a:lstStyle>
          <a:p xmlns:a="http://schemas.openxmlformats.org/drawingml/2006/main">
            <a:pPr>
              <a:buNone/>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마지막 입력 수위 + LSTM 예측 변화량</a:t>
            </a:r>
          </a:p>
        </p:txBody>
      </p:sp>
      <p:sp>
        <p:nvSpPr>
          <p:cNvPr id="11" name="">
            <a:extLst xmlns:a="http://schemas.openxmlformats.org/drawingml/2006/main">
              <a:ext uri="{FF2B5EF4-FFF2-40B4-BE49-F238E27FC236}">
                <a16:creationId xmlns:a16="http://schemas.microsoft.com/office/drawing/2014/main" id="{39ED2C0E-9B89-410F-867B-FAF5EB622AEB}"/>
              </a:ext>
            </a:extLst>
          </p:cNvPr>
          <p:cNvSpPr>
            <a:spLocks xmlns:a="http://schemas.openxmlformats.org/drawingml/2006/main" noGrp="1"/>
          </p:cNvSpPr>
          <p:nvPr/>
        </p:nvSpPr>
        <p:spPr>
          <a:xfrm xmlns:a="http://schemas.openxmlformats.org/drawingml/2006/main">
            <a:off x="571500" y="396240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007D68"/>
                </a:solidFill>
                <a:latin typeface="NanumGothic"/>
                <a:ea typeface="NanumGothic"/>
                <a:cs typeface="NanumGothic"/>
              </a:defRPr>
            </a:defPPr>
          </a:lstStyle>
          <a:p xmlns:a="http://schemas.openxmlformats.org/drawingml/2006/main">
            <a:pPr>
              <a:buNone/>
              <a:defRPr sz="1500" b="1">
                <a:solidFill>
                  <a:srgbClr val="007D68"/>
                </a:solidFill>
                <a:latin typeface="NanumGothic"/>
                <a:ea typeface="NanumGothic"/>
                <a:cs typeface="NanumGothic"/>
              </a:defRPr>
            </a:pPr>
            <a:r>
              <a:rPr sz="1500" b="1">
                <a:solidFill>
                  <a:srgbClr val="007D68"/>
                </a:solidFill>
                <a:latin typeface="NanumGothic"/>
                <a:ea typeface="NanumGothic"/>
                <a:cs typeface="NanumGothic"/>
              </a:rPr>
              <a:t>학습 구간만 scaler를 학습하고, 관측소별 모델·버전·자료 출처를 분리합니다</a:t>
            </a:r>
          </a:p>
        </p:txBody>
      </p:sp>
    </p:spTree>
    <p:extLst>
      <p:ext uri="{BB962C8B-B14F-4D97-AF65-F5344CB8AC3E}">
        <p14:creationId xmlns:p14="http://schemas.microsoft.com/office/powerpoint/2010/main" val="1218349898"/>
      </p:ext>
    </p:extLst>
  </p:cSld>
</p:sld>
</file>

<file path=ppt/slides/slide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E17282-4127-45C5-8B8C-27CFE0594AF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② AI 솔루션과 운영 목표</a:t>
            </a:r>
          </a:p>
        </p:txBody>
      </p:sp>
      <p:sp>
        <p:nvSpPr>
          <p:cNvPr id="2" name="">
            <a:extLst xmlns:a="http://schemas.openxmlformats.org/drawingml/2006/main">
              <a:ext uri="{FF2B5EF4-FFF2-40B4-BE49-F238E27FC236}">
                <a16:creationId xmlns:a16="http://schemas.microsoft.com/office/drawing/2014/main" id="{C74080A1-F1CB-4428-91F7-7A3CD1FE399A}"/>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운영 목표와 기존 시연 측정</a:t>
            </a:r>
          </a:p>
        </p:txBody>
      </p:sp>
      <p:sp>
        <p:nvSpPr>
          <p:cNvPr id="3" name="">
            <a:extLst xmlns:a="http://schemas.openxmlformats.org/drawingml/2006/main">
              <a:ext uri="{FF2B5EF4-FFF2-40B4-BE49-F238E27FC236}">
                <a16:creationId xmlns:a16="http://schemas.microsoft.com/office/drawing/2014/main" id="{3076ED12-43E6-4A1A-87C0-B50F8F2103BE}"/>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측정: 2026-10-08 · 최근 300초 · 107요청</a:t>
            </a:r>
          </a:p>
        </p:txBody>
      </p:sp>
      <p:sp>
        <p:nvSpPr>
          <p:cNvPr id="4" name="">
            <a:extLst xmlns:a="http://schemas.openxmlformats.org/drawingml/2006/main">
              <a:ext uri="{FF2B5EF4-FFF2-40B4-BE49-F238E27FC236}">
                <a16:creationId xmlns:a16="http://schemas.microsoft.com/office/drawing/2014/main" id="{D41D95AF-F2A8-4F16-8EE2-A1516D6713A1}"/>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7</a:t>
            </a:r>
          </a:p>
        </p:txBody>
      </p:sp>
      <p:graphicFrame>
        <p:nvGraphicFramePr>
          <p:cNvPr id="5" name="">
            <a:extLst xmlns:a="http://schemas.openxmlformats.org/drawingml/2006/main">
              <a:ext uri="{FF2B5EF4-FFF2-40B4-BE49-F238E27FC236}">
                <a16:creationId xmlns:a16="http://schemas.microsoft.com/office/drawing/2014/main" id="{8CF74844-2827-463B-9A65-E87DD5628798}"/>
              </a:ext>
            </a:extLst>
          </p:cNvPr>
          <p:cNvGraphicFramePr/>
          <p:nvPr/>
        </p:nvGraphicFramePr>
        <p:xfrm>
          <a:off xmlns:a="http://schemas.openxmlformats.org/drawingml/2006/main" x="571500" y="1543050"/>
          <a:ext xmlns:a="http://schemas.openxmlformats.org/drawingml/2006/main" cx="8001000" cy="2705100"/>
        </p:xfrm>
        <a:graphic xmlns:a="http://schemas.openxmlformats.org/drawingml/2006/main">
          <a:graphicData uri="http://schemas.openxmlformats.org/drawingml/2006/table">
            <a:tbl>
              <a:tblPr/>
              <a:tblGrid>
                <a:gridCol w="1666875"/>
                <a:gridCol w="3095625"/>
                <a:gridCol w="3238500"/>
              </a:tblGrid>
              <a:tr h="541020">
                <a:tc>
                  <a:txBody>
                    <a:bodyPr/>
                    <a:lstStyle/>
                    <a:p>
                      <a:r>
                        <a:rPr sz="1350" b="1">
                          <a:solidFill>
                            <a:srgbClr val="007D68"/>
                          </a:solidFill>
                          <a:latin typeface="NanumGothic"/>
                          <a:ea typeface="NanumGothic"/>
                          <a:cs typeface="NanumGothic"/>
                        </a:rPr>
                        <a:t>요구사항</a:t>
                      </a:r>
                    </a:p>
                  </a:txBody>
                  <a:tcPr marL="91440" marR="91440" marT="45720" marB="45720">
                    <a:solidFill>
                      <a:srgbClr val="E7EFEB"/>
                    </a:solidFill>
                  </a:tcPr>
                </a:tc>
                <a:tc>
                  <a:txBody>
                    <a:bodyPr/>
                    <a:lstStyle/>
                    <a:p>
                      <a:r>
                        <a:rPr sz="1350" b="1">
                          <a:solidFill>
                            <a:srgbClr val="007D68"/>
                          </a:solidFill>
                          <a:latin typeface="NanumGothic"/>
                          <a:ea typeface="NanumGothic"/>
                          <a:cs typeface="NanumGothic"/>
                        </a:rPr>
                        <a:t>목표·기준</a:t>
                      </a:r>
                    </a:p>
                  </a:txBody>
                  <a:tcPr marL="91440" marR="91440" marT="45720" marB="45720">
                    <a:solidFill>
                      <a:srgbClr val="E7EFEB"/>
                    </a:solidFill>
                  </a:tcPr>
                </a:tc>
                <a:tc>
                  <a:txBody>
                    <a:bodyPr/>
                    <a:lstStyle/>
                    <a:p>
                      <a:r>
                        <a:rPr sz="1350" b="1">
                          <a:solidFill>
                            <a:srgbClr val="007D68"/>
                          </a:solidFill>
                          <a:latin typeface="NanumGothic"/>
                          <a:ea typeface="NanumGothic"/>
                          <a:cs typeface="NanumGothic"/>
                        </a:rPr>
                        <a:t>확인한 값</a:t>
                      </a:r>
                    </a:p>
                  </a:txBody>
                  <a:tcPr marL="91440" marR="91440" marT="45720" marB="45720">
                    <a:solidFill>
                      <a:srgbClr val="E7EFEB"/>
                    </a:solidFill>
                  </a:tcPr>
                </a:tc>
              </a:tr>
              <a:tr h="541020">
                <a:tc>
                  <a:txBody>
                    <a:bodyPr/>
                    <a:lstStyle/>
                    <a:p>
                      <a:r>
                        <a:rPr sz="1350" b="0">
                          <a:solidFill>
                            <a:srgbClr val="222A2D"/>
                          </a:solidFill>
                          <a:latin typeface="NanumGothic"/>
                          <a:ea typeface="NanumGothic"/>
                          <a:cs typeface="NanumGothic"/>
                        </a:rPr>
                        <a:t>응답시간</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요청 p95 ≤ 1초</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0.6538초 (107요청, 300초)</a:t>
                      </a:r>
                    </a:p>
                  </a:txBody>
                  <a:tcPr marL="91440" marR="91440" marT="45720" marB="45720">
                    <a:solidFill>
                      <a:srgbClr val="FAFBF9"/>
                    </a:solidFill>
                  </a:tcPr>
                </a:tc>
              </a:tr>
              <a:tr h="541020">
                <a:tc>
                  <a:txBody>
                    <a:bodyPr/>
                    <a:lstStyle/>
                    <a:p>
                      <a:r>
                        <a:rPr sz="1350" b="0">
                          <a:solidFill>
                            <a:srgbClr val="222A2D"/>
                          </a:solidFill>
                          <a:latin typeface="NanumGothic"/>
                          <a:ea typeface="NanumGothic"/>
                          <a:cs typeface="NanumGothic"/>
                        </a:rPr>
                        <a:t>서버 오류</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HTTP 5xx 비율 &lt; 1%</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0 / 107 = 0%</a:t>
                      </a:r>
                    </a:p>
                  </a:txBody>
                  <a:tcPr marL="91440" marR="91440" marT="45720" marB="45720">
                    <a:solidFill>
                      <a:srgbClr val="F2F6F3"/>
                    </a:solidFill>
                  </a:tcPr>
                </a:tc>
              </a:tr>
              <a:tr h="541020">
                <a:tc>
                  <a:txBody>
                    <a:bodyPr/>
                    <a:lstStyle/>
                    <a:p>
                      <a:r>
                        <a:rPr sz="1350" b="0">
                          <a:solidFill>
                            <a:srgbClr val="222A2D"/>
                          </a:solidFill>
                          <a:latin typeface="NanumGothic"/>
                          <a:ea typeface="NanumGothic"/>
                          <a:cs typeface="NanumGothic"/>
                        </a:rPr>
                        <a:t>예측 준비</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선택 날짜의 25개 관측소 준비</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25 / 25 (합성 포함)</a:t>
                      </a:r>
                    </a:p>
                  </a:txBody>
                  <a:tcPr marL="91440" marR="91440" marT="45720" marB="45720">
                    <a:solidFill>
                      <a:srgbClr val="FAFBF9"/>
                    </a:solidFill>
                  </a:tcPr>
                </a:tc>
              </a:tr>
              <a:tr h="541020">
                <a:tc>
                  <a:txBody>
                    <a:bodyPr/>
                    <a:lstStyle/>
                    <a:p>
                      <a:r>
                        <a:rPr sz="1350" b="0">
                          <a:solidFill>
                            <a:srgbClr val="222A2D"/>
                          </a:solidFill>
                          <a:latin typeface="NanumGothic"/>
                          <a:ea typeface="NanumGothic"/>
                          <a:cs typeface="NanumGothic"/>
                        </a:rPr>
                        <a:t>초기 모델 품질</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검증 RMSE ≤ persistence × 1.10</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0.032519 ≤ 0.037465 gl.-m</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1580351465"/>
      </p:ext>
    </p:extLst>
  </p:cSld>
</p:sld>
</file>

<file path=ppt/slides/slide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F8E19A-49D8-493E-9F78-28484FF15ED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② AI 솔루션과 운영 목표</a:t>
            </a:r>
          </a:p>
        </p:txBody>
      </p:sp>
      <p:sp>
        <p:nvSpPr>
          <p:cNvPr id="2" name="">
            <a:extLst xmlns:a="http://schemas.openxmlformats.org/drawingml/2006/main">
              <a:ext uri="{FF2B5EF4-FFF2-40B4-BE49-F238E27FC236}">
                <a16:creationId xmlns:a16="http://schemas.microsoft.com/office/drawing/2014/main" id="{7AC9023D-5C44-459D-BBAB-06288D549152}"/>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합성 교체 시연: 조건을 통과한 후보만 교체</a:t>
            </a:r>
          </a:p>
        </p:txBody>
      </p:sp>
      <p:sp>
        <p:nvSpPr>
          <p:cNvPr id="3" name="">
            <a:extLst xmlns:a="http://schemas.openxmlformats.org/drawingml/2006/main">
              <a:ext uri="{FF2B5EF4-FFF2-40B4-BE49-F238E27FC236}">
                <a16:creationId xmlns:a16="http://schemas.microsoft.com/office/drawing/2014/main" id="{00C423BC-D92B-4C68-8E27-7B67936BF86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합성 시연 · 각 기존 오차 = 100</a:t>
            </a:r>
          </a:p>
        </p:txBody>
      </p:sp>
      <p:sp>
        <p:nvSpPr>
          <p:cNvPr id="4" name="">
            <a:extLst xmlns:a="http://schemas.openxmlformats.org/drawingml/2006/main">
              <a:ext uri="{FF2B5EF4-FFF2-40B4-BE49-F238E27FC236}">
                <a16:creationId xmlns:a16="http://schemas.microsoft.com/office/drawing/2014/main" id="{EA00B2D9-B5B8-4019-B273-4CC0F29E7F1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8</a:t>
            </a:r>
          </a:p>
        </p:txBody>
      </p:sp>
      <p:graphicFrame>
        <p:nvGraphicFramePr>
          <p:cNvPr id="5" name="Chart">
            <a:extLst xmlns:a="http://schemas.openxmlformats.org/drawingml/2006/main">
              <a:ext uri="{FF2B5EF4-FFF2-40B4-BE49-F238E27FC236}">
                <a16:creationId xmlns:a16="http://schemas.microsoft.com/office/drawing/2014/main" id="{13D75604-A8C3-4D43-9D11-2D97CB479DFE}"/>
              </a:ext>
            </a:extLst>
          </p:cNvPr>
          <p:cNvGraphicFramePr/>
          <p:nvPr/>
        </p:nvGraphicFramePr>
        <p:xfrm>
          <a:off xmlns:a="http://schemas.openxmlformats.org/drawingml/2006/main" x="571500" y="1504950"/>
          <a:ext xmlns:a="http://schemas.openxmlformats.org/drawingml/2006/main" cx="5238750" cy="2762250"/>
        </p:xfrm>
        <a:graphic xmlns:a="http://schemas.openxmlformats.org/drawingml/2006/main">
          <a:graphicData uri="http://schemas.openxmlformats.org/drawingml/2006/chart">
            <c:chart xmlns:r="http://schemas.openxmlformats.org/officeDocument/2006/relationships" xmlns:c="http://schemas.openxmlformats.org/drawingml/2006/chart" r:id="R4802f0edc1d8422b"/>
          </a:graphicData>
        </a:graphic>
      </p:graphicFrame>
      <p:sp>
        <p:nvSpPr>
          <p:cNvPr id="6" name="">
            <a:extLst xmlns:a="http://schemas.openxmlformats.org/drawingml/2006/main">
              <a:ext uri="{FF2B5EF4-FFF2-40B4-BE49-F238E27FC236}">
                <a16:creationId xmlns:a16="http://schemas.microsoft.com/office/drawing/2014/main" id="{8D646261-121E-49D2-B267-4859FFF8A6A1}"/>
              </a:ext>
            </a:extLst>
          </p:cNvPr>
          <p:cNvSpPr>
            <a:spLocks xmlns:a="http://schemas.openxmlformats.org/drawingml/2006/main" noGrp="1"/>
          </p:cNvSpPr>
          <p:nvPr/>
        </p:nvSpPr>
        <p:spPr>
          <a:xfrm xmlns:a="http://schemas.openxmlformats.org/drawingml/2006/main">
            <a:off x="6115050" y="16192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07D68"/>
                </a:solidFill>
                <a:latin typeface="NanumGothic"/>
                <a:ea typeface="NanumGothic"/>
                <a:cs typeface="NanumGothic"/>
              </a:defRPr>
            </a:defPPr>
          </a:lstStyle>
          <a:p xmlns:a="http://schemas.openxmlformats.org/drawingml/2006/main">
            <a:pPr>
              <a:buNone/>
              <a:defRPr sz="2400" b="1">
                <a:solidFill>
                  <a:srgbClr val="007D68"/>
                </a:solidFill>
                <a:latin typeface="NanumGothic"/>
                <a:ea typeface="NanumGothic"/>
                <a:cs typeface="NanumGothic"/>
              </a:defRPr>
            </a:pPr>
            <a:r>
              <a:rPr sz="2400" b="1">
                <a:solidFill>
                  <a:srgbClr val="007D68"/>
                </a:solidFill>
                <a:latin typeface="NanumGothic"/>
                <a:ea typeface="NanumGothic"/>
                <a:cs typeface="NanumGothic"/>
              </a:rPr>
              <a:t>9.27% 감소</a:t>
            </a:r>
          </a:p>
        </p:txBody>
      </p:sp>
      <p:sp>
        <p:nvSpPr>
          <p:cNvPr id="7" name="">
            <a:extLst xmlns:a="http://schemas.openxmlformats.org/drawingml/2006/main">
              <a:ext uri="{FF2B5EF4-FFF2-40B4-BE49-F238E27FC236}">
                <a16:creationId xmlns:a16="http://schemas.microsoft.com/office/drawing/2014/main" id="{1BEB3EB9-BCAF-4C63-BD22-1E706B4F250F}"/>
              </a:ext>
            </a:extLst>
          </p:cNvPr>
          <p:cNvSpPr>
            <a:spLocks xmlns:a="http://schemas.openxmlformats.org/drawingml/2006/main" noGrp="1"/>
          </p:cNvSpPr>
          <p:nvPr/>
        </p:nvSpPr>
        <p:spPr>
          <a:xfrm xmlns:a="http://schemas.openxmlformats.org/drawingml/2006/main">
            <a:off x="6115050" y="2143125"/>
            <a:ext cx="2457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NanumGothic"/>
                <a:ea typeface="NanumGothic"/>
                <a:cs typeface="NanumGothic"/>
              </a:defRPr>
            </a:defPPr>
          </a:lstStyle>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0.0232006 → 0.0210489</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v1에서 v2로 교체</a:t>
            </a:r>
          </a:p>
        </p:txBody>
      </p:sp>
      <p:sp>
        <p:nvSpPr>
          <p:cNvPr id="8" name="">
            <a:extLst xmlns:a="http://schemas.openxmlformats.org/drawingml/2006/main">
              <a:ext uri="{FF2B5EF4-FFF2-40B4-BE49-F238E27FC236}">
                <a16:creationId xmlns:a16="http://schemas.microsoft.com/office/drawing/2014/main" id="{93AB485A-E8BE-4DC9-9644-7AC8304011EC}"/>
              </a:ext>
            </a:extLst>
          </p:cNvPr>
          <p:cNvSpPr>
            <a:spLocks xmlns:a="http://schemas.openxmlformats.org/drawingml/2006/main" noGrp="1"/>
          </p:cNvSpPr>
          <p:nvPr/>
        </p:nvSpPr>
        <p:spPr>
          <a:xfrm xmlns:a="http://schemas.openxmlformats.org/drawingml/2006/main">
            <a:off x="6115050" y="306705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22A2D"/>
                </a:solidFill>
                <a:latin typeface="NanumGothic"/>
                <a:ea typeface="NanumGothic"/>
                <a:cs typeface="NanumGothic"/>
              </a:defRPr>
            </a:defPPr>
          </a:lstStyle>
          <a:p xmlns:a="http://schemas.openxmlformats.org/drawingml/2006/main">
            <a:pPr>
              <a:buNone/>
              <a:defRPr sz="2250" b="1">
                <a:solidFill>
                  <a:srgbClr val="222A2D"/>
                </a:solidFill>
                <a:latin typeface="NanumGothic"/>
                <a:ea typeface="NanumGothic"/>
                <a:cs typeface="NanumGothic"/>
              </a:defRPr>
            </a:pPr>
            <a:r>
              <a:rPr sz="2250" b="1">
                <a:solidFill>
                  <a:srgbClr val="222A2D"/>
                </a:solidFill>
                <a:latin typeface="NanumGothic"/>
                <a:ea typeface="NanumGothic"/>
                <a:cs typeface="NanumGothic"/>
              </a:rPr>
              <a:t>2.51% 감소</a:t>
            </a:r>
          </a:p>
        </p:txBody>
      </p:sp>
      <p:sp>
        <p:nvSpPr>
          <p:cNvPr id="9" name="">
            <a:extLst xmlns:a="http://schemas.openxmlformats.org/drawingml/2006/main">
              <a:ext uri="{FF2B5EF4-FFF2-40B4-BE49-F238E27FC236}">
                <a16:creationId xmlns:a16="http://schemas.microsoft.com/office/drawing/2014/main" id="{2FB3388A-0EB9-4324-90AB-DC3DF60CD3D7}"/>
              </a:ext>
            </a:extLst>
          </p:cNvPr>
          <p:cNvSpPr>
            <a:spLocks xmlns:a="http://schemas.openxmlformats.org/drawingml/2006/main" noGrp="1"/>
          </p:cNvSpPr>
          <p:nvPr/>
        </p:nvSpPr>
        <p:spPr>
          <a:xfrm xmlns:a="http://schemas.openxmlformats.org/drawingml/2006/main">
            <a:off x="6115050" y="3552825"/>
            <a:ext cx="2457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NanumGothic"/>
                <a:ea typeface="NanumGothic"/>
                <a:cs typeface="NanumGothic"/>
              </a:defRPr>
            </a:defPPr>
          </a:lstStyle>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0.0506788 → 0.0494047</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5% 기준 미달, 기존 유지</a:t>
            </a:r>
          </a:p>
        </p:txBody>
      </p:sp>
    </p:spTree>
    <p:extLst>
      <p:ext uri="{BB962C8B-B14F-4D97-AF65-F5344CB8AC3E}">
        <p14:creationId xmlns:p14="http://schemas.microsoft.com/office/powerpoint/2010/main" val="479293460"/>
      </p:ext>
    </p:extLst>
  </p:cSld>
</p:sld>
</file>

<file path=ppt/slides/slide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B31C23-C962-48C6-934A-AA19CA4F0220}"/>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a:t>
            </a:r>
          </a:p>
        </p:txBody>
      </p:sp>
      <p:sp>
        <p:nvSpPr>
          <p:cNvPr id="2" name="">
            <a:extLst xmlns:a="http://schemas.openxmlformats.org/drawingml/2006/main">
              <a:ext uri="{FF2B5EF4-FFF2-40B4-BE49-F238E27FC236}">
                <a16:creationId xmlns:a16="http://schemas.microsoft.com/office/drawing/2014/main" id="{D8924118-5407-4BA7-A2E2-9EEABC0C469D}"/>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드리프트가 생길 수 있는 상황</a:t>
            </a:r>
          </a:p>
        </p:txBody>
      </p:sp>
      <p:sp>
        <p:nvSpPr>
          <p:cNvPr id="3" name="">
            <a:extLst xmlns:a="http://schemas.openxmlformats.org/drawingml/2006/main">
              <a:ext uri="{FF2B5EF4-FFF2-40B4-BE49-F238E27FC236}">
                <a16:creationId xmlns:a16="http://schemas.microsoft.com/office/drawing/2014/main" id="{8CF40009-8409-464E-AA97-91D0FAAF9746}"/>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가능한 발생 상황 · 감지 대상은 예측 오차 증가</a:t>
            </a:r>
          </a:p>
        </p:txBody>
      </p:sp>
      <p:sp>
        <p:nvSpPr>
          <p:cNvPr id="4" name="">
            <a:extLst xmlns:a="http://schemas.openxmlformats.org/drawingml/2006/main">
              <a:ext uri="{FF2B5EF4-FFF2-40B4-BE49-F238E27FC236}">
                <a16:creationId xmlns:a16="http://schemas.microsoft.com/office/drawing/2014/main" id="{385DC243-1364-42EC-8C52-0C72446A3A5E}"/>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9</a:t>
            </a:r>
          </a:p>
        </p:txBody>
      </p:sp>
      <p:graphicFrame>
        <p:nvGraphicFramePr>
          <p:cNvPr id="5" name="">
            <a:extLst xmlns:a="http://schemas.openxmlformats.org/drawingml/2006/main">
              <a:ext uri="{FF2B5EF4-FFF2-40B4-BE49-F238E27FC236}">
                <a16:creationId xmlns:a16="http://schemas.microsoft.com/office/drawing/2014/main" id="{582B4A30-1746-4E2D-AC56-CE1F755D10EA}"/>
              </a:ext>
            </a:extLst>
          </p:cNvPr>
          <p:cNvGraphicFramePr/>
          <p:nvPr/>
        </p:nvGraphicFramePr>
        <p:xfrm>
          <a:off xmlns:a="http://schemas.openxmlformats.org/drawingml/2006/main" x="571500" y="1552575"/>
          <a:ext xmlns:a="http://schemas.openxmlformats.org/drawingml/2006/main" cx="8001000" cy="2095500"/>
        </p:xfrm>
        <a:graphic xmlns:a="http://schemas.openxmlformats.org/drawingml/2006/main">
          <a:graphicData uri="http://schemas.openxmlformats.org/drawingml/2006/table">
            <a:tbl>
              <a:tblPr/>
              <a:tblGrid>
                <a:gridCol w="1905000"/>
                <a:gridCol w="3143250"/>
                <a:gridCol w="2952750"/>
              </a:tblGrid>
              <a:tr h="523875">
                <a:tc>
                  <a:txBody>
                    <a:bodyPr/>
                    <a:lstStyle/>
                    <a:p>
                      <a:r>
                        <a:rPr sz="1425" b="1">
                          <a:solidFill>
                            <a:srgbClr val="007D68"/>
                          </a:solidFill>
                          <a:latin typeface="NanumGothic"/>
                          <a:ea typeface="NanumGothic"/>
                          <a:cs typeface="NanumGothic"/>
                        </a:rPr>
                        <a:t>가능한 상황</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기존 모델이 빗나가는 이유</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운영 시 먼저 확인</a:t>
                      </a:r>
                    </a:p>
                  </a:txBody>
                  <a:tcPr marL="91440" marR="91440" marT="45720" marB="45720">
                    <a:solidFill>
                      <a:srgbClr val="E7EFEB"/>
                    </a:solidFill>
                  </a:tcPr>
                </a:tc>
              </a:tr>
              <a:tr h="523875">
                <a:tc>
                  <a:txBody>
                    <a:bodyPr/>
                    <a:lstStyle/>
                    <a:p>
                      <a:r>
                        <a:rPr sz="1425" b="0">
                          <a:solidFill>
                            <a:srgbClr val="222A2D"/>
                          </a:solidFill>
                          <a:latin typeface="NanumGothic"/>
                          <a:ea typeface="NanumGothic"/>
                          <a:cs typeface="NanumGothic"/>
                        </a:rPr>
                        <a:t>장마·장기 가뭄</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학습 때와 다른 강수·수위 관계</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관측 기간, 강수 입력, 계절성</a:t>
                      </a:r>
                    </a:p>
                  </a:txBody>
                  <a:tcPr marL="91440" marR="91440" marT="45720" marB="45720">
                    <a:solidFill>
                      <a:srgbClr val="FAFBF9"/>
                    </a:solidFill>
                  </a:tcPr>
                </a:tc>
              </a:tr>
              <a:tr h="523875">
                <a:tc>
                  <a:txBody>
                    <a:bodyPr/>
                    <a:lstStyle/>
                    <a:p>
                      <a:r>
                        <a:rPr sz="1425" b="0">
                          <a:solidFill>
                            <a:srgbClr val="222A2D"/>
                          </a:solidFill>
                          <a:latin typeface="NanumGothic"/>
                          <a:ea typeface="NanumGothic"/>
                          <a:cs typeface="NanumGothic"/>
                        </a:rPr>
                        <a:t>양수량·배수 조건 변화</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강수만으로 설명 못 하는 수위 변화</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현장 운영 변화, 추가 설명 변수</a:t>
                      </a:r>
                    </a:p>
                  </a:txBody>
                  <a:tcPr marL="91440" marR="91440" marT="45720" marB="45720">
                    <a:solidFill>
                      <a:srgbClr val="F2F6F3"/>
                    </a:solidFill>
                  </a:tcPr>
                </a:tc>
              </a:tr>
              <a:tr h="523875">
                <a:tc>
                  <a:txBody>
                    <a:bodyPr/>
                    <a:lstStyle/>
                    <a:p>
                      <a:r>
                        <a:rPr sz="1425" b="0">
                          <a:solidFill>
                            <a:srgbClr val="222A2D"/>
                          </a:solidFill>
                          <a:latin typeface="NanumGothic"/>
                          <a:ea typeface="NanumGothic"/>
                          <a:cs typeface="NanumGothic"/>
                        </a:rPr>
                        <a:t>센서 교체·영점 보정</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측정값의 기준이 갑자기 달라짐</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센서·단위·원자료 정정 여부</a:t>
                      </a:r>
                    </a:p>
                  </a:txBody>
                  <a:tcPr marL="91440" marR="91440" marT="45720" marB="45720">
                    <a:solidFill>
                      <a:srgbClr val="FAFBF9"/>
                    </a:solidFill>
                  </a:tcPr>
                </a:tc>
              </a:tr>
            </a:tbl>
          </a:graphicData>
        </a:graphic>
      </p:graphicFrame>
      <p:sp>
        <p:nvSpPr>
          <p:cNvPr id="6" name="">
            <a:extLst xmlns:a="http://schemas.openxmlformats.org/drawingml/2006/main">
              <a:ext uri="{FF2B5EF4-FFF2-40B4-BE49-F238E27FC236}">
                <a16:creationId xmlns:a16="http://schemas.microsoft.com/office/drawing/2014/main" id="{76BFB514-F34E-452E-B087-0F59A585B63E}"/>
              </a:ext>
            </a:extLst>
          </p:cNvPr>
          <p:cNvSpPr>
            <a:spLocks xmlns:a="http://schemas.openxmlformats.org/drawingml/2006/main" noGrp="1"/>
          </p:cNvSpPr>
          <p:nvPr/>
        </p:nvSpPr>
        <p:spPr>
          <a:xfrm xmlns:a="http://schemas.openxmlformats.org/drawingml/2006/main">
            <a:off x="571500" y="3829050"/>
            <a:ext cx="800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007D68"/>
                </a:solidFill>
                <a:latin typeface="NanumGothic"/>
                <a:ea typeface="NanumGothic"/>
                <a:cs typeface="NanumGothic"/>
              </a:defRPr>
            </a:defPPr>
          </a:lstStyle>
          <a:p xmlns:a="http://schemas.openxmlformats.org/drawingml/2006/main">
            <a:pPr>
              <a:buNone/>
              <a:defRPr sz="1800" b="1">
                <a:solidFill>
                  <a:srgbClr val="007D68"/>
                </a:solidFill>
                <a:latin typeface="NanumGothic"/>
                <a:ea typeface="NanumGothic"/>
                <a:cs typeface="NanumGothic"/>
              </a:defRPr>
            </a:pPr>
            <a:r>
              <a:rPr sz="1800" b="1">
                <a:solidFill>
                  <a:srgbClr val="007D68"/>
                </a:solidFill>
                <a:latin typeface="NanumGothic"/>
                <a:ea typeface="NanumGothic"/>
                <a:cs typeface="NanumGothic"/>
              </a:rPr>
              <a:t>현재 시연: 첫 정답 22일째부터 수위에 +0.2를 추가</a:t>
            </a:r>
          </a:p>
        </p:txBody>
      </p:sp>
      <p:sp>
        <p:nvSpPr>
          <p:cNvPr id="7" name="">
            <a:extLst xmlns:a="http://schemas.openxmlformats.org/drawingml/2006/main">
              <a:ext uri="{FF2B5EF4-FFF2-40B4-BE49-F238E27FC236}">
                <a16:creationId xmlns:a16="http://schemas.microsoft.com/office/drawing/2014/main" id="{28F6D546-ACC4-4FDD-A0B2-85F1145E31F4}"/>
              </a:ext>
            </a:extLst>
          </p:cNvPr>
          <p:cNvSpPr>
            <a:spLocks xmlns:a="http://schemas.openxmlformats.org/drawingml/2006/main" noGrp="1"/>
          </p:cNvSpPr>
          <p:nvPr/>
        </p:nvSpPr>
        <p:spPr>
          <a:xfrm xmlns:a="http://schemas.openxmlformats.org/drawingml/2006/main">
            <a:off x="571500" y="4257675"/>
            <a:ext cx="800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C686B"/>
                </a:solidFill>
                <a:latin typeface="NanumGothic"/>
                <a:ea typeface="NanumGothic"/>
                <a:cs typeface="NanumGothic"/>
              </a:defRPr>
            </a:defPPr>
          </a:lstStyle>
          <a:p xmlns:a="http://schemas.openxmlformats.org/drawingml/2006/main">
            <a:pPr>
              <a:buNone/>
              <a:defRPr sz="1275" b="0">
                <a:solidFill>
                  <a:srgbClr val="5C686B"/>
                </a:solidFill>
                <a:latin typeface="NanumGothic"/>
                <a:ea typeface="NanumGothic"/>
                <a:cs typeface="NanumGothic"/>
              </a:defRPr>
            </a:pPr>
            <a:r>
              <a:rPr sz="1275" b="0">
                <a:solidFill>
                  <a:srgbClr val="5C686B"/>
                </a:solidFill>
                <a:latin typeface="NanumGothic"/>
                <a:ea typeface="NanumGothic"/>
                <a:cs typeface="NanumGothic"/>
              </a:rPr>
              <a:t>합성 시연에서 변화 전·후를 검증합니다.</a:t>
            </a:r>
          </a:p>
        </p:txBody>
      </p:sp>
    </p:spTree>
    <p:extLst>
      <p:ext uri="{BB962C8B-B14F-4D97-AF65-F5344CB8AC3E}">
        <p14:creationId xmlns:p14="http://schemas.microsoft.com/office/powerpoint/2010/main" val="1713396040"/>
      </p:ext>
    </p:extLst>
  </p:cSld>
</p:sld>
</file>

<file path=ppt/slides/slide1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19910D-D606-44A6-9B5D-AEDAF98C7F77}"/>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 · 서울은 초기 검증, 전국은 동결 holdout 기준</a:t>
            </a:r>
          </a:p>
        </p:txBody>
      </p:sp>
      <p:sp>
        <p:nvSpPr>
          <p:cNvPr id="2" name="">
            <a:extLst xmlns:a="http://schemas.openxmlformats.org/drawingml/2006/main">
              <a:ext uri="{FF2B5EF4-FFF2-40B4-BE49-F238E27FC236}">
                <a16:creationId xmlns:a16="http://schemas.microsoft.com/office/drawing/2014/main" id="{1A694857-DAB5-41EE-A8F0-F1339B954E42}"/>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배포 전에 입력과 성능 회귀를 차단</a:t>
            </a:r>
          </a:p>
        </p:txBody>
      </p:sp>
      <p:sp>
        <p:nvSpPr>
          <p:cNvPr id="3" name="">
            <a:extLst xmlns:a="http://schemas.openxmlformats.org/drawingml/2006/main">
              <a:ext uri="{FF2B5EF4-FFF2-40B4-BE49-F238E27FC236}">
                <a16:creationId xmlns:a16="http://schemas.microsoft.com/office/drawing/2014/main" id="{499C2E45-351E-4840-AB4E-C920CC4E0D6B}"/>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D5F8B7B-B805-44E4-955C-C2AF912657E6}"/>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10</a:t>
            </a:r>
          </a:p>
        </p:txBody>
      </p:sp>
      <p:graphicFrame>
        <p:nvGraphicFramePr>
          <p:cNvPr id="5" name="">
            <a:extLst xmlns:a="http://schemas.openxmlformats.org/drawingml/2006/main">
              <a:ext uri="{FF2B5EF4-FFF2-40B4-BE49-F238E27FC236}">
                <a16:creationId xmlns:a16="http://schemas.microsoft.com/office/drawing/2014/main" id="{6B431DC9-810E-4046-BCE5-26C4331C2F4F}"/>
              </a:ext>
            </a:extLst>
          </p:cNvPr>
          <p:cNvGraphicFramePr/>
          <p:nvPr/>
        </p:nvGraphicFramePr>
        <p:xfrm>
          <a:off xmlns:a="http://schemas.openxmlformats.org/drawingml/2006/main" x="571500" y="1504950"/>
          <a:ext xmlns:a="http://schemas.openxmlformats.org/drawingml/2006/main" cx="8001000" cy="2895600"/>
        </p:xfrm>
        <a:graphic xmlns:a="http://schemas.openxmlformats.org/drawingml/2006/main">
          <a:graphicData uri="http://schemas.openxmlformats.org/drawingml/2006/table">
            <a:tbl>
              <a:tblPr/>
              <a:tblGrid>
                <a:gridCol w="1476375"/>
                <a:gridCol w="4524375"/>
                <a:gridCol w="2000250"/>
              </a:tblGrid>
              <a:tr h="482600">
                <a:tc>
                  <a:txBody>
                    <a:bodyPr/>
                    <a:lstStyle/>
                    <a:p>
                      <a:r>
                        <a:rPr sz="1275" b="1">
                          <a:solidFill>
                            <a:srgbClr val="007D68"/>
                          </a:solidFill>
                          <a:latin typeface="NanumGothic"/>
                          <a:ea typeface="NanumGothic"/>
                          <a:cs typeface="NanumGothic"/>
                        </a:rPr>
                        <a:t>게이트</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검사 내용</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실패하면</a:t>
                      </a:r>
                    </a:p>
                  </a:txBody>
                  <a:tcPr marL="91440" marR="91440" marT="45720" marB="45720">
                    <a:solidFill>
                      <a:srgbClr val="E7EFEB"/>
                    </a:solidFill>
                  </a:tcPr>
                </a:tc>
              </a:tr>
              <a:tr h="482600">
                <a:tc>
                  <a:txBody>
                    <a:bodyPr/>
                    <a:lstStyle/>
                    <a:p>
                      <a:r>
                        <a:rPr sz="1275" b="0">
                          <a:solidFill>
                            <a:srgbClr val="222A2D"/>
                          </a:solidFill>
                          <a:latin typeface="NanumGothic"/>
                          <a:ea typeface="NanumGothic"/>
                          <a:cs typeface="NanumGothic"/>
                        </a:rPr>
                        <a:t>입력 스키마</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20일 연속, 관측소·날짜·단위, 수위 유한값, 강수 ≥ 0</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422 또는 자료 미준비</a:t>
                      </a:r>
                    </a:p>
                  </a:txBody>
                  <a:tcPr marL="91440" marR="91440" marT="45720" marB="45720">
                    <a:solidFill>
                      <a:srgbClr val="FAFBF9"/>
                    </a:solidFill>
                  </a:tcPr>
                </a:tc>
              </a:tr>
              <a:tr h="482600">
                <a:tc>
                  <a:txBody>
                    <a:bodyPr/>
                    <a:lstStyle/>
                    <a:p>
                      <a:r>
                        <a:rPr sz="1275" b="0">
                          <a:solidFill>
                            <a:srgbClr val="222A2D"/>
                          </a:solidFill>
                          <a:latin typeface="NanumGothic"/>
                          <a:ea typeface="NanumGothic"/>
                          <a:cs typeface="NanumGothic"/>
                        </a:rPr>
                        <a:t>초기 모델</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검증 RMSE ≤ persistence 검증 RMSE × 1.10</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기존 모델 유지, 없으면 미준비</a:t>
                      </a:r>
                    </a:p>
                  </a:txBody>
                  <a:tcPr marL="91440" marR="91440" marT="45720" marB="45720">
                    <a:solidFill>
                      <a:srgbClr val="F2F6F3"/>
                    </a:solidFill>
                  </a:tcPr>
                </a:tc>
              </a:tr>
              <a:tr h="482600">
                <a:tc>
                  <a:txBody>
                    <a:bodyPr/>
                    <a:lstStyle/>
                    <a:p>
                      <a:r>
                        <a:rPr sz="1275" b="0">
                          <a:solidFill>
                            <a:srgbClr val="222A2D"/>
                          </a:solidFill>
                          <a:latin typeface="NanumGothic"/>
                          <a:ea typeface="NanumGothic"/>
                          <a:cs typeface="NanumGothic"/>
                        </a:rPr>
                        <a:t>후속 평가</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학습 이후 새 정답 30일, 후보 RMSE ≤ 기존 × 0.95</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기존 모델 유지</a:t>
                      </a:r>
                    </a:p>
                  </a:txBody>
                  <a:tcPr marL="91440" marR="91440" marT="45720" marB="45720">
                    <a:solidFill>
                      <a:srgbClr val="FAFBF9"/>
                    </a:solidFill>
                  </a:tcPr>
                </a:tc>
              </a:tr>
              <a:tr h="482600">
                <a:tc>
                  <a:txBody>
                    <a:bodyPr/>
                    <a:lstStyle/>
                    <a:p>
                      <a:r>
                        <a:rPr sz="1275" b="0">
                          <a:solidFill>
                            <a:srgbClr val="222A2D"/>
                          </a:solidFill>
                          <a:latin typeface="NanumGothic"/>
                          <a:ea typeface="NanumGothic"/>
                          <a:cs typeface="NanumGothic"/>
                        </a:rPr>
                        <a:t>기존 구간 회귀</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guard RMSE ≤ 초기 검증 RMSE × 1.10</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기존 모델 유지</a:t>
                      </a:r>
                    </a:p>
                  </a:txBody>
                  <a:tcPr marL="91440" marR="91440" marT="45720" marB="45720">
                    <a:solidFill>
                      <a:srgbClr val="F2F6F3"/>
                    </a:solidFill>
                  </a:tcPr>
                </a:tc>
              </a:tr>
              <a:tr h="482600">
                <a:tc>
                  <a:txBody>
                    <a:bodyPr/>
                    <a:lstStyle/>
                    <a:p>
                      <a:r>
                        <a:rPr sz="1275" b="0">
                          <a:solidFill>
                            <a:srgbClr val="222A2D"/>
                          </a:solidFill>
                          <a:latin typeface="NanumGothic"/>
                          <a:ea typeface="NanumGothic"/>
                          <a:cs typeface="NanumGothic"/>
                        </a:rPr>
                        <a:t>서빙 전환</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모델 로드와 smoke 예측 성공</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alias·캐시의 기존 모델 유지</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702535230"/>
      </p:ext>
    </p:extLst>
  </p:cSld>
</p:sld>
</file>

<file path=ppt/slides/slide1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8B7B8D-A1E8-404C-AF61-F7DADD15B19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 · 서울은 초기 검증, 전국은 동결 holdout 기준</a:t>
            </a:r>
          </a:p>
        </p:txBody>
      </p:sp>
      <p:sp>
        <p:nvSpPr>
          <p:cNvPr id="2" name="">
            <a:extLst xmlns:a="http://schemas.openxmlformats.org/drawingml/2006/main">
              <a:ext uri="{FF2B5EF4-FFF2-40B4-BE49-F238E27FC236}">
                <a16:creationId xmlns:a16="http://schemas.microsoft.com/office/drawing/2014/main" id="{56F0146F-BC2B-4981-9ED1-CF71F3AECF8B}"/>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모니터링 지표·임계값과 설계 근거</a:t>
            </a:r>
          </a:p>
        </p:txBody>
      </p:sp>
      <p:sp>
        <p:nvSpPr>
          <p:cNvPr id="3" name="">
            <a:extLst xmlns:a="http://schemas.openxmlformats.org/drawingml/2006/main">
              <a:ext uri="{FF2B5EF4-FFF2-40B4-BE49-F238E27FC236}">
                <a16:creationId xmlns:a16="http://schemas.microsoft.com/office/drawing/2014/main" id="{25807AB4-A819-4A5A-8BE9-B625553D1BFF}"/>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CAEA017-13A8-4A51-A9FE-41525D09D557}"/>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11</a:t>
            </a:r>
          </a:p>
        </p:txBody>
      </p:sp>
      <p:graphicFrame>
        <p:nvGraphicFramePr>
          <p:cNvPr id="5" name="">
            <a:extLst xmlns:a="http://schemas.openxmlformats.org/drawingml/2006/main">
              <a:ext uri="{FF2B5EF4-FFF2-40B4-BE49-F238E27FC236}">
                <a16:creationId xmlns:a16="http://schemas.microsoft.com/office/drawing/2014/main" id="{BC25334F-109D-4657-AA62-857582E08FCE}"/>
              </a:ext>
            </a:extLst>
          </p:cNvPr>
          <p:cNvGraphicFramePr/>
          <p:nvPr/>
        </p:nvGraphicFramePr>
        <p:xfrm>
          <a:off xmlns:a="http://schemas.openxmlformats.org/drawingml/2006/main" x="571500" y="1495425"/>
          <a:ext xmlns:a="http://schemas.openxmlformats.org/drawingml/2006/main" cx="8001000" cy="2914650"/>
        </p:xfrm>
        <a:graphic xmlns:a="http://schemas.openxmlformats.org/drawingml/2006/main">
          <a:graphicData uri="http://schemas.openxmlformats.org/drawingml/2006/table">
            <a:tbl>
              <a:tblPr/>
              <a:tblGrid>
                <a:gridCol w="1476375"/>
                <a:gridCol w="3333750"/>
                <a:gridCol w="3190875"/>
              </a:tblGrid>
              <a:tr h="485775">
                <a:tc>
                  <a:txBody>
                    <a:bodyPr/>
                    <a:lstStyle/>
                    <a:p>
                      <a:r>
                        <a:rPr sz="1275" b="1">
                          <a:solidFill>
                            <a:srgbClr val="007D68"/>
                          </a:solidFill>
                          <a:latin typeface="NanumGothic"/>
                          <a:ea typeface="NanumGothic"/>
                          <a:cs typeface="NanumGothic"/>
                        </a:rPr>
                        <a:t>지표</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임계·표본</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이유와 대응</a:t>
                      </a:r>
                    </a:p>
                  </a:txBody>
                  <a:tcPr marL="91440" marR="91440" marT="45720" marB="45720">
                    <a:solidFill>
                      <a:srgbClr val="E7EFEB"/>
                    </a:solidFill>
                  </a:tcPr>
                </a:tc>
              </a:tr>
              <a:tr h="485775">
                <a:tc>
                  <a:txBody>
                    <a:bodyPr/>
                    <a:lstStyle/>
                    <a:p>
                      <a:r>
                        <a:rPr sz="1275" b="0">
                          <a:solidFill>
                            <a:srgbClr val="222A2D"/>
                          </a:solidFill>
                          <a:latin typeface="NanumGothic"/>
                          <a:ea typeface="NanumGothic"/>
                          <a:cs typeface="NanumGothic"/>
                        </a:rPr>
                        <a:t>준비 상태</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입력·모델 부족이면 ready 503</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프로세스 생존과 실제 예측 준비 구분</a:t>
                      </a:r>
                    </a:p>
                  </a:txBody>
                  <a:tcPr marL="91440" marR="91440" marT="45720" marB="45720">
                    <a:solidFill>
                      <a:srgbClr val="FAFBF9"/>
                    </a:solidFill>
                  </a:tcPr>
                </a:tc>
              </a:tr>
              <a:tr h="485775">
                <a:tc>
                  <a:txBody>
                    <a:bodyPr/>
                    <a:lstStyle/>
                    <a:p>
                      <a:r>
                        <a:rPr sz="1275" b="0">
                          <a:solidFill>
                            <a:srgbClr val="222A2D"/>
                          </a:solidFill>
                          <a:latin typeface="NanumGothic"/>
                          <a:ea typeface="NanumGothic"/>
                          <a:cs typeface="NanumGothic"/>
                        </a:rPr>
                        <a:t>응답·오류</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300초 ≥20요청, p95&gt;1초 또는 5xx≥1%</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60초 점검 후 서비스 이벤트 기록</a:t>
                      </a:r>
                    </a:p>
                  </a:txBody>
                  <a:tcPr marL="91440" marR="91440" marT="45720" marB="45720">
                    <a:solidFill>
                      <a:srgbClr val="F2F6F3"/>
                    </a:solidFill>
                  </a:tcPr>
                </a:tc>
              </a:tr>
              <a:tr h="485775">
                <a:tc>
                  <a:txBody>
                    <a:bodyPr/>
                    <a:lstStyle/>
                    <a:p>
                      <a:r>
                        <a:rPr sz="1275" b="0">
                          <a:solidFill>
                            <a:srgbClr val="222A2D"/>
                          </a:solidFill>
                          <a:latin typeface="NanumGothic"/>
                          <a:ea typeface="NanumGothic"/>
                          <a:cs typeface="NanumGothic"/>
                        </a:rPr>
                        <a:t>예측 오차</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21일 RMSE &gt; 검증 rolling RMSE P95×1.5</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정상 오차 상단 대비 품질 저하 감시</a:t>
                      </a:r>
                    </a:p>
                  </a:txBody>
                  <a:tcPr marL="91440" marR="91440" marT="45720" marB="45720">
                    <a:solidFill>
                      <a:srgbClr val="FAFBF9"/>
                    </a:solidFill>
                  </a:tcPr>
                </a:tc>
              </a:tr>
              <a:tr h="485775">
                <a:tc>
                  <a:txBody>
                    <a:bodyPr/>
                    <a:lstStyle/>
                    <a:p>
                      <a:r>
                        <a:rPr sz="1275" b="0">
                          <a:solidFill>
                            <a:srgbClr val="222A2D"/>
                          </a:solidFill>
                          <a:latin typeface="NanumGothic"/>
                          <a:ea typeface="NanumGothic"/>
                          <a:cs typeface="NanumGothic"/>
                        </a:rPr>
                        <a:t>재학습 조건</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연속 2회 초과, cooldown 21일</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단발 초과와 중복 후보 생성을 억제</a:t>
                      </a:r>
                    </a:p>
                  </a:txBody>
                  <a:tcPr marL="91440" marR="91440" marT="45720" marB="45720">
                    <a:solidFill>
                      <a:srgbClr val="F2F6F3"/>
                    </a:solidFill>
                  </a:tcPr>
                </a:tc>
              </a:tr>
              <a:tr h="485775">
                <a:tc>
                  <a:txBody>
                    <a:bodyPr/>
                    <a:lstStyle/>
                    <a:p>
                      <a:r>
                        <a:rPr sz="1275" b="0">
                          <a:solidFill>
                            <a:srgbClr val="222A2D"/>
                          </a:solidFill>
                          <a:latin typeface="NanumGothic"/>
                          <a:ea typeface="NanumGothic"/>
                          <a:cs typeface="NanumGothic"/>
                        </a:rPr>
                        <a:t>후속 평가</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새 정답 30일, 개선 5%, guard 110%</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같은 정답 비교와 성능 회귀 방지</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456406442"/>
      </p:ext>
    </p:extLst>
  </p:cSld>
</p:sld>
</file>

<file path=ppt/slides/slide1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DBFDEC3-0C8A-42DB-B0E1-41169993269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a:t>
            </a:r>
          </a:p>
        </p:txBody>
      </p:sp>
      <p:sp>
        <p:nvSpPr>
          <p:cNvPr id="2" name="">
            <a:extLst xmlns:a="http://schemas.openxmlformats.org/drawingml/2006/main">
              <a:ext uri="{FF2B5EF4-FFF2-40B4-BE49-F238E27FC236}">
                <a16:creationId xmlns:a16="http://schemas.microsoft.com/office/drawing/2014/main" id="{C19D01A5-1718-456C-AE4F-8E7D5076E031}"/>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드리프트 대응 순서</a:t>
            </a:r>
          </a:p>
        </p:txBody>
      </p:sp>
      <p:sp>
        <p:nvSpPr>
          <p:cNvPr id="3" name="">
            <a:extLst xmlns:a="http://schemas.openxmlformats.org/drawingml/2006/main">
              <a:ext uri="{FF2B5EF4-FFF2-40B4-BE49-F238E27FC236}">
                <a16:creationId xmlns:a16="http://schemas.microsoft.com/office/drawing/2014/main" id="{49D07B89-61E7-469F-BAFE-BA35EFBA5F36}"/>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306A6AC-B04F-4BA3-8D76-07B8B2FDFE0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12</a:t>
            </a:r>
          </a:p>
        </p:txBody>
      </p:sp>
      <p:sp>
        <p:nvSpPr>
          <p:cNvPr id="5" name="">
            <a:extLst xmlns:a="http://schemas.openxmlformats.org/drawingml/2006/main">
              <a:ext uri="{FF2B5EF4-FFF2-40B4-BE49-F238E27FC236}">
                <a16:creationId xmlns:a16="http://schemas.microsoft.com/office/drawing/2014/main" id="{23A20DED-BBC6-4AD5-9F9D-3F9EF0B2F77A}"/>
              </a:ext>
            </a:extLst>
          </p:cNvPr>
          <p:cNvSpPr>
            <a:spLocks xmlns:a="http://schemas.openxmlformats.org/drawingml/2006/main" noGrp="1"/>
          </p:cNvSpPr>
          <p:nvPr/>
        </p:nvSpPr>
        <p:spPr>
          <a:xfrm xmlns:a="http://schemas.openxmlformats.org/drawingml/2006/main">
            <a:off x="57150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오차 감시</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정답 21일</a:t>
            </a:r>
          </a:p>
        </p:txBody>
      </p:sp>
      <p:sp>
        <p:nvSpPr>
          <p:cNvPr id="6" name="">
            <a:extLst xmlns:a="http://schemas.openxmlformats.org/drawingml/2006/main">
              <a:ext uri="{FF2B5EF4-FFF2-40B4-BE49-F238E27FC236}">
                <a16:creationId xmlns:a16="http://schemas.microsoft.com/office/drawing/2014/main" id="{62AFE6D5-E664-4B39-9810-6DFFF3F9D07B}"/>
              </a:ext>
            </a:extLst>
          </p:cNvPr>
          <p:cNvSpPr>
            <a:spLocks xmlns:a="http://schemas.openxmlformats.org/drawingml/2006/main" noGrp="1"/>
          </p:cNvSpPr>
          <p:nvPr/>
        </p:nvSpPr>
        <p:spPr>
          <a:xfrm xmlns:a="http://schemas.openxmlformats.org/drawingml/2006/main">
            <a:off x="1933575"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품질 알림</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연속 2회 초과</a:t>
            </a:r>
          </a:p>
        </p:txBody>
      </p:sp>
      <p:cxnSp>
        <p:nvCxnSpPr>
          <p:cNvPr id="7" name="">
            <a:extLst xmlns:a="http://schemas.openxmlformats.org/drawingml/2006/main">
              <a:ext uri="{FF2B5EF4-FFF2-40B4-BE49-F238E27FC236}">
                <a16:creationId xmlns:a16="http://schemas.microsoft.com/office/drawing/2014/main" id="{FC8761D0-7633-49BD-B201-3FBBC4FE7B1A}"/>
              </a:ext>
            </a:extLst>
          </p:cNvPr>
          <p:cNvCxnSpPr>
            <a:stCxn xmlns:a="http://schemas.openxmlformats.org/drawingml/2006/main" id="5" idx="3"/>
            <a:endCxn xmlns:a="http://schemas.openxmlformats.org/drawingml/2006/main" id="6" idx="1"/>
          </p:cNvCxnSpPr>
          <p:nvPr/>
        </p:nvCxnSpPr>
        <p:spPr>
          <a:xfrm xmlns:a="http://schemas.openxmlformats.org/drawingml/2006/main">
            <a:off x="17621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15DBC207-D56C-4772-83DB-74FE08CD00B4}"/>
              </a:ext>
            </a:extLst>
          </p:cNvPr>
          <p:cNvSpPr>
            <a:spLocks xmlns:a="http://schemas.openxmlformats.org/drawingml/2006/main" noGrp="1"/>
          </p:cNvSpPr>
          <p:nvPr/>
        </p:nvSpPr>
        <p:spPr>
          <a:xfrm xmlns:a="http://schemas.openxmlformats.org/drawingml/2006/main">
            <a:off x="329565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후보 재학습</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최근 41일</a:t>
            </a:r>
          </a:p>
        </p:txBody>
      </p:sp>
      <p:cxnSp>
        <p:nvCxnSpPr>
          <p:cNvPr id="9" name="">
            <a:extLst xmlns:a="http://schemas.openxmlformats.org/drawingml/2006/main">
              <a:ext uri="{FF2B5EF4-FFF2-40B4-BE49-F238E27FC236}">
                <a16:creationId xmlns:a16="http://schemas.microsoft.com/office/drawing/2014/main" id="{2CAA8496-0E0C-4614-84D2-8C6CF5879566}"/>
              </a:ext>
            </a:extLst>
          </p:cNvPr>
          <p:cNvCxnSpPr>
            <a:stCxn xmlns:a="http://schemas.openxmlformats.org/drawingml/2006/main" id="6" idx="3"/>
            <a:endCxn xmlns:a="http://schemas.openxmlformats.org/drawingml/2006/main" id="8" idx="1"/>
          </p:cNvCxnSpPr>
          <p:nvPr/>
        </p:nvCxnSpPr>
        <p:spPr>
          <a:xfrm xmlns:a="http://schemas.openxmlformats.org/drawingml/2006/main">
            <a:off x="312420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36773837-F8CF-47E8-AA5E-998466421A16}"/>
              </a:ext>
            </a:extLst>
          </p:cNvPr>
          <p:cNvSpPr>
            <a:spLocks xmlns:a="http://schemas.openxmlformats.org/drawingml/2006/main" noGrp="1"/>
          </p:cNvSpPr>
          <p:nvPr/>
        </p:nvSpPr>
        <p:spPr>
          <a:xfrm xmlns:a="http://schemas.openxmlformats.org/drawingml/2006/main">
            <a:off x="4657725"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후속 평가</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새 정답 30일</a:t>
            </a:r>
          </a:p>
        </p:txBody>
      </p:sp>
      <p:cxnSp>
        <p:nvCxnSpPr>
          <p:cNvPr id="11" name="">
            <a:extLst xmlns:a="http://schemas.openxmlformats.org/drawingml/2006/main">
              <a:ext uri="{FF2B5EF4-FFF2-40B4-BE49-F238E27FC236}">
                <a16:creationId xmlns:a16="http://schemas.microsoft.com/office/drawing/2014/main" id="{DA2014A9-0E94-45A9-86E4-C640F5F62ABE}"/>
              </a:ext>
            </a:extLst>
          </p:cNvPr>
          <p:cNvCxnSpPr>
            <a:stCxn xmlns:a="http://schemas.openxmlformats.org/drawingml/2006/main" id="8" idx="3"/>
            <a:endCxn xmlns:a="http://schemas.openxmlformats.org/drawingml/2006/main" id="10" idx="1"/>
          </p:cNvCxnSpPr>
          <p:nvPr/>
        </p:nvCxnSpPr>
        <p:spPr>
          <a:xfrm xmlns:a="http://schemas.openxmlformats.org/drawingml/2006/main">
            <a:off x="448627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A04C722E-B0B8-4C69-AF78-F0E20E16573C}"/>
              </a:ext>
            </a:extLst>
          </p:cNvPr>
          <p:cNvSpPr>
            <a:spLocks xmlns:a="http://schemas.openxmlformats.org/drawingml/2006/main" noGrp="1"/>
          </p:cNvSpPr>
          <p:nvPr/>
        </p:nvSpPr>
        <p:spPr>
          <a:xfrm xmlns:a="http://schemas.openxmlformats.org/drawingml/2006/main">
            <a:off x="6019800"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게이트 검증</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5% 개선·guard</a:t>
            </a:r>
          </a:p>
        </p:txBody>
      </p:sp>
      <p:cxnSp>
        <p:nvCxnSpPr>
          <p:cNvPr id="13" name="">
            <a:extLst xmlns:a="http://schemas.openxmlformats.org/drawingml/2006/main">
              <a:ext uri="{FF2B5EF4-FFF2-40B4-BE49-F238E27FC236}">
                <a16:creationId xmlns:a16="http://schemas.microsoft.com/office/drawing/2014/main" id="{971130B4-A4C0-40D5-9BEC-33E7C1A2DD19}"/>
              </a:ext>
            </a:extLst>
          </p:cNvPr>
          <p:cNvCxnSpPr>
            <a:stCxn xmlns:a="http://schemas.openxmlformats.org/drawingml/2006/main" id="10" idx="3"/>
            <a:endCxn xmlns:a="http://schemas.openxmlformats.org/drawingml/2006/main" id="12" idx="1"/>
          </p:cNvCxnSpPr>
          <p:nvPr/>
        </p:nvCxnSpPr>
        <p:spPr>
          <a:xfrm xmlns:a="http://schemas.openxmlformats.org/drawingml/2006/main">
            <a:off x="584835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96211B56-8395-4C47-9373-25FC03F77F76}"/>
              </a:ext>
            </a:extLst>
          </p:cNvPr>
          <p:cNvSpPr>
            <a:spLocks xmlns:a="http://schemas.openxmlformats.org/drawingml/2006/main" noGrp="1"/>
          </p:cNvSpPr>
          <p:nvPr/>
        </p:nvSpPr>
        <p:spPr>
          <a:xfrm xmlns:a="http://schemas.openxmlformats.org/drawingml/2006/main">
            <a:off x="7381875"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모델 교체</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실패 시 유지</a:t>
            </a:r>
          </a:p>
        </p:txBody>
      </p:sp>
      <p:cxnSp>
        <p:nvCxnSpPr>
          <p:cNvPr id="15" name="">
            <a:extLst xmlns:a="http://schemas.openxmlformats.org/drawingml/2006/main">
              <a:ext uri="{FF2B5EF4-FFF2-40B4-BE49-F238E27FC236}">
                <a16:creationId xmlns:a16="http://schemas.microsoft.com/office/drawing/2014/main" id="{AF7B55AC-0D74-4466-8119-D533EB6479E8}"/>
              </a:ext>
            </a:extLst>
          </p:cNvPr>
          <p:cNvCxnSpPr>
            <a:stCxn xmlns:a="http://schemas.openxmlformats.org/drawingml/2006/main" id="12" idx="3"/>
            <a:endCxn xmlns:a="http://schemas.openxmlformats.org/drawingml/2006/main" id="14" idx="1"/>
          </p:cNvCxnSpPr>
          <p:nvPr/>
        </p:nvCxnSpPr>
        <p:spPr>
          <a:xfrm xmlns:a="http://schemas.openxmlformats.org/drawingml/2006/main">
            <a:off x="72104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57367CB6-0B78-4BC1-8BE0-9D00964AF919}"/>
              </a:ext>
            </a:extLst>
          </p:cNvPr>
          <p:cNvSpPr>
            <a:spLocks xmlns:a="http://schemas.openxmlformats.org/drawingml/2006/main" noGrp="1"/>
          </p:cNvSpPr>
          <p:nvPr/>
        </p:nvSpPr>
        <p:spPr>
          <a:xfrm xmlns:a="http://schemas.openxmlformats.org/drawingml/2006/main">
            <a:off x="571500" y="38195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정답 확보와 성능 검증을 거친 후보만 교체합니다</a:t>
            </a:r>
          </a:p>
        </p:txBody>
      </p:sp>
    </p:spTree>
    <p:extLst>
      <p:ext uri="{BB962C8B-B14F-4D97-AF65-F5344CB8AC3E}">
        <p14:creationId xmlns:p14="http://schemas.microsoft.com/office/powerpoint/2010/main" val="609623087"/>
      </p:ext>
    </p:extLst>
  </p:cSld>
</p:sld>
</file>

<file path=ppt/slides/slide1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533EF42-B62D-4C69-A778-5BB2284EF26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③ 운영 설계</a:t>
            </a:r>
          </a:p>
        </p:txBody>
      </p:sp>
      <p:sp>
        <p:nvSpPr>
          <p:cNvPr id="2" name="">
            <a:extLst xmlns:a="http://schemas.openxmlformats.org/drawingml/2006/main">
              <a:ext uri="{FF2B5EF4-FFF2-40B4-BE49-F238E27FC236}">
                <a16:creationId xmlns:a16="http://schemas.microsoft.com/office/drawing/2014/main" id="{70BE1A56-E205-4CEA-8739-FD09CBA0EAD8}"/>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실패·대기·복귀도 운영 결과로 남김</a:t>
            </a:r>
          </a:p>
        </p:txBody>
      </p:sp>
      <p:sp>
        <p:nvSpPr>
          <p:cNvPr id="3" name="">
            <a:extLst xmlns:a="http://schemas.openxmlformats.org/drawingml/2006/main">
              <a:ext uri="{FF2B5EF4-FFF2-40B4-BE49-F238E27FC236}">
                <a16:creationId xmlns:a16="http://schemas.microsoft.com/office/drawing/2014/main" id="{AD76461E-DFF0-47C0-8E43-6346411869B7}"/>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3749C1B3-54EC-428E-841E-E0CDDB5E7C4D}"/>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13</a:t>
            </a:r>
          </a:p>
        </p:txBody>
      </p:sp>
      <p:graphicFrame>
        <p:nvGraphicFramePr>
          <p:cNvPr id="5" name="">
            <a:extLst xmlns:a="http://schemas.openxmlformats.org/drawingml/2006/main">
              <a:ext uri="{FF2B5EF4-FFF2-40B4-BE49-F238E27FC236}">
                <a16:creationId xmlns:a16="http://schemas.microsoft.com/office/drawing/2014/main" id="{FFD996FB-5464-4B5F-BA17-C8923B3E4727}"/>
              </a:ext>
            </a:extLst>
          </p:cNvPr>
          <p:cNvGraphicFramePr/>
          <p:nvPr/>
        </p:nvGraphicFramePr>
        <p:xfrm>
          <a:off xmlns:a="http://schemas.openxmlformats.org/drawingml/2006/main" x="571500" y="1533525"/>
          <a:ext xmlns:a="http://schemas.openxmlformats.org/drawingml/2006/main" cx="8001000" cy="2800350"/>
        </p:xfrm>
        <a:graphic xmlns:a="http://schemas.openxmlformats.org/drawingml/2006/main">
          <a:graphicData uri="http://schemas.openxmlformats.org/drawingml/2006/table">
            <a:tbl>
              <a:tblPr/>
              <a:tblGrid>
                <a:gridCol w="2095500"/>
                <a:gridCol w="2952750"/>
                <a:gridCol w="2952750"/>
              </a:tblGrid>
              <a:tr h="466725">
                <a:tc>
                  <a:txBody>
                    <a:bodyPr/>
                    <a:lstStyle/>
                    <a:p>
                      <a:r>
                        <a:rPr sz="1350" b="1">
                          <a:solidFill>
                            <a:srgbClr val="007D68"/>
                          </a:solidFill>
                          <a:latin typeface="NanumGothic"/>
                          <a:ea typeface="NanumGothic"/>
                          <a:cs typeface="NanumGothic"/>
                        </a:rPr>
                        <a:t>상태</a:t>
                      </a:r>
                    </a:p>
                  </a:txBody>
                  <a:tcPr marL="91440" marR="91440" marT="45720" marB="45720">
                    <a:solidFill>
                      <a:srgbClr val="E7EFEB"/>
                    </a:solidFill>
                  </a:tcPr>
                </a:tc>
                <a:tc>
                  <a:txBody>
                    <a:bodyPr/>
                    <a:lstStyle/>
                    <a:p>
                      <a:r>
                        <a:rPr sz="1350" b="1">
                          <a:solidFill>
                            <a:srgbClr val="007D68"/>
                          </a:solidFill>
                          <a:latin typeface="NanumGothic"/>
                          <a:ea typeface="NanumGothic"/>
                          <a:cs typeface="NanumGothic"/>
                        </a:rPr>
                        <a:t>현재 동작</a:t>
                      </a:r>
                    </a:p>
                  </a:txBody>
                  <a:tcPr marL="91440" marR="91440" marT="45720" marB="45720">
                    <a:solidFill>
                      <a:srgbClr val="E7EFEB"/>
                    </a:solidFill>
                  </a:tcPr>
                </a:tc>
                <a:tc>
                  <a:txBody>
                    <a:bodyPr/>
                    <a:lstStyle/>
                    <a:p>
                      <a:r>
                        <a:rPr sz="1350" b="1">
                          <a:solidFill>
                            <a:srgbClr val="007D68"/>
                          </a:solidFill>
                          <a:latin typeface="NanumGothic"/>
                          <a:ea typeface="NanumGothic"/>
                          <a:cs typeface="NanumGothic"/>
                        </a:rPr>
                        <a:t>담당자가 보는 근거</a:t>
                      </a:r>
                    </a:p>
                  </a:txBody>
                  <a:tcPr marL="91440" marR="91440" marT="45720" marB="45720">
                    <a:solidFill>
                      <a:srgbClr val="E7EFEB"/>
                    </a:solidFill>
                  </a:tcPr>
                </a:tc>
              </a:tr>
              <a:tr h="466725">
                <a:tc>
                  <a:txBody>
                    <a:bodyPr/>
                    <a:lstStyle/>
                    <a:p>
                      <a:r>
                        <a:rPr sz="1350" b="0">
                          <a:solidFill>
                            <a:srgbClr val="222A2D"/>
                          </a:solidFill>
                          <a:latin typeface="NanumGothic"/>
                          <a:ea typeface="NanumGothic"/>
                          <a:cs typeface="NanumGothic"/>
                        </a:rPr>
                        <a:t>정답 21일·30일 부족</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평가 대기, 기존 서빙 유지</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단계별 정답 수와 대기 이유</a:t>
                      </a:r>
                    </a:p>
                  </a:txBody>
                  <a:tcPr marL="91440" marR="91440" marT="45720" marB="45720">
                    <a:solidFill>
                      <a:srgbClr val="FAFBF9"/>
                    </a:solidFill>
                  </a:tcPr>
                </a:tc>
              </a:tr>
              <a:tr h="466725">
                <a:tc>
                  <a:txBody>
                    <a:bodyPr/>
                    <a:lstStyle/>
                    <a:p>
                      <a:r>
                        <a:rPr sz="1350" b="0">
                          <a:solidFill>
                            <a:srgbClr val="222A2D"/>
                          </a:solidFill>
                          <a:latin typeface="NanumGothic"/>
                          <a:ea typeface="NanumGothic"/>
                          <a:cs typeface="NanumGothic"/>
                        </a:rPr>
                        <a:t>후보 성능 미달·날짜 공백</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후보 탈락, 기존 모델 유지</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RMSE·gate_passed·평가 기록</a:t>
                      </a:r>
                    </a:p>
                  </a:txBody>
                  <a:tcPr marL="91440" marR="91440" marT="45720" marB="45720">
                    <a:solidFill>
                      <a:srgbClr val="F2F6F3"/>
                    </a:solidFill>
                  </a:tcPr>
                </a:tc>
              </a:tr>
              <a:tr h="466725">
                <a:tc>
                  <a:txBody>
                    <a:bodyPr/>
                    <a:lstStyle/>
                    <a:p>
                      <a:r>
                        <a:rPr sz="1350" b="0">
                          <a:solidFill>
                            <a:srgbClr val="222A2D"/>
                          </a:solidFill>
                          <a:latin typeface="NanumGothic"/>
                          <a:ea typeface="NanumGothic"/>
                          <a:cs typeface="NanumGothic"/>
                        </a:rPr>
                        <a:t>모델 로드 실패</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전환 중단, 기존 alias·캐시 유지</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작업 failed와 오류</a:t>
                      </a:r>
                    </a:p>
                  </a:txBody>
                  <a:tcPr marL="91440" marR="91440" marT="45720" marB="45720">
                    <a:solidFill>
                      <a:srgbClr val="FAFBF9"/>
                    </a:solidFill>
                  </a:tcPr>
                </a:tc>
              </a:tr>
              <a:tr h="466725">
                <a:tc>
                  <a:txBody>
                    <a:bodyPr/>
                    <a:lstStyle/>
                    <a:p>
                      <a:r>
                        <a:rPr sz="1350" b="0">
                          <a:solidFill>
                            <a:srgbClr val="222A2D"/>
                          </a:solidFill>
                          <a:latin typeface="NanumGothic"/>
                          <a:ea typeface="NanumGothic"/>
                          <a:cs typeface="NanumGothic"/>
                        </a:rPr>
                        <a:t>이전 검증 모델 복귀 요청</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승격 이력이 있는 버전으로 복귀</a:t>
                      </a:r>
                    </a:p>
                  </a:txBody>
                  <a:tcPr marL="91440" marR="91440" marT="45720" marB="45720">
                    <a:solidFill>
                      <a:srgbClr val="F2F6F3"/>
                    </a:solidFill>
                  </a:tcPr>
                </a:tc>
                <a:tc>
                  <a:txBody>
                    <a:bodyPr/>
                    <a:lstStyle/>
                    <a:p>
                      <a:r>
                        <a:rPr sz="1350" b="0">
                          <a:solidFill>
                            <a:srgbClr val="222A2D"/>
                          </a:solidFill>
                          <a:latin typeface="NanumGothic"/>
                          <a:ea typeface="NanumGothic"/>
                          <a:cs typeface="NanumGothic"/>
                        </a:rPr>
                        <a:t>reason·버전·작업 결과</a:t>
                      </a:r>
                    </a:p>
                  </a:txBody>
                  <a:tcPr marL="91440" marR="91440" marT="45720" marB="45720">
                    <a:solidFill>
                      <a:srgbClr val="F2F6F3"/>
                    </a:solidFill>
                  </a:tcPr>
                </a:tc>
              </a:tr>
              <a:tr h="466725">
                <a:tc>
                  <a:txBody>
                    <a:bodyPr/>
                    <a:lstStyle/>
                    <a:p>
                      <a:r>
                        <a:rPr sz="1350" b="0">
                          <a:solidFill>
                            <a:srgbClr val="222A2D"/>
                          </a:solidFill>
                          <a:latin typeface="NanumGothic"/>
                          <a:ea typeface="NanumGothic"/>
                          <a:cs typeface="NanumGothic"/>
                        </a:rPr>
                        <a:t>프로세스 재시작</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중단 작업을 interrupted로 기록</a:t>
                      </a:r>
                    </a:p>
                  </a:txBody>
                  <a:tcPr marL="91440" marR="91440" marT="45720" marB="45720">
                    <a:solidFill>
                      <a:srgbClr val="FAFBF9"/>
                    </a:solidFill>
                  </a:tcPr>
                </a:tc>
                <a:tc>
                  <a:txBody>
                    <a:bodyPr/>
                    <a:lstStyle/>
                    <a:p>
                      <a:r>
                        <a:rPr sz="1350" b="0">
                          <a:solidFill>
                            <a:srgbClr val="222A2D"/>
                          </a:solidFill>
                          <a:latin typeface="NanumGothic"/>
                          <a:ea typeface="NanumGothic"/>
                          <a:cs typeface="NanumGothic"/>
                        </a:rPr>
                        <a:t>실패 이력 보존 후 재시도</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822250043"/>
      </p:ext>
    </p:extLst>
  </p:cSld>
</p:sld>
</file>

<file path=ppt/slides/slide1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E6A5307-39FD-49ED-946C-102DB09471FC}"/>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④ 아키텍처 구성도</a:t>
            </a:r>
          </a:p>
        </p:txBody>
      </p:sp>
      <p:sp>
        <p:nvSpPr>
          <p:cNvPr id="2" name="">
            <a:extLst xmlns:a="http://schemas.openxmlformats.org/drawingml/2006/main">
              <a:ext uri="{FF2B5EF4-FFF2-40B4-BE49-F238E27FC236}">
                <a16:creationId xmlns:a16="http://schemas.microsoft.com/office/drawing/2014/main" id="{074DA695-2E84-4E84-AD37-65CF74CE6A17}"/>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기존 호환 파이프라인과 영속 구성</a:t>
            </a:r>
          </a:p>
        </p:txBody>
      </p:sp>
      <p:sp>
        <p:nvSpPr>
          <p:cNvPr id="3" name="">
            <a:extLst xmlns:a="http://schemas.openxmlformats.org/drawingml/2006/main">
              <a:ext uri="{FF2B5EF4-FFF2-40B4-BE49-F238E27FC236}">
                <a16:creationId xmlns:a16="http://schemas.microsoft.com/office/drawing/2014/main" id="{591B1B9D-449C-408A-A0A7-D2883F304FB8}"/>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단일 컨테이너 · 외부 8100 / 내부 8099 · 영속 볼륨</a:t>
            </a:r>
          </a:p>
        </p:txBody>
      </p:sp>
      <p:sp>
        <p:nvSpPr>
          <p:cNvPr id="4" name="">
            <a:extLst xmlns:a="http://schemas.openxmlformats.org/drawingml/2006/main">
              <a:ext uri="{FF2B5EF4-FFF2-40B4-BE49-F238E27FC236}">
                <a16:creationId xmlns:a16="http://schemas.microsoft.com/office/drawing/2014/main" id="{AFAB3DF2-D799-4238-8122-9E072368E18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14</a:t>
            </a:r>
          </a:p>
        </p:txBody>
      </p:sp>
      <p:sp>
        <p:nvSpPr>
          <p:cNvPr id="5" name="">
            <a:extLst xmlns:a="http://schemas.openxmlformats.org/drawingml/2006/main">
              <a:ext uri="{FF2B5EF4-FFF2-40B4-BE49-F238E27FC236}">
                <a16:creationId xmlns:a16="http://schemas.microsoft.com/office/drawing/2014/main" id="{409A94E3-C313-47E3-B18D-6B9440789264}"/>
              </a:ext>
            </a:extLst>
          </p:cNvPr>
          <p:cNvSpPr>
            <a:spLocks xmlns:a="http://schemas.openxmlformats.org/drawingml/2006/main" noGrp="1"/>
          </p:cNvSpPr>
          <p:nvPr/>
        </p:nvSpPr>
        <p:spPr>
          <a:xfrm xmlns:a="http://schemas.openxmlformats.org/drawingml/2006/main">
            <a:off x="1847850" y="1609725"/>
            <a:ext cx="6838950" cy="2667000"/>
          </a:xfrm>
          <a:prstGeom xmlns:a="http://schemas.openxmlformats.org/drawingml/2006/main" prst="rect">
            <a:avLst/>
          </a:prstGeom>
          <a:solidFill xmlns:a="http://schemas.openxmlformats.org/drawingml/2006/main">
            <a:srgbClr val="F0F5F1"/>
          </a:solidFill>
          <a:ln xmlns:a="http://schemas.openxmlformats.org/drawingml/2006/main" w="9525">
            <a:solidFill>
              <a:srgbClr val="007D68"/>
            </a:solidFill>
          </a:ln>
        </p:spPr>
      </p:sp>
      <p:sp>
        <p:nvSpPr>
          <p:cNvPr id="6" name="">
            <a:extLst xmlns:a="http://schemas.openxmlformats.org/drawingml/2006/main">
              <a:ext uri="{FF2B5EF4-FFF2-40B4-BE49-F238E27FC236}">
                <a16:creationId xmlns:a16="http://schemas.microsoft.com/office/drawing/2014/main" id="{93010821-3A96-4513-898B-C0B04F009005}"/>
              </a:ext>
            </a:extLst>
          </p:cNvPr>
          <p:cNvSpPr>
            <a:spLocks xmlns:a="http://schemas.openxmlformats.org/drawingml/2006/main" noGrp="1"/>
          </p:cNvSpPr>
          <p:nvPr/>
        </p:nvSpPr>
        <p:spPr>
          <a:xfrm xmlns:a="http://schemas.openxmlformats.org/drawingml/2006/main">
            <a:off x="2000250" y="1724025"/>
            <a:ext cx="647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1">
                <a:solidFill>
                  <a:srgbClr val="007D68"/>
                </a:solidFill>
                <a:latin typeface="NanumGothic"/>
                <a:ea typeface="NanumGothic"/>
                <a:cs typeface="NanumGothic"/>
              </a:defRPr>
            </a:defPPr>
          </a:lstStyle>
          <a:p xmlns:a="http://schemas.openxmlformats.org/drawingml/2006/main">
            <a:pPr>
              <a:buNone/>
              <a:defRPr sz="1200" b="1">
                <a:solidFill>
                  <a:srgbClr val="007D68"/>
                </a:solidFill>
                <a:latin typeface="NanumGothic"/>
                <a:ea typeface="NanumGothic"/>
                <a:cs typeface="NanumGothic"/>
              </a:defRPr>
            </a:pPr>
            <a:r>
              <a:rPr sz="1200" b="1">
                <a:solidFill>
                  <a:srgbClr val="007D68"/>
                </a:solidFill>
                <a:latin typeface="NanumGothic"/>
                <a:ea typeface="NanumGothic"/>
                <a:cs typeface="NanumGothic"/>
              </a:rPr>
              <a:t>Docker Compose · serving-app</a:t>
            </a:r>
          </a:p>
        </p:txBody>
      </p:sp>
      <p:sp>
        <p:nvSpPr>
          <p:cNvPr id="7" name="">
            <a:extLst xmlns:a="http://schemas.openxmlformats.org/drawingml/2006/main">
              <a:ext uri="{FF2B5EF4-FFF2-40B4-BE49-F238E27FC236}">
                <a16:creationId xmlns:a16="http://schemas.microsoft.com/office/drawing/2014/main" id="{8E819A43-4F08-47AA-9C75-28C0C15F5709}"/>
              </a:ext>
            </a:extLst>
          </p:cNvPr>
          <p:cNvSpPr>
            <a:spLocks xmlns:a="http://schemas.openxmlformats.org/drawingml/2006/main" noGrp="1"/>
          </p:cNvSpPr>
          <p:nvPr/>
        </p:nvSpPr>
        <p:spPr>
          <a:xfrm xmlns:a="http://schemas.openxmlformats.org/drawingml/2006/main">
            <a:off x="571500"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CSV + manifest</a:t>
            </a:r>
          </a:p>
        </p:txBody>
      </p:sp>
      <p:sp>
        <p:nvSpPr>
          <p:cNvPr id="8" name="">
            <a:extLst xmlns:a="http://schemas.openxmlformats.org/drawingml/2006/main">
              <a:ext uri="{FF2B5EF4-FFF2-40B4-BE49-F238E27FC236}">
                <a16:creationId xmlns:a16="http://schemas.microsoft.com/office/drawing/2014/main" id="{3CEF1F41-871D-4D65-BD5A-B5E735387F2B}"/>
              </a:ext>
            </a:extLst>
          </p:cNvPr>
          <p:cNvSpPr>
            <a:spLocks xmlns:a="http://schemas.openxmlformats.org/drawingml/2006/main" noGrp="1"/>
          </p:cNvSpPr>
          <p:nvPr/>
        </p:nvSpPr>
        <p:spPr>
          <a:xfrm xmlns:a="http://schemas.openxmlformats.org/drawingml/2006/main">
            <a:off x="1933575" y="2276475"/>
            <a:ext cx="1190625" cy="8001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FastAPI</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업로드·검증</a:t>
            </a:r>
          </a:p>
        </p:txBody>
      </p:sp>
      <p:cxnSp>
        <p:nvCxnSpPr>
          <p:cNvPr id="9" name="">
            <a:extLst xmlns:a="http://schemas.openxmlformats.org/drawingml/2006/main">
              <a:ext uri="{FF2B5EF4-FFF2-40B4-BE49-F238E27FC236}">
                <a16:creationId xmlns:a16="http://schemas.microsoft.com/office/drawing/2014/main" id="{A656203E-FDBC-4C4C-B4EE-613CAC4C1BFD}"/>
              </a:ext>
            </a:extLst>
          </p:cNvPr>
          <p:cNvCxnSpPr>
            <a:stCxn xmlns:a="http://schemas.openxmlformats.org/drawingml/2006/main" id="7" idx="3"/>
            <a:endCxn xmlns:a="http://schemas.openxmlformats.org/drawingml/2006/main" id="8" idx="1"/>
          </p:cNvCxnSpPr>
          <p:nvPr/>
        </p:nvCxnSpPr>
        <p:spPr>
          <a:xfrm xmlns:a="http://schemas.openxmlformats.org/drawingml/2006/main">
            <a:off x="1762125"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F2B87B18-7DEE-4956-B904-4F130729F05B}"/>
              </a:ext>
            </a:extLst>
          </p:cNvPr>
          <p:cNvSpPr>
            <a:spLocks xmlns:a="http://schemas.openxmlformats.org/drawingml/2006/main" noGrp="1"/>
          </p:cNvSpPr>
          <p:nvPr/>
        </p:nvSpPr>
        <p:spPr>
          <a:xfrm xmlns:a="http://schemas.openxmlformats.org/drawingml/2006/main">
            <a:off x="3295650"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worker</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모델 학습</a:t>
            </a:r>
          </a:p>
        </p:txBody>
      </p:sp>
      <p:cxnSp>
        <p:nvCxnSpPr>
          <p:cNvPr id="11" name="">
            <a:extLst xmlns:a="http://schemas.openxmlformats.org/drawingml/2006/main">
              <a:ext uri="{FF2B5EF4-FFF2-40B4-BE49-F238E27FC236}">
                <a16:creationId xmlns:a16="http://schemas.microsoft.com/office/drawing/2014/main" id="{175C85D6-AC32-4F17-A405-6C667336CD7B}"/>
              </a:ext>
            </a:extLst>
          </p:cNvPr>
          <p:cNvCxnSpPr>
            <a:stCxn xmlns:a="http://schemas.openxmlformats.org/drawingml/2006/main" id="8" idx="3"/>
            <a:endCxn xmlns:a="http://schemas.openxmlformats.org/drawingml/2006/main" id="10" idx="1"/>
          </p:cNvCxnSpPr>
          <p:nvPr/>
        </p:nvCxnSpPr>
        <p:spPr>
          <a:xfrm xmlns:a="http://schemas.openxmlformats.org/drawingml/2006/main">
            <a:off x="3124200"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5C5092CA-6C36-4FF8-A104-BF17AFCB4BA5}"/>
              </a:ext>
            </a:extLst>
          </p:cNvPr>
          <p:cNvSpPr>
            <a:spLocks xmlns:a="http://schemas.openxmlformats.org/drawingml/2006/main" noGrp="1"/>
          </p:cNvSpPr>
          <p:nvPr/>
        </p:nvSpPr>
        <p:spPr>
          <a:xfrm xmlns:a="http://schemas.openxmlformats.org/drawingml/2006/main">
            <a:off x="4657725"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MLflow</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모델 등록</a:t>
            </a:r>
          </a:p>
        </p:txBody>
      </p:sp>
      <p:cxnSp>
        <p:nvCxnSpPr>
          <p:cNvPr id="13" name="">
            <a:extLst xmlns:a="http://schemas.openxmlformats.org/drawingml/2006/main">
              <a:ext uri="{FF2B5EF4-FFF2-40B4-BE49-F238E27FC236}">
                <a16:creationId xmlns:a16="http://schemas.microsoft.com/office/drawing/2014/main" id="{C8A3E785-CA9B-401B-9ACE-981A70B27601}"/>
              </a:ext>
            </a:extLst>
          </p:cNvPr>
          <p:cNvCxnSpPr>
            <a:stCxn xmlns:a="http://schemas.openxmlformats.org/drawingml/2006/main" id="10" idx="3"/>
            <a:endCxn xmlns:a="http://schemas.openxmlformats.org/drawingml/2006/main" id="12" idx="1"/>
          </p:cNvCxnSpPr>
          <p:nvPr/>
        </p:nvCxnSpPr>
        <p:spPr>
          <a:xfrm xmlns:a="http://schemas.openxmlformats.org/drawingml/2006/main">
            <a:off x="4486275"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3698ECCF-6C53-4E45-BB76-023067D08407}"/>
              </a:ext>
            </a:extLst>
          </p:cNvPr>
          <p:cNvSpPr>
            <a:spLocks xmlns:a="http://schemas.openxmlformats.org/drawingml/2006/main" noGrp="1"/>
          </p:cNvSpPr>
          <p:nvPr/>
        </p:nvSpPr>
        <p:spPr>
          <a:xfrm xmlns:a="http://schemas.openxmlformats.org/drawingml/2006/main">
            <a:off x="6019800" y="2276475"/>
            <a:ext cx="1190625" cy="8001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FastAPI</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모델 서빙</a:t>
            </a:r>
          </a:p>
        </p:txBody>
      </p:sp>
      <p:cxnSp>
        <p:nvCxnSpPr>
          <p:cNvPr id="15" name="">
            <a:extLst xmlns:a="http://schemas.openxmlformats.org/drawingml/2006/main">
              <a:ext uri="{FF2B5EF4-FFF2-40B4-BE49-F238E27FC236}">
                <a16:creationId xmlns:a16="http://schemas.microsoft.com/office/drawing/2014/main" id="{1D498473-D471-4B60-BF3F-E68D7C117CF2}"/>
              </a:ext>
            </a:extLst>
          </p:cNvPr>
          <p:cNvCxnSpPr>
            <a:stCxn xmlns:a="http://schemas.openxmlformats.org/drawingml/2006/main" id="12" idx="3"/>
            <a:endCxn xmlns:a="http://schemas.openxmlformats.org/drawingml/2006/main" id="14" idx="1"/>
          </p:cNvCxnSpPr>
          <p:nvPr/>
        </p:nvCxnSpPr>
        <p:spPr>
          <a:xfrm xmlns:a="http://schemas.openxmlformats.org/drawingml/2006/main">
            <a:off x="5848350"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ADC7E328-E317-4CF9-8289-7FD64779CB21}"/>
              </a:ext>
            </a:extLst>
          </p:cNvPr>
          <p:cNvSpPr>
            <a:spLocks xmlns:a="http://schemas.openxmlformats.org/drawingml/2006/main" noGrp="1"/>
          </p:cNvSpPr>
          <p:nvPr/>
        </p:nvSpPr>
        <p:spPr>
          <a:xfrm xmlns:a="http://schemas.openxmlformats.org/drawingml/2006/main">
            <a:off x="7381875" y="2276475"/>
            <a:ext cx="1190625" cy="8001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SQLite</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예측·로그</a:t>
            </a:r>
          </a:p>
        </p:txBody>
      </p:sp>
      <p:cxnSp>
        <p:nvCxnSpPr>
          <p:cNvPr id="17" name="">
            <a:extLst xmlns:a="http://schemas.openxmlformats.org/drawingml/2006/main">
              <a:ext uri="{FF2B5EF4-FFF2-40B4-BE49-F238E27FC236}">
                <a16:creationId xmlns:a16="http://schemas.microsoft.com/office/drawing/2014/main" id="{EFCB50E5-8B3F-4C47-861E-6A9013EFC185}"/>
              </a:ext>
            </a:extLst>
          </p:cNvPr>
          <p:cNvCxnSpPr>
            <a:stCxn xmlns:a="http://schemas.openxmlformats.org/drawingml/2006/main" id="14" idx="3"/>
            <a:endCxn xmlns:a="http://schemas.openxmlformats.org/drawingml/2006/main" id="16" idx="1"/>
          </p:cNvCxnSpPr>
          <p:nvPr/>
        </p:nvCxnSpPr>
        <p:spPr>
          <a:xfrm xmlns:a="http://schemas.openxmlformats.org/drawingml/2006/main">
            <a:off x="7210425" y="2676525"/>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1C1F79BF-3416-4DCC-8780-A84ED6645914}"/>
              </a:ext>
            </a:extLst>
          </p:cNvPr>
          <p:cNvSpPr>
            <a:spLocks xmlns:a="http://schemas.openxmlformats.org/drawingml/2006/main" noGrp="1"/>
          </p:cNvSpPr>
          <p:nvPr/>
        </p:nvSpPr>
        <p:spPr>
          <a:xfrm xmlns:a="http://schemas.openxmlformats.org/drawingml/2006/main">
            <a:off x="571500" y="3476625"/>
            <a:ext cx="1524000" cy="59055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사용자 대시보드</a:t>
            </a:r>
          </a:p>
        </p:txBody>
      </p:sp>
      <p:cxnSp>
        <p:nvCxnSpPr>
          <p:cNvPr id="19" name="">
            <a:extLst xmlns:a="http://schemas.openxmlformats.org/drawingml/2006/main">
              <a:ext uri="{FF2B5EF4-FFF2-40B4-BE49-F238E27FC236}">
                <a16:creationId xmlns:a16="http://schemas.microsoft.com/office/drawing/2014/main" id="{5A22D5F3-DE50-44D6-A78C-38A661FC5AE7}"/>
              </a:ext>
            </a:extLst>
          </p:cNvPr>
          <p:cNvCxnSpPr>
            <a:stCxn xmlns:a="http://schemas.openxmlformats.org/drawingml/2006/main" id="18" idx="3"/>
            <a:endCxn xmlns:a="http://schemas.openxmlformats.org/drawingml/2006/main" id="14" idx="2"/>
          </p:cNvCxnSpPr>
          <p:nvPr/>
        </p:nvCxnSpPr>
        <p:spPr>
          <a:xfrm xmlns:a="http://schemas.openxmlformats.org/drawingml/2006/main" flipV="1">
            <a:off x="2095500" y="3076575"/>
            <a:ext cx="4519613" cy="695325"/>
          </a:xfrm>
          <a:prstGeom xmlns:a="http://schemas.openxmlformats.org/drawingml/2006/main" prst="bentConnector2">
            <a:avLst/>
          </a:prstGeom>
          <a:ln xmlns:a="http://schemas.openxmlformats.org/drawingml/2006/main" w="16193">
            <a:solidFill>
              <a:srgbClr val="007D68"/>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85627CBD-AD5F-4367-A49D-3D8C5EBFAE65}"/>
              </a:ext>
            </a:extLst>
          </p:cNvPr>
          <p:cNvSpPr>
            <a:spLocks xmlns:a="http://schemas.openxmlformats.org/drawingml/2006/main" noGrp="1"/>
          </p:cNvSpPr>
          <p:nvPr/>
        </p:nvSpPr>
        <p:spPr>
          <a:xfrm xmlns:a="http://schemas.openxmlformats.org/drawingml/2006/main">
            <a:off x="3571875" y="37909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86B"/>
                </a:solidFill>
                <a:latin typeface="NanumGothic"/>
                <a:ea typeface="NanumGothic"/>
                <a:cs typeface="NanumGothic"/>
              </a:defRPr>
            </a:defPPr>
          </a:lstStyle>
          <a:p xmlns:a="http://schemas.openxmlformats.org/drawingml/2006/main">
            <a:pPr>
              <a:buNone/>
              <a:defRPr sz="1350" b="0">
                <a:solidFill>
                  <a:srgbClr val="5C686B"/>
                </a:solidFill>
                <a:latin typeface="NanumGothic"/>
                <a:ea typeface="NanumGothic"/>
                <a:cs typeface="NanumGothic"/>
              </a:defRPr>
            </a:pPr>
            <a:r>
              <a:rPr sz="1350" b="0">
                <a:solidFill>
                  <a:srgbClr val="5C686B"/>
                </a:solidFill>
                <a:latin typeface="NanumGothic"/>
                <a:ea typeface="NanumGothic"/>
                <a:cs typeface="NanumGothic"/>
              </a:rPr>
              <a:t>자료 · 모델 · 작업 · 이벤트 보존</a:t>
            </a:r>
          </a:p>
        </p:txBody>
      </p:sp>
    </p:spTree>
    <p:extLst>
      <p:ext uri="{BB962C8B-B14F-4D97-AF65-F5344CB8AC3E}">
        <p14:creationId xmlns:p14="http://schemas.microsoft.com/office/powerpoint/2010/main" val="1388833075"/>
      </p:ext>
    </p:extLst>
  </p:cSld>
</p:sld>
</file>

<file path=ppt/slides/slide1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CCCBFF6-A4A3-4177-9A39-9CDE2D89124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④ 아키텍처 구성도</a:t>
            </a:r>
          </a:p>
        </p:txBody>
      </p:sp>
      <p:sp>
        <p:nvSpPr>
          <p:cNvPr id="2" name="">
            <a:extLst xmlns:a="http://schemas.openxmlformats.org/drawingml/2006/main">
              <a:ext uri="{FF2B5EF4-FFF2-40B4-BE49-F238E27FC236}">
                <a16:creationId xmlns:a16="http://schemas.microsoft.com/office/drawing/2014/main" id="{53E4181B-58DB-4ADF-87C5-F81C0E9A14D5}"/>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예측 기록에서 재학습 트리거까지</a:t>
            </a:r>
          </a:p>
        </p:txBody>
      </p:sp>
      <p:sp>
        <p:nvSpPr>
          <p:cNvPr id="3" name="">
            <a:extLst xmlns:a="http://schemas.openxmlformats.org/drawingml/2006/main">
              <a:ext uri="{FF2B5EF4-FFF2-40B4-BE49-F238E27FC236}">
                <a16:creationId xmlns:a16="http://schemas.microsoft.com/office/drawing/2014/main" id="{A2EBBE91-C414-44FB-A314-4507F9EDAC7C}"/>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4DD81AE-2F60-4C76-955D-BE932508C9D9}"/>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15</a:t>
            </a:r>
          </a:p>
        </p:txBody>
      </p:sp>
      <p:sp>
        <p:nvSpPr>
          <p:cNvPr id="5" name="">
            <a:extLst xmlns:a="http://schemas.openxmlformats.org/drawingml/2006/main">
              <a:ext uri="{FF2B5EF4-FFF2-40B4-BE49-F238E27FC236}">
                <a16:creationId xmlns:a16="http://schemas.microsoft.com/office/drawing/2014/main" id="{E8009118-F919-4797-8952-4B4DE882AD0D}"/>
              </a:ext>
            </a:extLst>
          </p:cNvPr>
          <p:cNvSpPr>
            <a:spLocks xmlns:a="http://schemas.openxmlformats.org/drawingml/2006/main" noGrp="1"/>
          </p:cNvSpPr>
          <p:nvPr/>
        </p:nvSpPr>
        <p:spPr>
          <a:xfrm xmlns:a="http://schemas.openxmlformats.org/drawingml/2006/main">
            <a:off x="57150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예측 기록</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버전·대상일</a:t>
            </a:r>
          </a:p>
        </p:txBody>
      </p:sp>
      <p:sp>
        <p:nvSpPr>
          <p:cNvPr id="6" name="">
            <a:extLst xmlns:a="http://schemas.openxmlformats.org/drawingml/2006/main">
              <a:ext uri="{FF2B5EF4-FFF2-40B4-BE49-F238E27FC236}">
                <a16:creationId xmlns:a16="http://schemas.microsoft.com/office/drawing/2014/main" id="{5738322C-5542-4D2F-970B-25BCAAB3A36E}"/>
              </a:ext>
            </a:extLst>
          </p:cNvPr>
          <p:cNvSpPr>
            <a:spLocks xmlns:a="http://schemas.openxmlformats.org/drawingml/2006/main" noGrp="1"/>
          </p:cNvSpPr>
          <p:nvPr/>
        </p:nvSpPr>
        <p:spPr>
          <a:xfrm xmlns:a="http://schemas.openxmlformats.org/drawingml/2006/main">
            <a:off x="1933575"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정답 도착</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관측값 저장</a:t>
            </a:r>
          </a:p>
        </p:txBody>
      </p:sp>
      <p:cxnSp>
        <p:nvCxnSpPr>
          <p:cNvPr id="7" name="">
            <a:extLst xmlns:a="http://schemas.openxmlformats.org/drawingml/2006/main">
              <a:ext uri="{FF2B5EF4-FFF2-40B4-BE49-F238E27FC236}">
                <a16:creationId xmlns:a16="http://schemas.microsoft.com/office/drawing/2014/main" id="{E98ED1FA-330C-4811-BBBA-42456EDAD8DD}"/>
              </a:ext>
            </a:extLst>
          </p:cNvPr>
          <p:cNvCxnSpPr>
            <a:stCxn xmlns:a="http://schemas.openxmlformats.org/drawingml/2006/main" id="5" idx="3"/>
            <a:endCxn xmlns:a="http://schemas.openxmlformats.org/drawingml/2006/main" id="6" idx="1"/>
          </p:cNvCxnSpPr>
          <p:nvPr/>
        </p:nvCxnSpPr>
        <p:spPr>
          <a:xfrm xmlns:a="http://schemas.openxmlformats.org/drawingml/2006/main">
            <a:off x="17621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8" name="">
            <a:extLst xmlns:a="http://schemas.openxmlformats.org/drawingml/2006/main">
              <a:ext uri="{FF2B5EF4-FFF2-40B4-BE49-F238E27FC236}">
                <a16:creationId xmlns:a16="http://schemas.microsoft.com/office/drawing/2014/main" id="{5A095A3E-B19B-45F6-A5CE-57526712934B}"/>
              </a:ext>
            </a:extLst>
          </p:cNvPr>
          <p:cNvSpPr>
            <a:spLocks xmlns:a="http://schemas.openxmlformats.org/drawingml/2006/main" noGrp="1"/>
          </p:cNvSpPr>
          <p:nvPr/>
        </p:nvSpPr>
        <p:spPr>
          <a:xfrm xmlns:a="http://schemas.openxmlformats.org/drawingml/2006/main">
            <a:off x="329565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오차 계산</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21일 RMSE</a:t>
            </a:r>
          </a:p>
        </p:txBody>
      </p:sp>
      <p:cxnSp>
        <p:nvCxnSpPr>
          <p:cNvPr id="9" name="">
            <a:extLst xmlns:a="http://schemas.openxmlformats.org/drawingml/2006/main">
              <a:ext uri="{FF2B5EF4-FFF2-40B4-BE49-F238E27FC236}">
                <a16:creationId xmlns:a16="http://schemas.microsoft.com/office/drawing/2014/main" id="{0949CFB1-F606-403D-8408-72A76CD96540}"/>
              </a:ext>
            </a:extLst>
          </p:cNvPr>
          <p:cNvCxnSpPr>
            <a:stCxn xmlns:a="http://schemas.openxmlformats.org/drawingml/2006/main" id="6" idx="3"/>
            <a:endCxn xmlns:a="http://schemas.openxmlformats.org/drawingml/2006/main" id="8" idx="1"/>
          </p:cNvCxnSpPr>
          <p:nvPr/>
        </p:nvCxnSpPr>
        <p:spPr>
          <a:xfrm xmlns:a="http://schemas.openxmlformats.org/drawingml/2006/main">
            <a:off x="312420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0" name="">
            <a:extLst xmlns:a="http://schemas.openxmlformats.org/drawingml/2006/main">
              <a:ext uri="{FF2B5EF4-FFF2-40B4-BE49-F238E27FC236}">
                <a16:creationId xmlns:a16="http://schemas.microsoft.com/office/drawing/2014/main" id="{1ED1AC1E-73BB-4B6E-A3C1-D481DCB4F7D2}"/>
              </a:ext>
            </a:extLst>
          </p:cNvPr>
          <p:cNvSpPr>
            <a:spLocks xmlns:a="http://schemas.openxmlformats.org/drawingml/2006/main" noGrp="1"/>
          </p:cNvSpPr>
          <p:nvPr/>
        </p:nvSpPr>
        <p:spPr>
          <a:xfrm xmlns:a="http://schemas.openxmlformats.org/drawingml/2006/main">
            <a:off x="4657725"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드리프트 감지</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반복 초과</a:t>
            </a:r>
          </a:p>
        </p:txBody>
      </p:sp>
      <p:cxnSp>
        <p:nvCxnSpPr>
          <p:cNvPr id="11" name="">
            <a:extLst xmlns:a="http://schemas.openxmlformats.org/drawingml/2006/main">
              <a:ext uri="{FF2B5EF4-FFF2-40B4-BE49-F238E27FC236}">
                <a16:creationId xmlns:a16="http://schemas.microsoft.com/office/drawing/2014/main" id="{8062C93A-4F25-401C-9B27-D2B6BAEEEA56}"/>
              </a:ext>
            </a:extLst>
          </p:cNvPr>
          <p:cNvCxnSpPr>
            <a:stCxn xmlns:a="http://schemas.openxmlformats.org/drawingml/2006/main" id="8" idx="3"/>
            <a:endCxn xmlns:a="http://schemas.openxmlformats.org/drawingml/2006/main" id="10" idx="1"/>
          </p:cNvCxnSpPr>
          <p:nvPr/>
        </p:nvCxnSpPr>
        <p:spPr>
          <a:xfrm xmlns:a="http://schemas.openxmlformats.org/drawingml/2006/main">
            <a:off x="448627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2" name="">
            <a:extLst xmlns:a="http://schemas.openxmlformats.org/drawingml/2006/main">
              <a:ext uri="{FF2B5EF4-FFF2-40B4-BE49-F238E27FC236}">
                <a16:creationId xmlns:a16="http://schemas.microsoft.com/office/drawing/2014/main" id="{F4A9A31E-DDB6-40A1-A369-51BA79B9C78D}"/>
              </a:ext>
            </a:extLst>
          </p:cNvPr>
          <p:cNvSpPr>
            <a:spLocks xmlns:a="http://schemas.openxmlformats.org/drawingml/2006/main" noGrp="1"/>
          </p:cNvSpPr>
          <p:nvPr/>
        </p:nvSpPr>
        <p:spPr>
          <a:xfrm xmlns:a="http://schemas.openxmlformats.org/drawingml/2006/main">
            <a:off x="6019800" y="2095500"/>
            <a:ext cx="1190625" cy="952500"/>
          </a:xfrm>
          <a:prstGeom xmlns:a="http://schemas.openxmlformats.org/drawingml/2006/main" prst="rect">
            <a:avLst/>
          </a:prstGeom>
          <a:solidFill xmlns:a="http://schemas.openxmlformats.org/drawingml/2006/main">
            <a:srgbClr val="FFFFFF"/>
          </a:solidFill>
          <a:ln xmlns:a="http://schemas.openxmlformats.org/drawingml/2006/main" w="11430">
            <a:solidFill>
              <a:srgbClr val="CED8D5"/>
            </a:solidFill>
          </a:ln>
        </p:spPr>
        <p:txBody>
          <a:bodyPr xmlns:a="http://schemas.openxmlformats.org/drawingml/2006/main" anchor="ctr"/>
          <a:lstStyle xmlns:a="http://schemas.openxmlformats.org/drawingml/2006/main">
            <a:defPPr algn="ctr">
              <a:defRPr sz="1350" b="1">
                <a:solidFill>
                  <a:srgbClr val="222A2D"/>
                </a:solidFill>
                <a:latin typeface="NanumGothic"/>
                <a:ea typeface="NanumGothic"/>
                <a:cs typeface="NanumGothic"/>
              </a:defRPr>
            </a:defPPr>
          </a:lstStyle>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운영 알림</a:t>
            </a:r>
          </a:p>
          <a:p xmlns:a="http://schemas.openxmlformats.org/drawingml/2006/main">
            <a:pPr algn="ctr">
              <a:buNone/>
              <a:defRPr sz="1350" b="1">
                <a:solidFill>
                  <a:srgbClr val="222A2D"/>
                </a:solidFill>
                <a:latin typeface="NanumGothic"/>
                <a:ea typeface="NanumGothic"/>
                <a:cs typeface="NanumGothic"/>
              </a:defRPr>
            </a:pPr>
            <a:r>
              <a:rPr sz="1350" b="1">
                <a:solidFill>
                  <a:srgbClr val="222A2D"/>
                </a:solidFill>
                <a:latin typeface="NanumGothic"/>
                <a:ea typeface="NanumGothic"/>
                <a:cs typeface="NanumGothic"/>
              </a:rPr>
              <a:t>이벤트·로그</a:t>
            </a:r>
          </a:p>
        </p:txBody>
      </p:sp>
      <p:cxnSp>
        <p:nvCxnSpPr>
          <p:cNvPr id="13" name="">
            <a:extLst xmlns:a="http://schemas.openxmlformats.org/drawingml/2006/main">
              <a:ext uri="{FF2B5EF4-FFF2-40B4-BE49-F238E27FC236}">
                <a16:creationId xmlns:a16="http://schemas.microsoft.com/office/drawing/2014/main" id="{F34B1565-3B71-463F-8846-90E718E118E1}"/>
              </a:ext>
            </a:extLst>
          </p:cNvPr>
          <p:cNvCxnSpPr>
            <a:stCxn xmlns:a="http://schemas.openxmlformats.org/drawingml/2006/main" id="10" idx="3"/>
            <a:endCxn xmlns:a="http://schemas.openxmlformats.org/drawingml/2006/main" id="12" idx="1"/>
          </p:cNvCxnSpPr>
          <p:nvPr/>
        </p:nvCxnSpPr>
        <p:spPr>
          <a:xfrm xmlns:a="http://schemas.openxmlformats.org/drawingml/2006/main">
            <a:off x="5848350"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4624AC01-B391-4327-B74A-615386CA71B6}"/>
              </a:ext>
            </a:extLst>
          </p:cNvPr>
          <p:cNvSpPr>
            <a:spLocks xmlns:a="http://schemas.openxmlformats.org/drawingml/2006/main" noGrp="1"/>
          </p:cNvSpPr>
          <p:nvPr/>
        </p:nvSpPr>
        <p:spPr>
          <a:xfrm xmlns:a="http://schemas.openxmlformats.org/drawingml/2006/main">
            <a:off x="7381875" y="2095500"/>
            <a:ext cx="1190625" cy="952500"/>
          </a:xfrm>
          <a:prstGeom xmlns:a="http://schemas.openxmlformats.org/drawingml/2006/main" prst="rect">
            <a:avLst/>
          </a:prstGeom>
          <a:solidFill xmlns:a="http://schemas.openxmlformats.org/drawingml/2006/main">
            <a:srgbClr val="E5F0EB"/>
          </a:solidFill>
          <a:ln xmlns:a="http://schemas.openxmlformats.org/drawingml/2006/main" w="11430">
            <a:solidFill>
              <a:srgbClr val="007D68"/>
            </a:solidFill>
          </a:ln>
        </p:spPr>
        <p:txBody>
          <a:bodyPr xmlns:a="http://schemas.openxmlformats.org/drawingml/2006/main" anchor="ctr"/>
          <a:lstStyle xmlns:a="http://schemas.openxmlformats.org/drawingml/2006/main">
            <a:defPPr algn="ctr">
              <a:defRPr sz="1350" b="1">
                <a:solidFill>
                  <a:srgbClr val="007D68"/>
                </a:solidFill>
                <a:latin typeface="NanumGothic"/>
                <a:ea typeface="NanumGothic"/>
                <a:cs typeface="NanumGothic"/>
              </a:defRPr>
            </a:defPPr>
          </a:lstStyle>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재학습 트리거</a:t>
            </a:r>
          </a:p>
          <a:p xmlns:a="http://schemas.openxmlformats.org/drawingml/2006/main">
            <a:pPr algn="ctr">
              <a:buNone/>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작업 큐 등록</a:t>
            </a:r>
          </a:p>
        </p:txBody>
      </p:sp>
      <p:cxnSp>
        <p:nvCxnSpPr>
          <p:cNvPr id="15" name="">
            <a:extLst xmlns:a="http://schemas.openxmlformats.org/drawingml/2006/main">
              <a:ext uri="{FF2B5EF4-FFF2-40B4-BE49-F238E27FC236}">
                <a16:creationId xmlns:a16="http://schemas.microsoft.com/office/drawing/2014/main" id="{F2A8BE14-9428-4CF3-9610-7AF1F28EFF82}"/>
              </a:ext>
            </a:extLst>
          </p:cNvPr>
          <p:cNvCxnSpPr>
            <a:stCxn xmlns:a="http://schemas.openxmlformats.org/drawingml/2006/main" id="12" idx="3"/>
            <a:endCxn xmlns:a="http://schemas.openxmlformats.org/drawingml/2006/main" id="14" idx="1"/>
          </p:cNvCxnSpPr>
          <p:nvPr/>
        </p:nvCxnSpPr>
        <p:spPr>
          <a:xfrm xmlns:a="http://schemas.openxmlformats.org/drawingml/2006/main">
            <a:off x="7210425" y="2571750"/>
            <a:ext cx="171450" cy="0"/>
          </a:xfrm>
          <a:prstGeom xmlns:a="http://schemas.openxmlformats.org/drawingml/2006/main" prst="straightConnector1">
            <a:avLst/>
          </a:prstGeom>
          <a:ln xmlns:a="http://schemas.openxmlformats.org/drawingml/2006/main" w="16193">
            <a:solidFill>
              <a:srgbClr val="007D68"/>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A6BA7EE5-9743-4B1B-877B-F685CE4CEBA7}"/>
              </a:ext>
            </a:extLst>
          </p:cNvPr>
          <p:cNvSpPr>
            <a:spLocks xmlns:a="http://schemas.openxmlformats.org/drawingml/2006/main" noGrp="1"/>
          </p:cNvSpPr>
          <p:nvPr/>
        </p:nvSpPr>
        <p:spPr>
          <a:xfrm xmlns:a="http://schemas.openxmlformats.org/drawingml/2006/main">
            <a:off x="571500" y="3819525"/>
            <a:ext cx="8001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관측소 · 자료 · 날짜 · 모델 버전으로 연결</a:t>
            </a:r>
          </a:p>
        </p:txBody>
      </p:sp>
    </p:spTree>
    <p:extLst>
      <p:ext uri="{BB962C8B-B14F-4D97-AF65-F5344CB8AC3E}">
        <p14:creationId xmlns:p14="http://schemas.microsoft.com/office/powerpoint/2010/main" val="1506851022"/>
      </p:ext>
    </p:extLst>
  </p:cSld>
</p:sld>
</file>

<file path=ppt/slides/slide1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2EB656-2D8C-45D6-8750-08B673943DEF}"/>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⑤ API 명세</a:t>
            </a:r>
          </a:p>
        </p:txBody>
      </p:sp>
      <p:sp>
        <p:nvSpPr>
          <p:cNvPr id="2" name="">
            <a:extLst xmlns:a="http://schemas.openxmlformats.org/drawingml/2006/main">
              <a:ext uri="{FF2B5EF4-FFF2-40B4-BE49-F238E27FC236}">
                <a16:creationId xmlns:a16="http://schemas.microsoft.com/office/drawing/2014/main" id="{A284E773-9383-4857-9C03-C686BBC1B021}"/>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기존 호환·시연 API</a:t>
            </a:r>
          </a:p>
        </p:txBody>
      </p:sp>
      <p:sp>
        <p:nvSpPr>
          <p:cNvPr id="3" name="">
            <a:extLst xmlns:a="http://schemas.openxmlformats.org/drawingml/2006/main">
              <a:ext uri="{FF2B5EF4-FFF2-40B4-BE49-F238E27FC236}">
                <a16:creationId xmlns:a16="http://schemas.microsoft.com/office/drawing/2014/main" id="{84C23624-FFC9-4FD4-BE01-EE1A068DE28A}"/>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health 외 /api/v1 접두사 · 202 접수 후 작업 상태 조회</a:t>
            </a:r>
          </a:p>
        </p:txBody>
      </p:sp>
      <p:sp>
        <p:nvSpPr>
          <p:cNvPr id="4" name="">
            <a:extLst xmlns:a="http://schemas.openxmlformats.org/drawingml/2006/main">
              <a:ext uri="{FF2B5EF4-FFF2-40B4-BE49-F238E27FC236}">
                <a16:creationId xmlns:a16="http://schemas.microsoft.com/office/drawing/2014/main" id="{0067E273-ECE3-4703-8FC1-AEF522559E7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16</a:t>
            </a:r>
          </a:p>
        </p:txBody>
      </p:sp>
      <p:graphicFrame>
        <p:nvGraphicFramePr>
          <p:cNvPr id="5" name="">
            <a:extLst xmlns:a="http://schemas.openxmlformats.org/drawingml/2006/main">
              <a:ext uri="{FF2B5EF4-FFF2-40B4-BE49-F238E27FC236}">
                <a16:creationId xmlns:a16="http://schemas.microsoft.com/office/drawing/2014/main" id="{A7B3774E-ED40-4050-B3D1-FFA83E539C5C}"/>
              </a:ext>
            </a:extLst>
          </p:cNvPr>
          <p:cNvGraphicFramePr/>
          <p:nvPr/>
        </p:nvGraphicFramePr>
        <p:xfrm>
          <a:off xmlns:a="http://schemas.openxmlformats.org/drawingml/2006/main" x="571500" y="1476375"/>
          <a:ext xmlns:a="http://schemas.openxmlformats.org/drawingml/2006/main" cx="8001000" cy="3000375"/>
        </p:xfrm>
        <a:graphic xmlns:a="http://schemas.openxmlformats.org/drawingml/2006/main">
          <a:graphicData uri="http://schemas.openxmlformats.org/drawingml/2006/table">
            <a:tbl>
              <a:tblPr/>
              <a:tblGrid>
                <a:gridCol w="809625"/>
                <a:gridCol w="3048000"/>
                <a:gridCol w="4143375"/>
              </a:tblGrid>
              <a:tr h="375047">
                <a:tc>
                  <a:txBody>
                    <a:bodyPr/>
                    <a:lstStyle/>
                    <a:p>
                      <a:r>
                        <a:rPr sz="1200" b="1">
                          <a:solidFill>
                            <a:srgbClr val="007D68"/>
                          </a:solidFill>
                          <a:latin typeface="NanumGothic"/>
                          <a:ea typeface="NanumGothic"/>
                          <a:cs typeface="NanumGothic"/>
                        </a:rPr>
                        <a:t>Method</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URL</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Request → Response / 오류</a:t>
                      </a:r>
                    </a:p>
                  </a:txBody>
                  <a:tcPr marL="91440" marR="91440" marT="45720" marB="45720">
                    <a:solidFill>
                      <a:srgbClr val="E7EFEB"/>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/districts/{code}/predict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sequence 20개 → prediction·model_version / 422·503</a:t>
                      </a:r>
                    </a:p>
                  </a:txBody>
                  <a:tcPr marL="91440" marR="91440" marT="45720" marB="45720">
                    <a:solidFill>
                      <a:srgbClr val="FAFBF9"/>
                    </a:solidFill>
                  </a:tcPr>
                </a:tc>
              </a:tr>
              <a:tr h="375047">
                <a:tc>
                  <a:txBody>
                    <a:bodyPr/>
                    <a:lstStyle/>
                    <a:p>
                      <a:r>
                        <a:rPr sz="1200" b="0">
                          <a:solidFill>
                            <a:srgbClr val="222A2D"/>
                          </a:solidFill>
                          <a:latin typeface="NanumGothic"/>
                          <a:ea typeface="NanumGothic"/>
                          <a:cs typeface="NanumGothic"/>
                        </a:rPr>
                        <a:t>GET</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/health/live · /health/ready</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생존·관측소별 준비 / ready 부족 503</a:t>
                      </a:r>
                    </a:p>
                  </a:txBody>
                  <a:tcPr marL="91440" marR="91440" marT="45720" marB="45720">
                    <a:solidFill>
                      <a:srgbClr val="F2F6F3"/>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/datasets</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multipart CSV+manifest → job_id / 422·413</a:t>
                      </a:r>
                    </a:p>
                  </a:txBody>
                  <a:tcPr marL="91440" marR="91440" marT="45720" marB="45720">
                    <a:solidFill>
                      <a:srgbClr val="FAFBF9"/>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/jobs/train</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dataset_id·district_code → 학습 작업 202</a:t>
                      </a:r>
                    </a:p>
                  </a:txBody>
                  <a:tcPr marL="91440" marR="91440" marT="45720" marB="45720">
                    <a:solidFill>
                      <a:srgbClr val="F2F6F3"/>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/replays/{id}/advance</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days: 1~180 → 순차 배치 평가 작업 202</a:t>
                      </a:r>
                    </a:p>
                  </a:txBody>
                  <a:tcPr marL="91440" marR="91440" marT="45720" marB="45720">
                    <a:solidFill>
                      <a:srgbClr val="FAFBF9"/>
                    </a:solidFill>
                  </a:tcPr>
                </a:tc>
              </a:tr>
              <a:tr h="375047">
                <a:tc>
                  <a:txBody>
                    <a:bodyPr/>
                    <a:lstStyle/>
                    <a:p>
                      <a:r>
                        <a:rPr sz="1200" b="0">
                          <a:solidFill>
                            <a:srgbClr val="222A2D"/>
                          </a:solidFill>
                          <a:latin typeface="NanumGothic"/>
                          <a:ea typeface="NanumGothic"/>
                          <a:cs typeface="NanumGothic"/>
                        </a:rPr>
                        <a:t>GET</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/events · /jobs · /models</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이벤트·로그성 기록·작업·모델 이력 조회</a:t>
                      </a:r>
                    </a:p>
                  </a:txBody>
                  <a:tcPr marL="91440" marR="91440" marT="45720" marB="45720">
                    <a:solidFill>
                      <a:srgbClr val="F2F6F3"/>
                    </a:solidFill>
                  </a:tcPr>
                </a:tc>
              </a:tr>
              <a:tr h="375047">
                <a:tc>
                  <a:txBody>
                    <a:bodyPr/>
                    <a:lstStyle/>
                    <a:p>
                      <a:r>
                        <a:rPr sz="1200" b="0">
                          <a:solidFill>
                            <a:srgbClr val="222A2D"/>
                          </a:solidFill>
                          <a:latin typeface="NanumGothic"/>
                          <a:ea typeface="NanumGothic"/>
                          <a:cs typeface="NanumGothic"/>
                        </a:rPr>
                        <a:t>POST</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/models/{code}/rollback</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reason·version·replay_id → 복귀 작업 202</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251295943"/>
      </p:ext>
    </p:extLst>
  </p:cSld>
</p:sld>
</file>

<file path=ppt/slides/slide1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9E98373-F610-4013-A16B-CA0764520D99}"/>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⑤ API 명세</a:t>
            </a:r>
          </a:p>
        </p:txBody>
      </p:sp>
      <p:sp>
        <p:nvSpPr>
          <p:cNvPr id="2" name="">
            <a:extLst xmlns:a="http://schemas.openxmlformats.org/drawingml/2006/main">
              <a:ext uri="{FF2B5EF4-FFF2-40B4-BE49-F238E27FC236}">
                <a16:creationId xmlns:a16="http://schemas.microsoft.com/office/drawing/2014/main" id="{386BA53E-3B48-429E-B933-D08FEC2FBF4D}"/>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Swagger 계약과 실제 200·422 응답</a:t>
            </a:r>
          </a:p>
        </p:txBody>
      </p:sp>
      <p:sp>
        <p:nvSpPr>
          <p:cNvPr id="3" name="">
            <a:extLst xmlns:a="http://schemas.openxmlformats.org/drawingml/2006/main">
              <a:ext uri="{FF2B5EF4-FFF2-40B4-BE49-F238E27FC236}">
                <a16:creationId xmlns:a16="http://schemas.microsoft.com/office/drawing/2014/main" id="{47BA87FD-3EBE-419F-902C-E10978D817DB}"/>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POST /api/v1/districts/11110/predict · 실제 20일 요청 중 한 행</a:t>
            </a:r>
          </a:p>
        </p:txBody>
      </p:sp>
      <p:sp>
        <p:nvSpPr>
          <p:cNvPr id="4" name="">
            <a:extLst xmlns:a="http://schemas.openxmlformats.org/drawingml/2006/main">
              <a:ext uri="{FF2B5EF4-FFF2-40B4-BE49-F238E27FC236}">
                <a16:creationId xmlns:a16="http://schemas.microsoft.com/office/drawing/2014/main" id="{1538377F-6816-4073-9D40-9A4263518186}"/>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17</a:t>
            </a:r>
          </a:p>
        </p:txBody>
      </p:sp>
      <p:sp>
        <p:nvSpPr>
          <p:cNvPr id="5" name="">
            <a:extLst xmlns:a="http://schemas.openxmlformats.org/drawingml/2006/main">
              <a:ext uri="{FF2B5EF4-FFF2-40B4-BE49-F238E27FC236}">
                <a16:creationId xmlns:a16="http://schemas.microsoft.com/office/drawing/2014/main" id="{2705A1DC-7A2F-4BC4-A2CF-FA5AEA6D1841}"/>
              </a:ext>
            </a:extLst>
          </p:cNvPr>
          <p:cNvSpPr>
            <a:spLocks xmlns:a="http://schemas.openxmlformats.org/drawingml/2006/main" noGrp="1"/>
          </p:cNvSpPr>
          <p:nvPr/>
        </p:nvSpPr>
        <p:spPr>
          <a:xfrm xmlns:a="http://schemas.openxmlformats.org/drawingml/2006/main">
            <a:off x="571500" y="1485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NanumGothic"/>
                <a:ea typeface="NanumGothic"/>
                <a:cs typeface="NanumGothic"/>
              </a:defRPr>
            </a:defPPr>
          </a:lstStyle>
          <a:p xmlns:a="http://schemas.openxmlformats.org/drawingml/2006/main">
            <a:pPr>
              <a:buNone/>
              <a:defRPr sz="1425" b="1">
                <a:solidFill>
                  <a:srgbClr val="007D68"/>
                </a:solidFill>
                <a:latin typeface="NanumGothic"/>
                <a:ea typeface="NanumGothic"/>
                <a:cs typeface="NanumGothic"/>
              </a:defRPr>
            </a:pPr>
            <a:r>
              <a:rPr sz="1425" b="1">
                <a:solidFill>
                  <a:srgbClr val="007D68"/>
                </a:solidFill>
                <a:latin typeface="NanumGothic"/>
                <a:ea typeface="NanumGothic"/>
                <a:cs typeface="NanumGothic"/>
              </a:rPr>
              <a:t>Request: sequence[0] 한 행</a:t>
            </a:r>
          </a:p>
        </p:txBody>
      </p:sp>
      <p:sp>
        <p:nvSpPr>
          <p:cNvPr id="6" name="">
            <a:extLst xmlns:a="http://schemas.openxmlformats.org/drawingml/2006/main">
              <a:ext uri="{FF2B5EF4-FFF2-40B4-BE49-F238E27FC236}">
                <a16:creationId xmlns:a16="http://schemas.microsoft.com/office/drawing/2014/main" id="{C0E6C3DA-C7A3-49EF-9EB0-5A963B178920}"/>
              </a:ext>
            </a:extLst>
          </p:cNvPr>
          <p:cNvSpPr>
            <a:spLocks xmlns:a="http://schemas.openxmlformats.org/drawingml/2006/main" noGrp="1"/>
          </p:cNvSpPr>
          <p:nvPr/>
        </p:nvSpPr>
        <p:spPr>
          <a:xfrm xmlns:a="http://schemas.openxmlformats.org/drawingml/2006/main">
            <a:off x="571500" y="1914525"/>
            <a:ext cx="3905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NanumGothic"/>
                <a:ea typeface="NanumGothic"/>
                <a:cs typeface="NanumGothic"/>
              </a:defRPr>
            </a:defPPr>
          </a:lstStyle>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"station_id": "SU-JNO-G1-0007",</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"date": "2026-09-19",</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"groundwater_level": -21.43695302,</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"rainfall_mm": 0,</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  "level_unit": "gl.-m"</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a:t>
            </a:r>
          </a:p>
        </p:txBody>
      </p:sp>
      <p:sp>
        <p:nvSpPr>
          <p:cNvPr id="7" name="">
            <a:extLst xmlns:a="http://schemas.openxmlformats.org/drawingml/2006/main">
              <a:ext uri="{FF2B5EF4-FFF2-40B4-BE49-F238E27FC236}">
                <a16:creationId xmlns:a16="http://schemas.microsoft.com/office/drawing/2014/main" id="{ABE8C53E-EC81-41E3-84AC-7C08E3A429A8}"/>
              </a:ext>
            </a:extLst>
          </p:cNvPr>
          <p:cNvSpPr>
            <a:spLocks xmlns:a="http://schemas.openxmlformats.org/drawingml/2006/main" noGrp="1"/>
          </p:cNvSpPr>
          <p:nvPr/>
        </p:nvSpPr>
        <p:spPr>
          <a:xfrm xmlns:a="http://schemas.openxmlformats.org/drawingml/2006/main">
            <a:off x="4810125" y="1485900"/>
            <a:ext cx="3762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NanumGothic"/>
                <a:ea typeface="NanumGothic"/>
                <a:cs typeface="NanumGothic"/>
              </a:defRPr>
            </a:defPPr>
          </a:lstStyle>
          <a:p xmlns:a="http://schemas.openxmlformats.org/drawingml/2006/main">
            <a:pPr>
              <a:buNone/>
              <a:defRPr sz="1425" b="1">
                <a:solidFill>
                  <a:srgbClr val="007D68"/>
                </a:solidFill>
                <a:latin typeface="NanumGothic"/>
                <a:ea typeface="NanumGothic"/>
                <a:cs typeface="NanumGothic"/>
              </a:defRPr>
            </a:pPr>
            <a:r>
              <a:rPr sz="1425" b="1">
                <a:solidFill>
                  <a:srgbClr val="007D68"/>
                </a:solidFill>
                <a:latin typeface="NanumGothic"/>
                <a:ea typeface="NanumGothic"/>
                <a:cs typeface="NanumGothic"/>
              </a:rPr>
              <a:t>Response 200: 실제 응답 발췌</a:t>
            </a:r>
          </a:p>
        </p:txBody>
      </p:sp>
      <p:sp>
        <p:nvSpPr>
          <p:cNvPr id="8" name="">
            <a:extLst xmlns:a="http://schemas.openxmlformats.org/drawingml/2006/main">
              <a:ext uri="{FF2B5EF4-FFF2-40B4-BE49-F238E27FC236}">
                <a16:creationId xmlns:a16="http://schemas.microsoft.com/office/drawing/2014/main" id="{2FD98FD8-71DE-4435-BD02-8C218D5E074F}"/>
              </a:ext>
            </a:extLst>
          </p:cNvPr>
          <p:cNvSpPr>
            <a:spLocks xmlns:a="http://schemas.openxmlformats.org/drawingml/2006/main" noGrp="1"/>
          </p:cNvSpPr>
          <p:nvPr/>
        </p:nvSpPr>
        <p:spPr>
          <a:xfrm xmlns:a="http://schemas.openxmlformats.org/drawingml/2006/main">
            <a:off x="4810125" y="1914525"/>
            <a:ext cx="37623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222A2D"/>
                </a:solidFill>
                <a:latin typeface="NanumGothic"/>
                <a:ea typeface="NanumGothic"/>
                <a:cs typeface="NanumGothic"/>
              </a:defRPr>
            </a:defPPr>
          </a:lstStyle>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"prediction": -21.5107411911</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"model_version": "2"</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"observed_date": "2026-10-08"</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"forecast_date": "2026-10-09"</a:t>
            </a:r>
          </a:p>
          <a:p xmlns:a="http://schemas.openxmlformats.org/drawingml/2006/main">
            <a:pPr>
              <a:buNone/>
              <a:defRPr sz="1425" b="0">
                <a:solidFill>
                  <a:srgbClr val="222A2D"/>
                </a:solidFill>
                <a:latin typeface="NanumGothic"/>
                <a:ea typeface="NanumGothic"/>
                <a:cs typeface="NanumGothic"/>
              </a:defRPr>
            </a:pPr>
            <a:r>
              <a:rPr sz="1425" b="0">
                <a:solidFill>
                  <a:srgbClr val="222A2D"/>
                </a:solidFill>
                <a:latin typeface="NanumGothic"/>
                <a:ea typeface="NanumGothic"/>
                <a:cs typeface="NanumGothic"/>
              </a:rPr>
              <a:t>"unit": "gl.-m"</a:t>
            </a:r>
          </a:p>
        </p:txBody>
      </p:sp>
      <p:sp>
        <p:nvSpPr>
          <p:cNvPr id="9" name="">
            <a:extLst xmlns:a="http://schemas.openxmlformats.org/drawingml/2006/main">
              <a:ext uri="{FF2B5EF4-FFF2-40B4-BE49-F238E27FC236}">
                <a16:creationId xmlns:a16="http://schemas.microsoft.com/office/drawing/2014/main" id="{01B950CE-FE22-4F39-95C1-8F1D8E9CD514}"/>
              </a:ext>
            </a:extLst>
          </p:cNvPr>
          <p:cNvSpPr>
            <a:spLocks xmlns:a="http://schemas.openxmlformats.org/drawingml/2006/main" noGrp="1"/>
          </p:cNvSpPr>
          <p:nvPr/>
        </p:nvSpPr>
        <p:spPr>
          <a:xfrm xmlns:a="http://schemas.openxmlformats.org/drawingml/2006/main">
            <a:off x="4810125" y="3581400"/>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9D4D3E"/>
                </a:solidFill>
                <a:latin typeface="NanumGothic"/>
                <a:ea typeface="NanumGothic"/>
                <a:cs typeface="NanumGothic"/>
              </a:defRPr>
            </a:defPPr>
          </a:lstStyle>
          <a:p xmlns:a="http://schemas.openxmlformats.org/drawingml/2006/main">
            <a:pPr>
              <a:buNone/>
              <a:defRPr sz="1350" b="0">
                <a:solidFill>
                  <a:srgbClr val="9D4D3E"/>
                </a:solidFill>
                <a:latin typeface="NanumGothic"/>
                <a:ea typeface="NanumGothic"/>
                <a:cs typeface="NanumGothic"/>
              </a:defRPr>
            </a:pPr>
            <a:r>
              <a:rPr sz="1350" b="0">
                <a:solidFill>
                  <a:srgbClr val="9D4D3E"/>
                </a:solidFill>
                <a:latin typeface="NanumGothic"/>
                <a:ea typeface="NanumGothic"/>
                <a:cs typeface="NanumGothic"/>
              </a:rPr>
              <a:t>422: {"sequence": []}</a:t>
            </a:r>
          </a:p>
          <a:p xmlns:a="http://schemas.openxmlformats.org/drawingml/2006/main">
            <a:pPr>
              <a:buNone/>
              <a:defRPr sz="1350" b="0">
                <a:solidFill>
                  <a:srgbClr val="9D4D3E"/>
                </a:solidFill>
                <a:latin typeface="NanumGothic"/>
                <a:ea typeface="NanumGothic"/>
                <a:cs typeface="NanumGothic"/>
              </a:defRPr>
            </a:pPr>
            <a:r>
              <a:rPr sz="1350" b="0">
                <a:solidFill>
                  <a:srgbClr val="9D4D3E"/>
                </a:solidFill>
                <a:latin typeface="NanumGothic"/>
                <a:ea typeface="NanumGothic"/>
                <a:cs typeface="NanumGothic"/>
              </a:rPr>
              <a:t>detail[0].type = "too_short"</a:t>
            </a:r>
          </a:p>
          <a:p xmlns:a="http://schemas.openxmlformats.org/drawingml/2006/main">
            <a:pPr>
              <a:buNone/>
              <a:defRPr sz="1350" b="0">
                <a:solidFill>
                  <a:srgbClr val="9D4D3E"/>
                </a:solidFill>
                <a:latin typeface="NanumGothic"/>
                <a:ea typeface="NanumGothic"/>
                <a:cs typeface="NanumGothic"/>
              </a:defRPr>
            </a:pPr>
            <a:r>
              <a:rPr sz="1350" b="0">
                <a:solidFill>
                  <a:srgbClr val="9D4D3E"/>
                </a:solidFill>
                <a:latin typeface="NanumGothic"/>
                <a:ea typeface="NanumGothic"/>
                <a:cs typeface="NanumGothic"/>
              </a:rPr>
              <a:t>loc = ["body", "sequence"]</a:t>
            </a:r>
          </a:p>
        </p:txBody>
      </p:sp>
    </p:spTree>
    <p:extLst>
      <p:ext uri="{BB962C8B-B14F-4D97-AF65-F5344CB8AC3E}">
        <p14:creationId xmlns:p14="http://schemas.microsoft.com/office/powerpoint/2010/main" val="219003110"/>
      </p:ext>
    </p:extLst>
  </p:cSld>
</p:sld>
</file>

<file path=ppt/slides/slide1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0E8139-B158-4F3D-BD7E-86A72EC6C34D}"/>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⑤ API 명세</a:t>
            </a:r>
          </a:p>
        </p:txBody>
      </p:sp>
      <p:sp>
        <p:nvSpPr>
          <p:cNvPr id="2" name="">
            <a:extLst xmlns:a="http://schemas.openxmlformats.org/drawingml/2006/main">
              <a:ext uri="{FF2B5EF4-FFF2-40B4-BE49-F238E27FC236}">
                <a16:creationId xmlns:a16="http://schemas.microsoft.com/office/drawing/2014/main" id="{2BDB9A39-55CF-4A8D-B2E7-995FA3B31889}"/>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업로드·학습·배치 요청 예시</a:t>
            </a:r>
          </a:p>
        </p:txBody>
      </p:sp>
      <p:sp>
        <p:nvSpPr>
          <p:cNvPr id="3" name="">
            <a:extLst xmlns:a="http://schemas.openxmlformats.org/drawingml/2006/main">
              <a:ext uri="{FF2B5EF4-FFF2-40B4-BE49-F238E27FC236}">
                <a16:creationId xmlns:a16="http://schemas.microsoft.com/office/drawing/2014/main" id="{343C860D-55D5-4636-BFA9-F6D9B7252350}"/>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health 외 /api/v1 접두사 · id는 예시 식별자</a:t>
            </a:r>
          </a:p>
        </p:txBody>
      </p:sp>
      <p:sp>
        <p:nvSpPr>
          <p:cNvPr id="4" name="">
            <a:extLst xmlns:a="http://schemas.openxmlformats.org/drawingml/2006/main">
              <a:ext uri="{FF2B5EF4-FFF2-40B4-BE49-F238E27FC236}">
                <a16:creationId xmlns:a16="http://schemas.microsoft.com/office/drawing/2014/main" id="{DC612F95-A881-48D1-8600-E24051749B4F}"/>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18</a:t>
            </a:r>
          </a:p>
        </p:txBody>
      </p:sp>
      <p:graphicFrame>
        <p:nvGraphicFramePr>
          <p:cNvPr id="5" name="">
            <a:extLst xmlns:a="http://schemas.openxmlformats.org/drawingml/2006/main">
              <a:ext uri="{FF2B5EF4-FFF2-40B4-BE49-F238E27FC236}">
                <a16:creationId xmlns:a16="http://schemas.microsoft.com/office/drawing/2014/main" id="{6D72411C-4AEE-449D-8546-0C81CB9F601E}"/>
              </a:ext>
            </a:extLst>
          </p:cNvPr>
          <p:cNvGraphicFramePr/>
          <p:nvPr/>
        </p:nvGraphicFramePr>
        <p:xfrm>
          <a:off xmlns:a="http://schemas.openxmlformats.org/drawingml/2006/main" x="571500" y="1495425"/>
          <a:ext xmlns:a="http://schemas.openxmlformats.org/drawingml/2006/main" cx="8001000" cy="2952750"/>
        </p:xfrm>
        <a:graphic xmlns:a="http://schemas.openxmlformats.org/drawingml/2006/main">
          <a:graphicData uri="http://schemas.openxmlformats.org/drawingml/2006/table">
            <a:tbl>
              <a:tblPr/>
              <a:tblGrid>
                <a:gridCol w="2286000"/>
                <a:gridCol w="2809875"/>
                <a:gridCol w="2905125"/>
              </a:tblGrid>
              <a:tr h="590550">
                <a:tc>
                  <a:txBody>
                    <a:bodyPr/>
                    <a:lstStyle/>
                    <a:p>
                      <a:r>
                        <a:rPr sz="1275" b="1">
                          <a:solidFill>
                            <a:srgbClr val="007D68"/>
                          </a:solidFill>
                          <a:latin typeface="NanumGothic"/>
                          <a:ea typeface="NanumGothic"/>
                          <a:cs typeface="NanumGothic"/>
                        </a:rPr>
                        <a:t>호출</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Request 예시</a:t>
                      </a:r>
                    </a:p>
                  </a:txBody>
                  <a:tcPr marL="91440" marR="91440" marT="45720" marB="45720">
                    <a:solidFill>
                      <a:srgbClr val="E7EFEB"/>
                    </a:solidFill>
                  </a:tcPr>
                </a:tc>
                <a:tc>
                  <a:txBody>
                    <a:bodyPr/>
                    <a:lstStyle/>
                    <a:p>
                      <a:r>
                        <a:rPr sz="1275" b="1">
                          <a:solidFill>
                            <a:srgbClr val="007D68"/>
                          </a:solidFill>
                          <a:latin typeface="NanumGothic"/>
                          <a:ea typeface="NanumGothic"/>
                          <a:cs typeface="NanumGothic"/>
                        </a:rPr>
                        <a:t>Response 예시</a:t>
                      </a:r>
                    </a:p>
                  </a:txBody>
                  <a:tcPr marL="91440" marR="91440" marT="45720" marB="45720">
                    <a:solidFill>
                      <a:srgbClr val="E7EFEB"/>
                    </a:solidFill>
                  </a:tcPr>
                </a:tc>
              </a:tr>
              <a:tr h="590550">
                <a:tc>
                  <a:txBody>
                    <a:bodyPr/>
                    <a:lstStyle/>
                    <a:p>
                      <a:r>
                        <a:rPr sz="1275" b="0">
                          <a:solidFill>
                            <a:srgbClr val="222A2D"/>
                          </a:solidFill>
                          <a:latin typeface="NanumGothic"/>
                          <a:ea typeface="NanumGothic"/>
                          <a:cs typeface="NanumGothic"/>
                        </a:rPr>
                        <a:t>POST /datasets</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multipart: file=observations.csv</a:t>
                      </a:r>
                    </a:p>
                    <a:p>
                      <a:r>
                        <a:rPr sz="1275" b="0">
                          <a:solidFill>
                            <a:srgbClr val="222A2D"/>
                          </a:solidFill>
                          <a:latin typeface="NanumGothic"/>
                          <a:ea typeface="NanumGothic"/>
                          <a:cs typeface="NanumGothic"/>
                        </a:rPr>
                        <a:t>manifest=stations.json</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202 {"dataset_id":"dataset-id",</a:t>
                      </a:r>
                    </a:p>
                    <a:p>
                      <a:r>
                        <a:rPr sz="1275" b="0">
                          <a:solidFill>
                            <a:srgbClr val="222A2D"/>
                          </a:solidFill>
                          <a:latin typeface="NanumGothic"/>
                          <a:ea typeface="NanumGothic"/>
                          <a:cs typeface="NanumGothic"/>
                        </a:rPr>
                        <a:t>"job_id":"job-id","status":"validating"}</a:t>
                      </a:r>
                    </a:p>
                  </a:txBody>
                  <a:tcPr marL="91440" marR="91440" marT="45720" marB="45720">
                    <a:solidFill>
                      <a:srgbClr val="FAFBF9"/>
                    </a:solidFill>
                  </a:tcPr>
                </a:tc>
              </a:tr>
              <a:tr h="590550">
                <a:tc>
                  <a:txBody>
                    <a:bodyPr/>
                    <a:lstStyle/>
                    <a:p>
                      <a:r>
                        <a:rPr sz="1275" b="0">
                          <a:solidFill>
                            <a:srgbClr val="222A2D"/>
                          </a:solidFill>
                          <a:latin typeface="NanumGothic"/>
                          <a:ea typeface="NanumGothic"/>
                          <a:cs typeface="NanumGothic"/>
                        </a:rPr>
                        <a:t>POST /jobs/train</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{"dataset_id":"dataset-id",</a:t>
                      </a:r>
                    </a:p>
                    <a:p>
                      <a:r>
                        <a:rPr sz="1275" b="0">
                          <a:solidFill>
                            <a:srgbClr val="222A2D"/>
                          </a:solidFill>
                          <a:latin typeface="NanumGothic"/>
                          <a:ea typeface="NanumGothic"/>
                          <a:cs typeface="NanumGothic"/>
                        </a:rPr>
                        <a:t>"district_code":"11110"}</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202 {"id":"job-id",</a:t>
                      </a:r>
                    </a:p>
                    <a:p>
                      <a:r>
                        <a:rPr sz="1275" b="0">
                          <a:solidFill>
                            <a:srgbClr val="222A2D"/>
                          </a:solidFill>
                          <a:latin typeface="NanumGothic"/>
                          <a:ea typeface="NanumGothic"/>
                          <a:cs typeface="NanumGothic"/>
                        </a:rPr>
                        <a:t>"kind":"train","status":"queued"}</a:t>
                      </a:r>
                    </a:p>
                  </a:txBody>
                  <a:tcPr marL="91440" marR="91440" marT="45720" marB="45720">
                    <a:solidFill>
                      <a:srgbClr val="F2F6F3"/>
                    </a:solidFill>
                  </a:tcPr>
                </a:tc>
              </a:tr>
              <a:tr h="590550">
                <a:tc>
                  <a:txBody>
                    <a:bodyPr/>
                    <a:lstStyle/>
                    <a:p>
                      <a:r>
                        <a:rPr sz="1275" b="0">
                          <a:solidFill>
                            <a:srgbClr val="222A2D"/>
                          </a:solidFill>
                          <a:latin typeface="NanumGothic"/>
                          <a:ea typeface="NanumGothic"/>
                          <a:cs typeface="NanumGothic"/>
                        </a:rPr>
                        <a:t>POST /replays/{id}/advance</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{"days":11}</a:t>
                      </a:r>
                    </a:p>
                  </a:txBody>
                  <a:tcPr marL="91440" marR="91440" marT="45720" marB="45720">
                    <a:solidFill>
                      <a:srgbClr val="FAFBF9"/>
                    </a:solidFill>
                  </a:tcPr>
                </a:tc>
                <a:tc>
                  <a:txBody>
                    <a:bodyPr/>
                    <a:lstStyle/>
                    <a:p>
                      <a:r>
                        <a:rPr sz="1275" b="0">
                          <a:solidFill>
                            <a:srgbClr val="222A2D"/>
                          </a:solidFill>
                          <a:latin typeface="NanumGothic"/>
                          <a:ea typeface="NanumGothic"/>
                          <a:cs typeface="NanumGothic"/>
                        </a:rPr>
                        <a:t>202 {"id":"job-id",</a:t>
                      </a:r>
                    </a:p>
                    <a:p>
                      <a:r>
                        <a:rPr sz="1275" b="0">
                          <a:solidFill>
                            <a:srgbClr val="222A2D"/>
                          </a:solidFill>
                          <a:latin typeface="NanumGothic"/>
                          <a:ea typeface="NanumGothic"/>
                          <a:cs typeface="NanumGothic"/>
                        </a:rPr>
                        <a:t>"kind":"advance","status":"queued"}</a:t>
                      </a:r>
                    </a:p>
                  </a:txBody>
                  <a:tcPr marL="91440" marR="91440" marT="45720" marB="45720">
                    <a:solidFill>
                      <a:srgbClr val="FAFBF9"/>
                    </a:solidFill>
                  </a:tcPr>
                </a:tc>
              </a:tr>
              <a:tr h="590550">
                <a:tc>
                  <a:txBody>
                    <a:bodyPr/>
                    <a:lstStyle/>
                    <a:p>
                      <a:r>
                        <a:rPr sz="1275" b="0">
                          <a:solidFill>
                            <a:srgbClr val="222A2D"/>
                          </a:solidFill>
                          <a:latin typeface="NanumGothic"/>
                          <a:ea typeface="NanumGothic"/>
                          <a:cs typeface="NanumGothic"/>
                        </a:rPr>
                        <a:t>GET /jobs/{id}</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body 없음</a:t>
                      </a:r>
                    </a:p>
                  </a:txBody>
                  <a:tcPr marL="91440" marR="91440" marT="45720" marB="45720">
                    <a:solidFill>
                      <a:srgbClr val="F2F6F3"/>
                    </a:solidFill>
                  </a:tcPr>
                </a:tc>
                <a:tc>
                  <a:txBody>
                    <a:bodyPr/>
                    <a:lstStyle/>
                    <a:p>
                      <a:r>
                        <a:rPr sz="1275" b="0">
                          <a:solidFill>
                            <a:srgbClr val="222A2D"/>
                          </a:solidFill>
                          <a:latin typeface="NanumGothic"/>
                          <a:ea typeface="NanumGothic"/>
                          <a:cs typeface="NanumGothic"/>
                        </a:rPr>
                        <a:t>200 {"id":"job-id",</a:t>
                      </a:r>
                    </a:p>
                    <a:p>
                      <a:r>
                        <a:rPr sz="1275" b="0">
                          <a:solidFill>
                            <a:srgbClr val="222A2D"/>
                          </a:solidFill>
                          <a:latin typeface="NanumGothic"/>
                          <a:ea typeface="NanumGothic"/>
                          <a:cs typeface="NanumGothic"/>
                        </a:rPr>
                        <a:t>"status":"completed","result":{…}}</a:t>
                      </a:r>
                    </a:p>
                  </a:txBody>
                  <a:tcPr marL="91440" marR="91440" marT="45720" marB="45720">
                    <a:solidFill>
                      <a:srgbClr val="F2F6F3"/>
                    </a:solidFill>
                  </a:tcPr>
                </a:tc>
              </a:tr>
            </a:tbl>
          </a:graphicData>
        </a:graphic>
      </p:graphicFrame>
    </p:spTree>
    <p:extLst>
      <p:ext uri="{BB962C8B-B14F-4D97-AF65-F5344CB8AC3E}">
        <p14:creationId xmlns:p14="http://schemas.microsoft.com/office/powerpoint/2010/main" val="1941524447"/>
      </p:ext>
    </p:extLst>
  </p:cSld>
</p:sld>
</file>

<file path=ppt/slides/slide1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2474B7-CB1E-4B64-A552-39F030FF48E9}"/>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⑤ API 명세</a:t>
            </a:r>
          </a:p>
        </p:txBody>
      </p:sp>
      <p:sp>
        <p:nvSpPr>
          <p:cNvPr id="2" name="">
            <a:extLst xmlns:a="http://schemas.openxmlformats.org/drawingml/2006/main">
              <a:ext uri="{FF2B5EF4-FFF2-40B4-BE49-F238E27FC236}">
                <a16:creationId xmlns:a16="http://schemas.microsoft.com/office/drawing/2014/main" id="{D2EA9017-677D-4FD5-8208-88CB56F7B567}"/>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헬스·로그 조회와 오류 예시</a:t>
            </a:r>
          </a:p>
        </p:txBody>
      </p:sp>
      <p:sp>
        <p:nvSpPr>
          <p:cNvPr id="3" name="">
            <a:extLst xmlns:a="http://schemas.openxmlformats.org/drawingml/2006/main">
              <a:ext uri="{FF2B5EF4-FFF2-40B4-BE49-F238E27FC236}">
                <a16:creationId xmlns:a16="http://schemas.microsoft.com/office/drawing/2014/main" id="{B145875D-5752-4A5F-A8AD-4339B3DEB3E8}"/>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health 외 /api/v1 접두사 · 응답은 필요한 필드만 발췌</a:t>
            </a:r>
          </a:p>
        </p:txBody>
      </p:sp>
      <p:sp>
        <p:nvSpPr>
          <p:cNvPr id="4" name="">
            <a:extLst xmlns:a="http://schemas.openxmlformats.org/drawingml/2006/main">
              <a:ext uri="{FF2B5EF4-FFF2-40B4-BE49-F238E27FC236}">
                <a16:creationId xmlns:a16="http://schemas.microsoft.com/office/drawing/2014/main" id="{89EAB64D-477C-4E5E-A702-01436283109E}"/>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19</a:t>
            </a:r>
          </a:p>
        </p:txBody>
      </p:sp>
      <p:graphicFrame>
        <p:nvGraphicFramePr>
          <p:cNvPr id="5" name="">
            <a:extLst xmlns:a="http://schemas.openxmlformats.org/drawingml/2006/main">
              <a:ext uri="{FF2B5EF4-FFF2-40B4-BE49-F238E27FC236}">
                <a16:creationId xmlns:a16="http://schemas.microsoft.com/office/drawing/2014/main" id="{3C06FBFF-5E29-47A4-9533-E20E9D617406}"/>
              </a:ext>
            </a:extLst>
          </p:cNvPr>
          <p:cNvGraphicFramePr/>
          <p:nvPr/>
        </p:nvGraphicFramePr>
        <p:xfrm>
          <a:off xmlns:a="http://schemas.openxmlformats.org/drawingml/2006/main" x="571500" y="1485900"/>
          <a:ext xmlns:a="http://schemas.openxmlformats.org/drawingml/2006/main" cx="8001000" cy="3000375"/>
        </p:xfrm>
        <a:graphic xmlns:a="http://schemas.openxmlformats.org/drawingml/2006/main">
          <a:graphicData uri="http://schemas.openxmlformats.org/drawingml/2006/table">
            <a:tbl>
              <a:tblPr/>
              <a:tblGrid>
                <a:gridCol w="2667000"/>
                <a:gridCol w="2619375"/>
                <a:gridCol w="2714625"/>
              </a:tblGrid>
              <a:tr h="500063">
                <a:tc>
                  <a:txBody>
                    <a:bodyPr/>
                    <a:lstStyle/>
                    <a:p>
                      <a:r>
                        <a:rPr sz="1200" b="1">
                          <a:solidFill>
                            <a:srgbClr val="007D68"/>
                          </a:solidFill>
                          <a:latin typeface="NanumGothic"/>
                          <a:ea typeface="NanumGothic"/>
                          <a:cs typeface="NanumGothic"/>
                        </a:rPr>
                        <a:t>Method / URL</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정상 응답 예시</a:t>
                      </a:r>
                    </a:p>
                  </a:txBody>
                  <a:tcPr marL="91440" marR="91440" marT="45720" marB="45720">
                    <a:solidFill>
                      <a:srgbClr val="E7EFEB"/>
                    </a:solidFill>
                  </a:tcPr>
                </a:tc>
                <a:tc>
                  <a:txBody>
                    <a:bodyPr/>
                    <a:lstStyle/>
                    <a:p>
                      <a:r>
                        <a:rPr sz="1200" b="1">
                          <a:solidFill>
                            <a:srgbClr val="007D68"/>
                          </a:solidFill>
                          <a:latin typeface="NanumGothic"/>
                          <a:ea typeface="NanumGothic"/>
                          <a:cs typeface="NanumGothic"/>
                        </a:rPr>
                        <a:t>오류 조건·응답</a:t>
                      </a:r>
                    </a:p>
                  </a:txBody>
                  <a:tcPr marL="91440" marR="91440" marT="45720" marB="45720">
                    <a:solidFill>
                      <a:srgbClr val="E7EFEB"/>
                    </a:solidFill>
                  </a:tcPr>
                </a:tc>
              </a:tr>
              <a:tr h="500063">
                <a:tc>
                  <a:txBody>
                    <a:bodyPr/>
                    <a:lstStyle/>
                    <a:p>
                      <a:r>
                        <a:rPr sz="1200" b="0">
                          <a:solidFill>
                            <a:srgbClr val="222A2D"/>
                          </a:solidFill>
                          <a:latin typeface="NanumGothic"/>
                          <a:ea typeface="NanumGothic"/>
                          <a:cs typeface="NanumGothic"/>
                        </a:rPr>
                        <a:t>GET /health/live</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200 {"status":"alive"}</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프로세스 생존 확인</a:t>
                      </a:r>
                    </a:p>
                  </a:txBody>
                  <a:tcPr marL="91440" marR="91440" marT="45720" marB="45720">
                    <a:solidFill>
                      <a:srgbClr val="FAFBF9"/>
                    </a:solidFill>
                  </a:tcPr>
                </a:tc>
              </a:tr>
              <a:tr h="500063">
                <a:tc>
                  <a:txBody>
                    <a:bodyPr/>
                    <a:lstStyle/>
                    <a:p>
                      <a:r>
                        <a:rPr sz="1200" b="0">
                          <a:solidFill>
                            <a:srgbClr val="222A2D"/>
                          </a:solidFill>
                          <a:latin typeface="NanumGothic"/>
                          <a:ea typeface="NanumGothic"/>
                          <a:cs typeface="NanumGothic"/>
                        </a:rPr>
                        <a:t>GET /health/ready</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200 {"status":"ready",…}</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503: 입력·모델 준비 부족</a:t>
                      </a:r>
                    </a:p>
                  </a:txBody>
                  <a:tcPr marL="91440" marR="91440" marT="45720" marB="45720">
                    <a:solidFill>
                      <a:srgbClr val="F2F6F3"/>
                    </a:solidFill>
                  </a:tcPr>
                </a:tc>
              </a:tr>
              <a:tr h="500063">
                <a:tc>
                  <a:txBody>
                    <a:bodyPr/>
                    <a:lstStyle/>
                    <a:p>
                      <a:r>
                        <a:rPr sz="1200" b="0">
                          <a:solidFill>
                            <a:srgbClr val="222A2D"/>
                          </a:solidFill>
                          <a:latin typeface="NanumGothic"/>
                          <a:ea typeface="NanumGothic"/>
                          <a:cs typeface="NanumGothic"/>
                        </a:rPr>
                        <a:t>GET /events?replay_id={id}</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200 {"events":[…]}</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없는 시연: 404</a:t>
                      </a:r>
                    </a:p>
                  </a:txBody>
                  <a:tcPr marL="91440" marR="91440" marT="45720" marB="45720">
                    <a:solidFill>
                      <a:srgbClr val="FAFBF9"/>
                    </a:solidFill>
                  </a:tcPr>
                </a:tc>
              </a:tr>
              <a:tr h="500063">
                <a:tc>
                  <a:txBody>
                    <a:bodyPr/>
                    <a:lstStyle/>
                    <a:p>
                      <a:r>
                        <a:rPr sz="1200" b="0">
                          <a:solidFill>
                            <a:srgbClr val="222A2D"/>
                          </a:solidFill>
                          <a:latin typeface="NanumGothic"/>
                          <a:ea typeface="NanumGothic"/>
                          <a:cs typeface="NanumGothic"/>
                        </a:rPr>
                        <a:t>GET /jobs?replay_id={id}</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200 {"jobs":[…]}</a:t>
                      </a:r>
                    </a:p>
                  </a:txBody>
                  <a:tcPr marL="91440" marR="91440" marT="45720" marB="45720">
                    <a:solidFill>
                      <a:srgbClr val="F2F6F3"/>
                    </a:solidFill>
                  </a:tcPr>
                </a:tc>
                <a:tc>
                  <a:txBody>
                    <a:bodyPr/>
                    <a:lstStyle/>
                    <a:p>
                      <a:r>
                        <a:rPr sz="1200" b="0">
                          <a:solidFill>
                            <a:srgbClr val="222A2D"/>
                          </a:solidFill>
                          <a:latin typeface="NanumGothic"/>
                          <a:ea typeface="NanumGothic"/>
                          <a:cs typeface="NanumGothic"/>
                        </a:rPr>
                        <a:t>작업 결과·오류 기록 조회</a:t>
                      </a:r>
                    </a:p>
                  </a:txBody>
                  <a:tcPr marL="91440" marR="91440" marT="45720" marB="45720">
                    <a:solidFill>
                      <a:srgbClr val="F2F6F3"/>
                    </a:solidFill>
                  </a:tcPr>
                </a:tc>
              </a:tr>
              <a:tr h="500063">
                <a:tc>
                  <a:txBody>
                    <a:bodyPr/>
                    <a:lstStyle/>
                    <a:p>
                      <a:r>
                        <a:rPr sz="1200" b="0">
                          <a:solidFill>
                            <a:srgbClr val="222A2D"/>
                          </a:solidFill>
                          <a:latin typeface="NanumGothic"/>
                          <a:ea typeface="NanumGothic"/>
                          <a:cs typeface="NanumGothic"/>
                        </a:rPr>
                        <a:t>POST /replays/{id}/advance</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202 {"id":"job-id",…}</a:t>
                      </a:r>
                    </a:p>
                  </a:txBody>
                  <a:tcPr marL="91440" marR="91440" marT="45720" marB="45720">
                    <a:solidFill>
                      <a:srgbClr val="FAFBF9"/>
                    </a:solidFill>
                  </a:tcPr>
                </a:tc>
                <a:tc>
                  <a:txBody>
                    <a:bodyPr/>
                    <a:lstStyle/>
                    <a:p>
                      <a:r>
                        <a:rPr sz="1200" b="0">
                          <a:solidFill>
                            <a:srgbClr val="222A2D"/>
                          </a:solidFill>
                          <a:latin typeface="NanumGothic"/>
                          <a:ea typeface="NanumGothic"/>
                          <a:cs typeface="NanumGothic"/>
                        </a:rPr>
                        <a:t>409: 초기 모델 준비 중</a:t>
                      </a:r>
                    </a:p>
                    <a:p>
                      <a:r>
                        <a:rPr sz="1200" b="0">
                          <a:solidFill>
                            <a:srgbClr val="222A2D"/>
                          </a:solidFill>
                          <a:latin typeface="NanumGothic"/>
                          <a:ea typeface="NanumGothic"/>
                          <a:cs typeface="NanumGothic"/>
                        </a:rPr>
                        <a:t>{"detail":"…"}</a:t>
                      </a:r>
                    </a:p>
                  </a:txBody>
                  <a:tcPr marL="91440" marR="91440" marT="45720" marB="45720">
                    <a:solidFill>
                      <a:srgbClr val="FAFBF9"/>
                    </a:solidFill>
                  </a:tcPr>
                </a:tc>
              </a:tr>
            </a:tbl>
          </a:graphicData>
        </a:graphic>
      </p:graphicFrame>
    </p:spTree>
    <p:extLst>
      <p:ext uri="{BB962C8B-B14F-4D97-AF65-F5344CB8AC3E}">
        <p14:creationId xmlns:p14="http://schemas.microsoft.com/office/powerpoint/2010/main" val="1234998893"/>
      </p:ext>
    </p:extLst>
  </p:cSld>
</p:sld>
</file>

<file path=ppt/slides/slide2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66CE19-BEC3-4056-A4BD-72861783C6F9}"/>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F469D41C-EEF9-422C-8395-3013C8D35F74}"/>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컨테이너 실행</a:t>
            </a:r>
          </a:p>
        </p:txBody>
      </p:sp>
      <p:sp>
        <p:nvSpPr>
          <p:cNvPr id="3" name="">
            <a:extLst xmlns:a="http://schemas.openxmlformats.org/drawingml/2006/main">
              <a:ext uri="{FF2B5EF4-FFF2-40B4-BE49-F238E27FC236}">
                <a16:creationId xmlns:a16="http://schemas.microsoft.com/office/drawing/2014/main" id="{B4E9F2D6-F134-47A0-AE05-018ACF70818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직접 캡처 · 별도 검증 환경</a:t>
            </a:r>
          </a:p>
        </p:txBody>
      </p:sp>
      <p:sp>
        <p:nvSpPr>
          <p:cNvPr id="4" name="">
            <a:extLst xmlns:a="http://schemas.openxmlformats.org/drawingml/2006/main">
              <a:ext uri="{FF2B5EF4-FFF2-40B4-BE49-F238E27FC236}">
                <a16:creationId xmlns:a16="http://schemas.microsoft.com/office/drawing/2014/main" id="{CD3716C5-7ABC-4704-8F0D-BBA7C903F8F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a:t>
            </a:r>
          </a:p>
        </p:txBody>
      </p:sp>
      <p:pic>
        <p:nvPicPr>
          <p:cNvPr id="5" name="">
            <a:extLst xmlns:a="http://schemas.openxmlformats.org/drawingml/2006/main">
              <a:ext uri="{FF2B5EF4-FFF2-40B4-BE49-F238E27FC236}">
                <a16:creationId xmlns:a16="http://schemas.microsoft.com/office/drawing/2014/main" id="{CF40B012-B4D0-433B-B773-F20C9FAA4C0F}"/>
              </a:ext>
            </a:extLst>
          </p:cNvPr>
          <p:cNvPicPr>
            <a:picLocks xmlns:a="http://schemas.openxmlformats.org/drawingml/2006/main" noChangeAspect="1"/>
          </p:cNvPicPr>
          <p:nvPr/>
        </p:nvPicPr>
        <p:blipFill>
          <a:blip xmlns:r="http://schemas.openxmlformats.org/officeDocument/2006/relationships" xmlns:a="http://schemas.openxmlformats.org/drawingml/2006/main" r:embed="R0f0271058042493e"/>
          <a:stretch xmlns:a="http://schemas.openxmlformats.org/drawingml/2006/main"/>
        </p:blipFill>
        <p:spPr>
          <a:xfrm xmlns:a="http://schemas.openxmlformats.org/drawingml/2006/main">
            <a:off x="571500" y="2006856"/>
            <a:ext cx="5429250" cy="19965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F57B9AD-A144-4912-A62F-DB4CA8B760A7}"/>
              </a:ext>
            </a:extLst>
          </p:cNvPr>
          <p:cNvSpPr>
            <a:spLocks xmlns:a="http://schemas.openxmlformats.org/drawingml/2006/main" noGrp="1"/>
          </p:cNvSpPr>
          <p:nvPr/>
        </p:nvSpPr>
        <p:spPr>
          <a:xfrm xmlns:a="http://schemas.openxmlformats.org/drawingml/2006/main">
            <a:off x="6381750" y="2047875"/>
            <a:ext cx="2190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07D68"/>
                </a:solidFill>
                <a:latin typeface="NanumGothic"/>
                <a:ea typeface="NanumGothic"/>
                <a:cs typeface="NanumGothic"/>
              </a:defRPr>
            </a:defPPr>
          </a:lstStyle>
          <a:p xmlns:a="http://schemas.openxmlformats.org/drawingml/2006/main">
            <a:pPr>
              <a:buNone/>
              <a:defRPr sz="1950" b="1">
                <a:solidFill>
                  <a:srgbClr val="007D68"/>
                </a:solidFill>
                <a:latin typeface="NanumGothic"/>
                <a:ea typeface="NanumGothic"/>
                <a:cs typeface="NanumGothic"/>
              </a:defRPr>
            </a:pPr>
            <a:r>
              <a:rPr sz="1950" b="1">
                <a:solidFill>
                  <a:srgbClr val="007D68"/>
                </a:solidFill>
                <a:latin typeface="NanumGothic"/>
                <a:ea typeface="NanumGothic"/>
                <a:cs typeface="NanumGothic"/>
              </a:rPr>
              <a:t>API PID 9</a:t>
            </a:r>
          </a:p>
          <a:p xmlns:a="http://schemas.openxmlformats.org/drawingml/2006/main">
            <a:pPr>
              <a:buNone/>
              <a:defRPr sz="1950" b="1">
                <a:solidFill>
                  <a:srgbClr val="007D68"/>
                </a:solidFill>
                <a:latin typeface="NanumGothic"/>
                <a:ea typeface="NanumGothic"/>
                <a:cs typeface="NanumGothic"/>
              </a:defRPr>
            </a:pPr>
            <a:r>
              <a:rPr sz="1950" b="1">
                <a:solidFill>
                  <a:srgbClr val="007D68"/>
                </a:solidFill>
                <a:latin typeface="NanumGothic"/>
                <a:ea typeface="NanumGothic"/>
                <a:cs typeface="NanumGothic"/>
              </a:rPr>
              <a:t>worker PID 7</a:t>
            </a:r>
          </a:p>
          <a:p xmlns:a="http://schemas.openxmlformats.org/drawingml/2006/main">
            <a:pPr>
              <a:buNone/>
              <a:defRPr sz="1950" b="1">
                <a:solidFill>
                  <a:srgbClr val="007D68"/>
                </a:solidFill>
                <a:latin typeface="NanumGothic"/>
                <a:ea typeface="NanumGothic"/>
                <a:cs typeface="NanumGothic"/>
              </a:defRPr>
            </a:pPr>
            <a:r>
              <a:rPr sz="1950" b="1">
                <a:solidFill>
                  <a:srgbClr val="007D68"/>
                </a:solidFill>
                <a:latin typeface="NanumGothic"/>
                <a:ea typeface="NanumGothic"/>
                <a:cs typeface="NanumGothic"/>
              </a:rPr>
              <a:t>worker 실행 중</a:t>
            </a:r>
          </a:p>
        </p:txBody>
      </p:sp>
    </p:spTree>
    <p:extLst>
      <p:ext uri="{BB962C8B-B14F-4D97-AF65-F5344CB8AC3E}">
        <p14:creationId xmlns:p14="http://schemas.microsoft.com/office/powerpoint/2010/main" val="1500267973"/>
      </p:ext>
    </p:extLst>
  </p:cSld>
</p:sld>
</file>

<file path=ppt/slides/slide2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3B2ED9-599F-4CB9-987E-2AF5380AC64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E42EF398-0452-47C9-950A-56F51EADA116}"/>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요청 전: v1 예측</a:t>
            </a:r>
          </a:p>
        </p:txBody>
      </p:sp>
      <p:sp>
        <p:nvSpPr>
          <p:cNvPr id="3" name="">
            <a:extLst xmlns:a="http://schemas.openxmlformats.org/drawingml/2006/main">
              <a:ext uri="{FF2B5EF4-FFF2-40B4-BE49-F238E27FC236}">
                <a16:creationId xmlns:a16="http://schemas.microsoft.com/office/drawing/2014/main" id="{1271F265-0245-40F5-83FF-9B386ACEF2C3}"/>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종로구 · 동일 시연 세션 6d00ba · 합성 자료</a:t>
            </a:r>
          </a:p>
        </p:txBody>
      </p:sp>
      <p:sp>
        <p:nvSpPr>
          <p:cNvPr id="4" name="">
            <a:extLst xmlns:a="http://schemas.openxmlformats.org/drawingml/2006/main">
              <a:ext uri="{FF2B5EF4-FFF2-40B4-BE49-F238E27FC236}">
                <a16:creationId xmlns:a16="http://schemas.microsoft.com/office/drawing/2014/main" id="{C5918C0B-EEAC-4145-9279-FAEABFBBE5A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21</a:t>
            </a:r>
          </a:p>
        </p:txBody>
      </p:sp>
      <p:pic>
        <p:nvPicPr>
          <p:cNvPr id="5" name="">
            <a:extLst xmlns:a="http://schemas.openxmlformats.org/drawingml/2006/main">
              <a:ext uri="{FF2B5EF4-FFF2-40B4-BE49-F238E27FC236}">
                <a16:creationId xmlns:a16="http://schemas.microsoft.com/office/drawing/2014/main" id="{55547E04-555E-45F8-8ACC-80C42A22196F}"/>
              </a:ext>
            </a:extLst>
          </p:cNvPr>
          <p:cNvPicPr>
            <a:picLocks xmlns:a="http://schemas.openxmlformats.org/drawingml/2006/main" noChangeAspect="1"/>
          </p:cNvPicPr>
          <p:nvPr/>
        </p:nvPicPr>
        <p:blipFill>
          <a:blip xmlns:r="http://schemas.openxmlformats.org/officeDocument/2006/relationships" xmlns:a="http://schemas.openxmlformats.org/drawingml/2006/main" r:embed="R9468ff89c2d046a7"/>
          <a:stretch xmlns:a="http://schemas.openxmlformats.org/drawingml/2006/main"/>
        </p:blipFill>
        <p:spPr>
          <a:xfrm xmlns:a="http://schemas.openxmlformats.org/drawingml/2006/main">
            <a:off x="1140554" y="1447800"/>
            <a:ext cx="2100392" cy="3067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87B6A16-2CB7-486A-AB67-FB44EB58825D}"/>
              </a:ext>
            </a:extLst>
          </p:cNvPr>
          <p:cNvSpPr>
            <a:spLocks xmlns:a="http://schemas.openxmlformats.org/drawingml/2006/main" noGrp="1"/>
          </p:cNvSpPr>
          <p:nvPr/>
        </p:nvSpPr>
        <p:spPr>
          <a:xfrm xmlns:a="http://schemas.openxmlformats.org/drawingml/2006/main">
            <a:off x="4429125" y="170497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007D68"/>
                </a:solidFill>
                <a:latin typeface="NanumGothic"/>
                <a:ea typeface="NanumGothic"/>
                <a:cs typeface="NanumGothic"/>
              </a:defRPr>
            </a:defPPr>
          </a:lstStyle>
          <a:p xmlns:a="http://schemas.openxmlformats.org/drawingml/2006/main">
            <a:pPr>
              <a:buNone/>
              <a:defRPr sz="2550" b="1">
                <a:solidFill>
                  <a:srgbClr val="007D68"/>
                </a:solidFill>
                <a:latin typeface="NanumGothic"/>
                <a:ea typeface="NanumGothic"/>
                <a:cs typeface="NanumGothic"/>
              </a:defRPr>
            </a:pPr>
            <a:r>
              <a:rPr sz="2550" b="1">
                <a:solidFill>
                  <a:srgbClr val="007D68"/>
                </a:solidFill>
                <a:latin typeface="NanumGothic"/>
                <a:ea typeface="NanumGothic"/>
                <a:cs typeface="NanumGothic"/>
              </a:rPr>
              <a:t>모델 v1</a:t>
            </a:r>
          </a:p>
        </p:txBody>
      </p:sp>
      <p:sp>
        <p:nvSpPr>
          <p:cNvPr id="7" name="">
            <a:extLst xmlns:a="http://schemas.openxmlformats.org/drawingml/2006/main">
              <a:ext uri="{FF2B5EF4-FFF2-40B4-BE49-F238E27FC236}">
                <a16:creationId xmlns:a16="http://schemas.microsoft.com/office/drawing/2014/main" id="{29687E2B-BE75-4474-926E-D24F0D777DE0}"/>
              </a:ext>
            </a:extLst>
          </p:cNvPr>
          <p:cNvSpPr>
            <a:spLocks xmlns:a="http://schemas.openxmlformats.org/drawingml/2006/main" noGrp="1"/>
          </p:cNvSpPr>
          <p:nvPr/>
        </p:nvSpPr>
        <p:spPr>
          <a:xfrm xmlns:a="http://schemas.openxmlformats.org/drawingml/2006/main">
            <a:off x="4429125" y="2466975"/>
            <a:ext cx="4143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예측 대상일 2026-07-11</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예측 수위 -22.6053015 gl.-m</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정답 0일 · 오차 평가 대기</a:t>
            </a:r>
          </a:p>
        </p:txBody>
      </p:sp>
    </p:spTree>
    <p:extLst>
      <p:ext uri="{BB962C8B-B14F-4D97-AF65-F5344CB8AC3E}">
        <p14:creationId xmlns:p14="http://schemas.microsoft.com/office/powerpoint/2010/main" val="1111711140"/>
      </p:ext>
    </p:extLst>
  </p:cSld>
</p:sld>
</file>

<file path=ppt/slides/slide2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53C4DA7-1AE5-4439-851A-A5C074D92CA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C9C2B3D2-34DF-4DFF-9FC4-129817316049}"/>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변화 주입 후: 감지·재학습</a:t>
            </a:r>
          </a:p>
        </p:txBody>
      </p:sp>
      <p:sp>
        <p:nvSpPr>
          <p:cNvPr id="3" name="">
            <a:extLst xmlns:a="http://schemas.openxmlformats.org/drawingml/2006/main">
              <a:ext uri="{FF2B5EF4-FFF2-40B4-BE49-F238E27FC236}">
                <a16:creationId xmlns:a16="http://schemas.microsoft.com/office/drawing/2014/main" id="{4EC335E8-1B6B-4A51-B9B6-E8E75003BCE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합성 변화 +0.2 gl.-m · 새 정답 30일 확보 전 교체 대기</a:t>
            </a:r>
          </a:p>
        </p:txBody>
      </p:sp>
      <p:sp>
        <p:nvSpPr>
          <p:cNvPr id="4" name="">
            <a:extLst xmlns:a="http://schemas.openxmlformats.org/drawingml/2006/main">
              <a:ext uri="{FF2B5EF4-FFF2-40B4-BE49-F238E27FC236}">
                <a16:creationId xmlns:a16="http://schemas.microsoft.com/office/drawing/2014/main" id="{7B405921-320E-4735-938E-B38C8F5A805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22</a:t>
            </a:r>
          </a:p>
        </p:txBody>
      </p:sp>
      <p:pic>
        <p:nvPicPr>
          <p:cNvPr id="5" name="">
            <a:extLst xmlns:a="http://schemas.openxmlformats.org/drawingml/2006/main">
              <a:ext uri="{FF2B5EF4-FFF2-40B4-BE49-F238E27FC236}">
                <a16:creationId xmlns:a16="http://schemas.microsoft.com/office/drawing/2014/main" id="{3F0E4330-DBE1-421D-830A-E4725FBDF5F6}"/>
              </a:ext>
            </a:extLst>
          </p:cNvPr>
          <p:cNvPicPr>
            <a:picLocks xmlns:a="http://schemas.openxmlformats.org/drawingml/2006/main" noChangeAspect="1"/>
          </p:cNvPicPr>
          <p:nvPr/>
        </p:nvPicPr>
        <p:blipFill>
          <a:blip xmlns:r="http://schemas.openxmlformats.org/officeDocument/2006/relationships" xmlns:a="http://schemas.openxmlformats.org/drawingml/2006/main" r:embed="R52a0c77a3687413f"/>
          <a:stretch xmlns:a="http://schemas.openxmlformats.org/drawingml/2006/main"/>
        </p:blipFill>
        <p:spPr>
          <a:xfrm xmlns:a="http://schemas.openxmlformats.org/drawingml/2006/main">
            <a:off x="1439740" y="1524000"/>
            <a:ext cx="6264519" cy="2857500"/>
          </a:xfrm>
          <a:prstGeom xmlns:a="http://schemas.openxmlformats.org/drawingml/2006/main" prst="rect">
            <a:avLst/>
          </a:prstGeom>
        </p:spPr>
      </p:pic>
    </p:spTree>
    <p:extLst>
      <p:ext uri="{BB962C8B-B14F-4D97-AF65-F5344CB8AC3E}">
        <p14:creationId xmlns:p14="http://schemas.microsoft.com/office/powerpoint/2010/main" val="997179456"/>
      </p:ext>
    </p:extLst>
  </p:cSld>
</p:sld>
</file>

<file path=ppt/slides/slide2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D9F135-9C82-40C1-BBA2-44B8F3621E6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C899410E-4C04-4F40-95C4-6D51C8D5277A}"/>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품질 알림 기록</a:t>
            </a:r>
          </a:p>
        </p:txBody>
      </p:sp>
      <p:sp>
        <p:nvSpPr>
          <p:cNvPr id="3" name="">
            <a:extLst xmlns:a="http://schemas.openxmlformats.org/drawingml/2006/main">
              <a:ext uri="{FF2B5EF4-FFF2-40B4-BE49-F238E27FC236}">
                <a16:creationId xmlns:a16="http://schemas.microsoft.com/office/drawing/2014/main" id="{2D161B8F-D31D-409D-8B35-B33E6BEDB0F4}"/>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06:12:24 UTC · 종로구 품질 이벤트</a:t>
            </a:r>
          </a:p>
        </p:txBody>
      </p:sp>
      <p:sp>
        <p:nvSpPr>
          <p:cNvPr id="4" name="">
            <a:extLst xmlns:a="http://schemas.openxmlformats.org/drawingml/2006/main">
              <a:ext uri="{FF2B5EF4-FFF2-40B4-BE49-F238E27FC236}">
                <a16:creationId xmlns:a16="http://schemas.microsoft.com/office/drawing/2014/main" id="{9F2F7AEC-F499-440F-96A1-5FD1AEFCDD65}"/>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23</a:t>
            </a:r>
          </a:p>
        </p:txBody>
      </p:sp>
      <p:pic>
        <p:nvPicPr>
          <p:cNvPr id="5" name="">
            <a:extLst xmlns:a="http://schemas.openxmlformats.org/drawingml/2006/main">
              <a:ext uri="{FF2B5EF4-FFF2-40B4-BE49-F238E27FC236}">
                <a16:creationId xmlns:a16="http://schemas.microsoft.com/office/drawing/2014/main" id="{1ED9AEE0-1AC1-43D7-8B29-E5B8163F134B}"/>
              </a:ext>
            </a:extLst>
          </p:cNvPr>
          <p:cNvPicPr>
            <a:picLocks xmlns:a="http://schemas.openxmlformats.org/drawingml/2006/main" noChangeAspect="1"/>
          </p:cNvPicPr>
          <p:nvPr/>
        </p:nvPicPr>
        <p:blipFill>
          <a:blip xmlns:r="http://schemas.openxmlformats.org/officeDocument/2006/relationships" xmlns:a="http://schemas.openxmlformats.org/drawingml/2006/main" r:embed="Rdcd0e9cf25964ae1"/>
          <a:stretch xmlns:a="http://schemas.openxmlformats.org/drawingml/2006/main"/>
        </p:blipFill>
        <p:spPr>
          <a:xfrm xmlns:a="http://schemas.openxmlformats.org/drawingml/2006/main">
            <a:off x="571500" y="1743446"/>
            <a:ext cx="8001000" cy="74220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FE513C-402F-41DB-82E3-9BA5D093D602}"/>
              </a:ext>
            </a:extLst>
          </p:cNvPr>
          <p:cNvSpPr>
            <a:spLocks xmlns:a="http://schemas.openxmlformats.org/drawingml/2006/main" noGrp="1"/>
          </p:cNvSpPr>
          <p:nvPr/>
        </p:nvSpPr>
        <p:spPr>
          <a:xfrm xmlns:a="http://schemas.openxmlformats.org/drawingml/2006/main">
            <a:off x="571500" y="2981325"/>
            <a:ext cx="3667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86B"/>
                </a:solidFill>
                <a:latin typeface="NanumGothic"/>
                <a:ea typeface="NanumGothic"/>
                <a:cs typeface="NanumGothic"/>
              </a:defRPr>
            </a:defPPr>
          </a:lstStyle>
          <a:p xmlns:a="http://schemas.openxmlformats.org/drawingml/2006/main">
            <a:pPr>
              <a:buNone/>
              <a:defRPr sz="1575" b="0">
                <a:solidFill>
                  <a:srgbClr val="5C686B"/>
                </a:solidFill>
                <a:latin typeface="NanumGothic"/>
                <a:ea typeface="NanumGothic"/>
                <a:cs typeface="NanumGothic"/>
              </a:defRPr>
            </a:pPr>
            <a:r>
              <a:rPr sz="1575" b="0">
                <a:solidFill>
                  <a:srgbClr val="5C686B"/>
                </a:solidFill>
                <a:latin typeface="NanumGothic"/>
                <a:ea typeface="NanumGothic"/>
                <a:cs typeface="NanumGothic"/>
              </a:rPr>
              <a:t>최근 21일 예측 오차 (RMSE)</a:t>
            </a:r>
          </a:p>
        </p:txBody>
      </p:sp>
      <p:sp>
        <p:nvSpPr>
          <p:cNvPr id="7" name="">
            <a:extLst xmlns:a="http://schemas.openxmlformats.org/drawingml/2006/main">
              <a:ext uri="{FF2B5EF4-FFF2-40B4-BE49-F238E27FC236}">
                <a16:creationId xmlns:a16="http://schemas.microsoft.com/office/drawing/2014/main" id="{DD2A8787-5562-40F1-AA78-E0C1CAB51F64}"/>
              </a:ext>
            </a:extLst>
          </p:cNvPr>
          <p:cNvSpPr>
            <a:spLocks xmlns:a="http://schemas.openxmlformats.org/drawingml/2006/main" noGrp="1"/>
          </p:cNvSpPr>
          <p:nvPr/>
        </p:nvSpPr>
        <p:spPr>
          <a:xfrm xmlns:a="http://schemas.openxmlformats.org/drawingml/2006/main">
            <a:off x="571500" y="3352800"/>
            <a:ext cx="3667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007D68"/>
                </a:solidFill>
                <a:latin typeface="NanumGothic"/>
                <a:ea typeface="NanumGothic"/>
                <a:cs typeface="NanumGothic"/>
              </a:defRPr>
            </a:defPPr>
          </a:lstStyle>
          <a:p xmlns:a="http://schemas.openxmlformats.org/drawingml/2006/main">
            <a:pPr>
              <a:buNone/>
              <a:defRPr sz="3225" b="1">
                <a:solidFill>
                  <a:srgbClr val="007D68"/>
                </a:solidFill>
                <a:latin typeface="NanumGothic"/>
                <a:ea typeface="NanumGothic"/>
                <a:cs typeface="NanumGothic"/>
              </a:defRPr>
            </a:pPr>
            <a:r>
              <a:rPr sz="3225" b="1">
                <a:solidFill>
                  <a:srgbClr val="007D68"/>
                </a:solidFill>
                <a:latin typeface="NanumGothic"/>
                <a:ea typeface="NanumGothic"/>
                <a:cs typeface="NanumGothic"/>
              </a:rPr>
              <a:t>0.0549187</a:t>
            </a:r>
          </a:p>
        </p:txBody>
      </p:sp>
      <p:sp>
        <p:nvSpPr>
          <p:cNvPr id="8" name="">
            <a:extLst xmlns:a="http://schemas.openxmlformats.org/drawingml/2006/main">
              <a:ext uri="{FF2B5EF4-FFF2-40B4-BE49-F238E27FC236}">
                <a16:creationId xmlns:a16="http://schemas.microsoft.com/office/drawing/2014/main" id="{3D09C8BF-BC76-413B-9CFA-E92A3294B632}"/>
              </a:ext>
            </a:extLst>
          </p:cNvPr>
          <p:cNvSpPr>
            <a:spLocks xmlns:a="http://schemas.openxmlformats.org/drawingml/2006/main" noGrp="1"/>
          </p:cNvSpPr>
          <p:nvPr/>
        </p:nvSpPr>
        <p:spPr>
          <a:xfrm xmlns:a="http://schemas.openxmlformats.org/drawingml/2006/main">
            <a:off x="4953000" y="2981325"/>
            <a:ext cx="361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86B"/>
                </a:solidFill>
                <a:latin typeface="NanumGothic"/>
                <a:ea typeface="NanumGothic"/>
                <a:cs typeface="NanumGothic"/>
              </a:defRPr>
            </a:defPPr>
          </a:lstStyle>
          <a:p xmlns:a="http://schemas.openxmlformats.org/drawingml/2006/main">
            <a:pPr>
              <a:buNone/>
              <a:defRPr sz="1575" b="0">
                <a:solidFill>
                  <a:srgbClr val="5C686B"/>
                </a:solidFill>
                <a:latin typeface="NanumGothic"/>
                <a:ea typeface="NanumGothic"/>
                <a:cs typeface="NanumGothic"/>
              </a:defRPr>
            </a:pPr>
            <a:r>
              <a:rPr sz="1575" b="0">
                <a:solidFill>
                  <a:srgbClr val="5C686B"/>
                </a:solidFill>
                <a:latin typeface="NanumGothic"/>
                <a:ea typeface="NanumGothic"/>
                <a:cs typeface="NanumGothic"/>
              </a:rPr>
              <a:t>경보 기준</a:t>
            </a:r>
          </a:p>
        </p:txBody>
      </p:sp>
      <p:sp>
        <p:nvSpPr>
          <p:cNvPr id="9" name="">
            <a:extLst xmlns:a="http://schemas.openxmlformats.org/drawingml/2006/main">
              <a:ext uri="{FF2B5EF4-FFF2-40B4-BE49-F238E27FC236}">
                <a16:creationId xmlns:a16="http://schemas.microsoft.com/office/drawing/2014/main" id="{3C0F2438-8B12-47DF-AEFC-E578FB47B9EC}"/>
              </a:ext>
            </a:extLst>
          </p:cNvPr>
          <p:cNvSpPr>
            <a:spLocks xmlns:a="http://schemas.openxmlformats.org/drawingml/2006/main" noGrp="1"/>
          </p:cNvSpPr>
          <p:nvPr/>
        </p:nvSpPr>
        <p:spPr>
          <a:xfrm xmlns:a="http://schemas.openxmlformats.org/drawingml/2006/main">
            <a:off x="4953000" y="3352800"/>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222A2D"/>
                </a:solidFill>
                <a:latin typeface="NanumGothic"/>
                <a:ea typeface="NanumGothic"/>
                <a:cs typeface="NanumGothic"/>
              </a:defRPr>
            </a:defPPr>
          </a:lstStyle>
          <a:p xmlns:a="http://schemas.openxmlformats.org/drawingml/2006/main">
            <a:pPr>
              <a:buNone/>
              <a:defRPr sz="3225" b="1">
                <a:solidFill>
                  <a:srgbClr val="222A2D"/>
                </a:solidFill>
                <a:latin typeface="NanumGothic"/>
                <a:ea typeface="NanumGothic"/>
                <a:cs typeface="NanumGothic"/>
              </a:defRPr>
            </a:pPr>
            <a:r>
              <a:rPr sz="3225" b="1">
                <a:solidFill>
                  <a:srgbClr val="222A2D"/>
                </a:solidFill>
                <a:latin typeface="NanumGothic"/>
                <a:ea typeface="NanumGothic"/>
                <a:cs typeface="NanumGothic"/>
              </a:rPr>
              <a:t>0.0172312</a:t>
            </a:r>
          </a:p>
        </p:txBody>
      </p:sp>
      <p:sp>
        <p:nvSpPr>
          <p:cNvPr id="10" name="">
            <a:extLst xmlns:a="http://schemas.openxmlformats.org/drawingml/2006/main">
              <a:ext uri="{FF2B5EF4-FFF2-40B4-BE49-F238E27FC236}">
                <a16:creationId xmlns:a16="http://schemas.microsoft.com/office/drawing/2014/main" id="{43824AE2-D583-471F-AA37-D33296CC2394}"/>
              </a:ext>
            </a:extLst>
          </p:cNvPr>
          <p:cNvSpPr>
            <a:spLocks xmlns:a="http://schemas.openxmlformats.org/drawingml/2006/main" noGrp="1"/>
          </p:cNvSpPr>
          <p:nvPr/>
        </p:nvSpPr>
        <p:spPr>
          <a:xfrm xmlns:a="http://schemas.openxmlformats.org/drawingml/2006/main">
            <a:off x="571500" y="4114800"/>
            <a:ext cx="800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buNone/>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경보 기준 초과 · 재학습 요청 기록</a:t>
            </a:r>
          </a:p>
        </p:txBody>
      </p:sp>
    </p:spTree>
    <p:extLst>
      <p:ext uri="{BB962C8B-B14F-4D97-AF65-F5344CB8AC3E}">
        <p14:creationId xmlns:p14="http://schemas.microsoft.com/office/powerpoint/2010/main" val="231839209"/>
      </p:ext>
    </p:extLst>
  </p:cSld>
</p:sld>
</file>

<file path=ppt/slides/slide2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A674B1-7174-4C07-A9E4-392ABEF0AD4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773A643D-3C8F-42C8-B9F4-3F75867F0398}"/>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자동 재학습 작업 기록</a:t>
            </a:r>
          </a:p>
        </p:txBody>
      </p:sp>
      <p:sp>
        <p:nvSpPr>
          <p:cNvPr id="3" name="">
            <a:extLst xmlns:a="http://schemas.openxmlformats.org/drawingml/2006/main">
              <a:ext uri="{FF2B5EF4-FFF2-40B4-BE49-F238E27FC236}">
                <a16:creationId xmlns:a16="http://schemas.microsoft.com/office/drawing/2014/main" id="{2B7FF598-D5B6-44FA-9DCC-0EA154BA35EF}"/>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재학습 완료 후 후보 등록 · 새 정답으로 교체 판단</a:t>
            </a:r>
          </a:p>
        </p:txBody>
      </p:sp>
      <p:sp>
        <p:nvSpPr>
          <p:cNvPr id="4" name="">
            <a:extLst xmlns:a="http://schemas.openxmlformats.org/drawingml/2006/main">
              <a:ext uri="{FF2B5EF4-FFF2-40B4-BE49-F238E27FC236}">
                <a16:creationId xmlns:a16="http://schemas.microsoft.com/office/drawing/2014/main" id="{822557DD-B3B0-4DAC-A1B2-D902AD0819E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24</a:t>
            </a:r>
          </a:p>
        </p:txBody>
      </p:sp>
      <p:pic>
        <p:nvPicPr>
          <p:cNvPr id="5" name="">
            <a:extLst xmlns:a="http://schemas.openxmlformats.org/drawingml/2006/main">
              <a:ext uri="{FF2B5EF4-FFF2-40B4-BE49-F238E27FC236}">
                <a16:creationId xmlns:a16="http://schemas.microsoft.com/office/drawing/2014/main" id="{11F6D806-0015-49E6-859B-E8AB8A9DE9F6}"/>
              </a:ext>
            </a:extLst>
          </p:cNvPr>
          <p:cNvPicPr>
            <a:picLocks xmlns:a="http://schemas.openxmlformats.org/drawingml/2006/main" noChangeAspect="1"/>
          </p:cNvPicPr>
          <p:nvPr/>
        </p:nvPicPr>
        <p:blipFill>
          <a:blip xmlns:r="http://schemas.openxmlformats.org/officeDocument/2006/relationships" xmlns:a="http://schemas.openxmlformats.org/drawingml/2006/main" r:embed="R5e39655a994c4514"/>
          <a:stretch xmlns:a="http://schemas.openxmlformats.org/drawingml/2006/main"/>
        </p:blipFill>
        <p:spPr>
          <a:xfrm xmlns:a="http://schemas.openxmlformats.org/drawingml/2006/main">
            <a:off x="739863" y="1476375"/>
            <a:ext cx="4425773" cy="3000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3EFFCC3-0BB1-4EFA-87D8-503181643B76}"/>
              </a:ext>
            </a:extLst>
          </p:cNvPr>
          <p:cNvSpPr>
            <a:spLocks xmlns:a="http://schemas.openxmlformats.org/drawingml/2006/main" noGrp="1"/>
          </p:cNvSpPr>
          <p:nvPr/>
        </p:nvSpPr>
        <p:spPr>
          <a:xfrm xmlns:a="http://schemas.openxmlformats.org/drawingml/2006/main">
            <a:off x="5762625" y="1781175"/>
            <a:ext cx="2809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07D68"/>
                </a:solidFill>
                <a:latin typeface="NanumGothic"/>
                <a:ea typeface="NanumGothic"/>
                <a:cs typeface="NanumGothic"/>
              </a:defRPr>
            </a:defPPr>
          </a:lstStyle>
          <a:p xmlns:a="http://schemas.openxmlformats.org/drawingml/2006/main">
            <a:pPr>
              <a:buNone/>
              <a:defRPr sz="2100" b="1">
                <a:solidFill>
                  <a:srgbClr val="007D68"/>
                </a:solidFill>
                <a:latin typeface="NanumGothic"/>
                <a:ea typeface="NanumGothic"/>
                <a:cs typeface="NanumGothic"/>
              </a:defRPr>
            </a:pPr>
            <a:r>
              <a:rPr sz="2100" b="1">
                <a:solidFill>
                  <a:srgbClr val="007D68"/>
                </a:solidFill>
                <a:latin typeface="NanumGothic"/>
                <a:ea typeface="NanumGothic"/>
                <a:cs typeface="NanumGothic"/>
              </a:rPr>
              <a:t>fine_tune 완료</a:t>
            </a:r>
          </a:p>
        </p:txBody>
      </p:sp>
      <p:sp>
        <p:nvSpPr>
          <p:cNvPr id="7" name="">
            <a:extLst xmlns:a="http://schemas.openxmlformats.org/drawingml/2006/main">
              <a:ext uri="{FF2B5EF4-FFF2-40B4-BE49-F238E27FC236}">
                <a16:creationId xmlns:a16="http://schemas.microsoft.com/office/drawing/2014/main" id="{A089409F-A2EC-42DF-9B7F-8009C72FEC50}"/>
              </a:ext>
            </a:extLst>
          </p:cNvPr>
          <p:cNvSpPr>
            <a:spLocks xmlns:a="http://schemas.openxmlformats.org/drawingml/2006/main" noGrp="1"/>
          </p:cNvSpPr>
          <p:nvPr/>
        </p:nvSpPr>
        <p:spPr>
          <a:xfrm xmlns:a="http://schemas.openxmlformats.org/drawingml/2006/main">
            <a:off x="5762625" y="2476500"/>
            <a:ext cx="2809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후보 모델 v2</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기존 서빙 v1 유지</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후속 정답 30일 평가 대기</a:t>
            </a:r>
          </a:p>
        </p:txBody>
      </p:sp>
    </p:spTree>
    <p:extLst>
      <p:ext uri="{BB962C8B-B14F-4D97-AF65-F5344CB8AC3E}">
        <p14:creationId xmlns:p14="http://schemas.microsoft.com/office/powerpoint/2010/main" val="802299954"/>
      </p:ext>
    </p:extLst>
  </p:cSld>
</p:sld>
</file>

<file path=ppt/slides/slide2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9DB9D4-06F4-481D-A0A1-D97AEEA1CD02}"/>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1FD3AF60-970B-4143-8AB9-E1F4DC54A9CE}"/>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후속 평가: 예측 오차 9.27% 감소</a:t>
            </a:r>
          </a:p>
        </p:txBody>
      </p:sp>
      <p:sp>
        <p:nvSpPr>
          <p:cNvPr id="3" name="">
            <a:extLst xmlns:a="http://schemas.openxmlformats.org/drawingml/2006/main">
              <a:ext uri="{FF2B5EF4-FFF2-40B4-BE49-F238E27FC236}">
                <a16:creationId xmlns:a16="http://schemas.microsoft.com/office/drawing/2014/main" id="{E50BECDC-3E25-40E5-A754-B6737D5C18DC}"/>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동일 후속 정답 30일 비교 · 합성 시연</a:t>
            </a:r>
          </a:p>
        </p:txBody>
      </p:sp>
      <p:sp>
        <p:nvSpPr>
          <p:cNvPr id="4" name="">
            <a:extLst xmlns:a="http://schemas.openxmlformats.org/drawingml/2006/main">
              <a:ext uri="{FF2B5EF4-FFF2-40B4-BE49-F238E27FC236}">
                <a16:creationId xmlns:a16="http://schemas.microsoft.com/office/drawing/2014/main" id="{F6907B54-99C8-448E-8256-C639D15B1738}"/>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25</a:t>
            </a:r>
          </a:p>
        </p:txBody>
      </p:sp>
      <p:pic>
        <p:nvPicPr>
          <p:cNvPr id="5" name="">
            <a:extLst xmlns:a="http://schemas.openxmlformats.org/drawingml/2006/main">
              <a:ext uri="{FF2B5EF4-FFF2-40B4-BE49-F238E27FC236}">
                <a16:creationId xmlns:a16="http://schemas.microsoft.com/office/drawing/2014/main" id="{D579BBAC-E6CB-4E37-B5A2-3F24049E7AD6}"/>
              </a:ext>
            </a:extLst>
          </p:cNvPr>
          <p:cNvPicPr>
            <a:picLocks xmlns:a="http://schemas.openxmlformats.org/drawingml/2006/main" noChangeAspect="1"/>
          </p:cNvPicPr>
          <p:nvPr/>
        </p:nvPicPr>
        <p:blipFill>
          <a:blip xmlns:r="http://schemas.openxmlformats.org/officeDocument/2006/relationships" xmlns:a="http://schemas.openxmlformats.org/drawingml/2006/main" r:embed="R8325af6d39864abb"/>
          <a:stretch xmlns:a="http://schemas.openxmlformats.org/drawingml/2006/main"/>
        </p:blipFill>
        <p:spPr>
          <a:xfrm xmlns:a="http://schemas.openxmlformats.org/drawingml/2006/main">
            <a:off x="1643529" y="1438275"/>
            <a:ext cx="5856941" cy="3048000"/>
          </a:xfrm>
          <a:prstGeom xmlns:a="http://schemas.openxmlformats.org/drawingml/2006/main" prst="rect">
            <a:avLst/>
          </a:prstGeom>
        </p:spPr>
      </p:pic>
    </p:spTree>
    <p:extLst>
      <p:ext uri="{BB962C8B-B14F-4D97-AF65-F5344CB8AC3E}">
        <p14:creationId xmlns:p14="http://schemas.microsoft.com/office/powerpoint/2010/main" val="1083526852"/>
      </p:ext>
    </p:extLst>
  </p:cSld>
</p:sld>
</file>

<file path=ppt/slides/slide2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630C55-010C-4CD8-A1AF-1C1F2E7727C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C11D3262-230C-4DD8-A16F-C754AFB636A0}"/>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게이트 통과 후: v2 실제 서빙</a:t>
            </a:r>
          </a:p>
        </p:txBody>
      </p:sp>
      <p:sp>
        <p:nvSpPr>
          <p:cNvPr id="3" name="">
            <a:extLst xmlns:a="http://schemas.openxmlformats.org/drawingml/2006/main">
              <a:ext uri="{FF2B5EF4-FFF2-40B4-BE49-F238E27FC236}">
                <a16:creationId xmlns:a16="http://schemas.microsoft.com/office/drawing/2014/main" id="{AD154AAA-AE65-4117-9BA1-8B645769A506}"/>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같은 시연 세션 · 평가 통과 → 교체 → 실제 응답 버전 확인</a:t>
            </a:r>
          </a:p>
        </p:txBody>
      </p:sp>
      <p:sp>
        <p:nvSpPr>
          <p:cNvPr id="4" name="">
            <a:extLst xmlns:a="http://schemas.openxmlformats.org/drawingml/2006/main">
              <a:ext uri="{FF2B5EF4-FFF2-40B4-BE49-F238E27FC236}">
                <a16:creationId xmlns:a16="http://schemas.microsoft.com/office/drawing/2014/main" id="{22A081A4-C2FA-475E-81C5-015AF34C5383}"/>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26</a:t>
            </a:r>
          </a:p>
        </p:txBody>
      </p:sp>
      <p:pic>
        <p:nvPicPr>
          <p:cNvPr id="5" name="">
            <a:extLst xmlns:a="http://schemas.openxmlformats.org/drawingml/2006/main">
              <a:ext uri="{FF2B5EF4-FFF2-40B4-BE49-F238E27FC236}">
                <a16:creationId xmlns:a16="http://schemas.microsoft.com/office/drawing/2014/main" id="{ECC0045D-E6EE-4BDB-8AA1-94C1942C3534}"/>
              </a:ext>
            </a:extLst>
          </p:cNvPr>
          <p:cNvPicPr>
            <a:picLocks xmlns:a="http://schemas.openxmlformats.org/drawingml/2006/main" noChangeAspect="1"/>
          </p:cNvPicPr>
          <p:nvPr/>
        </p:nvPicPr>
        <p:blipFill>
          <a:blip xmlns:r="http://schemas.openxmlformats.org/officeDocument/2006/relationships" xmlns:a="http://schemas.openxmlformats.org/drawingml/2006/main" r:embed="Rdf56bed142234368"/>
          <a:stretch xmlns:a="http://schemas.openxmlformats.org/drawingml/2006/main"/>
        </p:blipFill>
        <p:spPr>
          <a:xfrm xmlns:a="http://schemas.openxmlformats.org/drawingml/2006/main">
            <a:off x="1439740" y="1524000"/>
            <a:ext cx="6264519" cy="2857500"/>
          </a:xfrm>
          <a:prstGeom xmlns:a="http://schemas.openxmlformats.org/drawingml/2006/main" prst="rect">
            <a:avLst/>
          </a:prstGeom>
        </p:spPr>
      </p:pic>
    </p:spTree>
    <p:extLst>
      <p:ext uri="{BB962C8B-B14F-4D97-AF65-F5344CB8AC3E}">
        <p14:creationId xmlns:p14="http://schemas.microsoft.com/office/powerpoint/2010/main" val="1196959055"/>
      </p:ext>
    </p:extLst>
  </p:cSld>
</p:sld>
</file>

<file path=ppt/slides/slide2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79E716-0C2F-4FEF-A186-D16196D18E1E}"/>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378ED018-0E00-42BB-BE3B-E35A4687DFC4}"/>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요청 후: v2 예측</a:t>
            </a:r>
          </a:p>
        </p:txBody>
      </p:sp>
      <p:sp>
        <p:nvSpPr>
          <p:cNvPr id="3" name="">
            <a:extLst xmlns:a="http://schemas.openxmlformats.org/drawingml/2006/main">
              <a:ext uri="{FF2B5EF4-FFF2-40B4-BE49-F238E27FC236}">
                <a16:creationId xmlns:a16="http://schemas.microsoft.com/office/drawing/2014/main" id="{1011063F-6651-4323-8624-20405080899F}"/>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종로구 · 동일 시연 세션 6d00ba · 날짜 진행 후 응답</a:t>
            </a:r>
          </a:p>
        </p:txBody>
      </p:sp>
      <p:sp>
        <p:nvSpPr>
          <p:cNvPr id="4" name="">
            <a:extLst xmlns:a="http://schemas.openxmlformats.org/drawingml/2006/main">
              <a:ext uri="{FF2B5EF4-FFF2-40B4-BE49-F238E27FC236}">
                <a16:creationId xmlns:a16="http://schemas.microsoft.com/office/drawing/2014/main" id="{ED1AD684-BD4F-45ED-B406-6CBA676D8831}"/>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27</a:t>
            </a:r>
          </a:p>
        </p:txBody>
      </p:sp>
      <p:pic>
        <p:nvPicPr>
          <p:cNvPr id="5" name="">
            <a:extLst xmlns:a="http://schemas.openxmlformats.org/drawingml/2006/main">
              <a:ext uri="{FF2B5EF4-FFF2-40B4-BE49-F238E27FC236}">
                <a16:creationId xmlns:a16="http://schemas.microsoft.com/office/drawing/2014/main" id="{28A5214B-570A-4742-BE1B-111CDB0DC2C4}"/>
              </a:ext>
            </a:extLst>
          </p:cNvPr>
          <p:cNvPicPr>
            <a:picLocks xmlns:a="http://schemas.openxmlformats.org/drawingml/2006/main" noChangeAspect="1"/>
          </p:cNvPicPr>
          <p:nvPr/>
        </p:nvPicPr>
        <p:blipFill>
          <a:blip xmlns:r="http://schemas.openxmlformats.org/officeDocument/2006/relationships" xmlns:a="http://schemas.openxmlformats.org/drawingml/2006/main" r:embed="Raadd076752c1451b"/>
          <a:stretch xmlns:a="http://schemas.openxmlformats.org/drawingml/2006/main"/>
        </p:blipFill>
        <p:spPr>
          <a:xfrm xmlns:a="http://schemas.openxmlformats.org/drawingml/2006/main">
            <a:off x="1140554" y="1447800"/>
            <a:ext cx="2100392" cy="3067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430ED93-3EFC-40B5-95EE-2B4C4009A082}"/>
              </a:ext>
            </a:extLst>
          </p:cNvPr>
          <p:cNvSpPr>
            <a:spLocks xmlns:a="http://schemas.openxmlformats.org/drawingml/2006/main" noGrp="1"/>
          </p:cNvSpPr>
          <p:nvPr/>
        </p:nvSpPr>
        <p:spPr>
          <a:xfrm xmlns:a="http://schemas.openxmlformats.org/drawingml/2006/main">
            <a:off x="4429125" y="170497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007D68"/>
                </a:solidFill>
                <a:latin typeface="NanumGothic"/>
                <a:ea typeface="NanumGothic"/>
                <a:cs typeface="NanumGothic"/>
              </a:defRPr>
            </a:defPPr>
          </a:lstStyle>
          <a:p xmlns:a="http://schemas.openxmlformats.org/drawingml/2006/main">
            <a:pPr>
              <a:buNone/>
              <a:defRPr sz="2550" b="1">
                <a:solidFill>
                  <a:srgbClr val="007D68"/>
                </a:solidFill>
                <a:latin typeface="NanumGothic"/>
                <a:ea typeface="NanumGothic"/>
                <a:cs typeface="NanumGothic"/>
              </a:defRPr>
            </a:pPr>
            <a:r>
              <a:rPr sz="2550" b="1">
                <a:solidFill>
                  <a:srgbClr val="007D68"/>
                </a:solidFill>
                <a:latin typeface="NanumGothic"/>
                <a:ea typeface="NanumGothic"/>
                <a:cs typeface="NanumGothic"/>
              </a:rPr>
              <a:t>모델 v2</a:t>
            </a:r>
          </a:p>
        </p:txBody>
      </p:sp>
      <p:sp>
        <p:nvSpPr>
          <p:cNvPr id="7" name="">
            <a:extLst xmlns:a="http://schemas.openxmlformats.org/drawingml/2006/main">
              <a:ext uri="{FF2B5EF4-FFF2-40B4-BE49-F238E27FC236}">
                <a16:creationId xmlns:a16="http://schemas.microsoft.com/office/drawing/2014/main" id="{5621E9F2-8174-4774-AC40-CA5EE9245C8B}"/>
              </a:ext>
            </a:extLst>
          </p:cNvPr>
          <p:cNvSpPr>
            <a:spLocks xmlns:a="http://schemas.openxmlformats.org/drawingml/2006/main" noGrp="1"/>
          </p:cNvSpPr>
          <p:nvPr/>
        </p:nvSpPr>
        <p:spPr>
          <a:xfrm xmlns:a="http://schemas.openxmlformats.org/drawingml/2006/main">
            <a:off x="4429125" y="2466975"/>
            <a:ext cx="4143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예측 대상일 2026-09-02</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예측 수위 -21.4740370 gl.-m</a:t>
            </a:r>
          </a:p>
          <a:p xmlns:a="http://schemas.openxmlformats.org/drawingml/2006/main">
            <a:pPr>
              <a:buNone/>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교체한 모델의 실제 응답 확인</a:t>
            </a:r>
          </a:p>
        </p:txBody>
      </p:sp>
    </p:spTree>
    <p:extLst>
      <p:ext uri="{BB962C8B-B14F-4D97-AF65-F5344CB8AC3E}">
        <p14:creationId xmlns:p14="http://schemas.microsoft.com/office/powerpoint/2010/main" val="769737299"/>
      </p:ext>
    </p:extLst>
  </p:cSld>
</p:sld>
</file>

<file path=ppt/slides/slide2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E92035-94D7-4F70-9460-650A0903BB8A}"/>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⑥ 기존 서울 합성 시연의 실제 실행 화면</a:t>
            </a:r>
          </a:p>
        </p:txBody>
      </p:sp>
      <p:sp>
        <p:nvSpPr>
          <p:cNvPr id="2" name="">
            <a:extLst xmlns:a="http://schemas.openxmlformats.org/drawingml/2006/main">
              <a:ext uri="{FF2B5EF4-FFF2-40B4-BE49-F238E27FC236}">
                <a16:creationId xmlns:a16="http://schemas.microsoft.com/office/drawing/2014/main" id="{BD18F104-6F6C-4AC8-A167-7D4B6022F021}"/>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관측일별 일 강수량</a:t>
            </a:r>
          </a:p>
        </p:txBody>
      </p:sp>
      <p:sp>
        <p:nvSpPr>
          <p:cNvPr id="3" name="">
            <a:extLst xmlns:a="http://schemas.openxmlformats.org/drawingml/2006/main">
              <a:ext uri="{FF2B5EF4-FFF2-40B4-BE49-F238E27FC236}">
                <a16:creationId xmlns:a16="http://schemas.microsoft.com/office/drawing/2014/main" id="{9E0596A7-7E8D-4C5B-B3DC-EF1B5FB69B7F}"/>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0mm는 점 · 결측은 빈칸 · 긴 기간은 가로 이동</a:t>
            </a:r>
          </a:p>
        </p:txBody>
      </p:sp>
      <p:sp>
        <p:nvSpPr>
          <p:cNvPr id="4" name="">
            <a:extLst xmlns:a="http://schemas.openxmlformats.org/drawingml/2006/main">
              <a:ext uri="{FF2B5EF4-FFF2-40B4-BE49-F238E27FC236}">
                <a16:creationId xmlns:a16="http://schemas.microsoft.com/office/drawing/2014/main" id="{00C0D588-E3F3-4BE0-9328-C741389826DB}"/>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28</a:t>
            </a:r>
          </a:p>
        </p:txBody>
      </p:sp>
      <p:pic>
        <p:nvPicPr>
          <p:cNvPr id="5" name="">
            <a:extLst xmlns:a="http://schemas.openxmlformats.org/drawingml/2006/main">
              <a:ext uri="{FF2B5EF4-FFF2-40B4-BE49-F238E27FC236}">
                <a16:creationId xmlns:a16="http://schemas.microsoft.com/office/drawing/2014/main" id="{7709B1C5-1712-492D-A505-C28B8E2474A2}"/>
              </a:ext>
            </a:extLst>
          </p:cNvPr>
          <p:cNvPicPr>
            <a:picLocks xmlns:a="http://schemas.openxmlformats.org/drawingml/2006/main" noChangeAspect="1"/>
          </p:cNvPicPr>
          <p:nvPr/>
        </p:nvPicPr>
        <p:blipFill>
          <a:blip xmlns:r="http://schemas.openxmlformats.org/officeDocument/2006/relationships" xmlns:a="http://schemas.openxmlformats.org/drawingml/2006/main" r:embed="Rfff5d1cd1d234f7c"/>
          <a:stretch xmlns:a="http://schemas.openxmlformats.org/drawingml/2006/main"/>
        </p:blipFill>
        <p:spPr>
          <a:xfrm xmlns:a="http://schemas.openxmlformats.org/drawingml/2006/main">
            <a:off x="680723" y="1495425"/>
            <a:ext cx="7782554" cy="2952750"/>
          </a:xfrm>
          <a:prstGeom xmlns:a="http://schemas.openxmlformats.org/drawingml/2006/main" prst="rect">
            <a:avLst/>
          </a:prstGeom>
        </p:spPr>
      </p:pic>
    </p:spTree>
    <p:extLst>
      <p:ext uri="{BB962C8B-B14F-4D97-AF65-F5344CB8AC3E}">
        <p14:creationId xmlns:p14="http://schemas.microsoft.com/office/powerpoint/2010/main" val="31996118"/>
      </p:ext>
    </p:extLst>
  </p:cSld>
</p:sld>
</file>

<file path=ppt/slides/slide2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A54DE3-FDE1-4F26-BE9C-7B15B71357B8}"/>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4CC6CF9A-EA19-47B4-9933-7E4D5E79DFCA}"/>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서울 관제·전국 실측·합성 시뮬레이션</a:t>
            </a:r>
          </a:p>
        </p:txBody>
      </p:sp>
      <p:sp>
        <p:nvSpPr>
          <p:cNvPr id="3" name="">
            <a:extLst xmlns:a="http://schemas.openxmlformats.org/drawingml/2006/main">
              <a:ext uri="{FF2B5EF4-FFF2-40B4-BE49-F238E27FC236}">
                <a16:creationId xmlns:a16="http://schemas.microsoft.com/office/drawing/2014/main" id="{BC5ACDDC-FBBF-461B-BE3B-5149020957EE}"/>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pic>
        <p:nvPicPr>
          <p:cNvPr id="4" name="">
            <a:extLst xmlns:a="http://schemas.openxmlformats.org/drawingml/2006/main">
              <a:ext uri="{FF2B5EF4-FFF2-40B4-BE49-F238E27FC236}">
                <a16:creationId xmlns:a16="http://schemas.microsoft.com/office/drawing/2014/main" id="{7CF4274A-7BB9-4B88-8931-01AD1A31E629}"/>
              </a:ext>
            </a:extLst>
          </p:cNvPr>
          <p:cNvPicPr>
            <a:picLocks xmlns:a="http://schemas.openxmlformats.org/drawingml/2006/main" noChangeAspect="1"/>
          </p:cNvPicPr>
          <p:nvPr/>
        </p:nvPicPr>
        <p:blipFill>
          <a:blip xmlns:r="http://schemas.openxmlformats.org/officeDocument/2006/relationships" xmlns:a="http://schemas.openxmlformats.org/drawingml/2006/main" r:embed="R639e5ffc25134bcc"/>
          <a:stretch xmlns:a="http://schemas.openxmlformats.org/drawingml/2006/main"/>
        </p:blipFill>
        <p:spPr>
          <a:xfrm xmlns:a="http://schemas.openxmlformats.org/drawingml/2006/main">
            <a:off x="1670355" y="1504950"/>
            <a:ext cx="5803290" cy="2895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9F634E7-B559-44DC-83B2-865A8A9A1AE7}"/>
              </a:ext>
            </a:extLst>
          </p:cNvPr>
          <p:cNvSpPr>
            <a:spLocks xmlns:a="http://schemas.openxmlformats.org/drawingml/2006/main" noGrp="1"/>
          </p:cNvSpPr>
          <p:nvPr/>
        </p:nvSpPr>
        <p:spPr>
          <a:xfrm xmlns:a="http://schemas.openxmlformats.org/drawingml/2006/main">
            <a:off x="571500" y="4429125"/>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NanumGothic"/>
                <a:ea typeface="NanumGothic"/>
                <a:cs typeface="NanumGothic"/>
              </a:defRPr>
            </a:defPPr>
          </a:lstStyle>
          <a:p xmlns:a="http://schemas.openxmlformats.org/drawingml/2006/main">
            <a:pPr>
              <a:defRPr sz="1425" b="1">
                <a:solidFill>
                  <a:srgbClr val="007D68"/>
                </a:solidFill>
                <a:latin typeface="NanumGothic"/>
                <a:ea typeface="NanumGothic"/>
                <a:cs typeface="NanumGothic"/>
              </a:defRPr>
            </a:pPr>
            <a:r>
              <a:rPr sz="1425" b="1">
                <a:solidFill>
                  <a:srgbClr val="007D68"/>
                </a:solidFill>
                <a:latin typeface="NanumGothic"/>
                <a:ea typeface="NanumGothic"/>
                <a:cs typeface="NanumGothic"/>
              </a:rPr>
              <a:t>서울25 기본 · 전국 실측3 · 전국17시도 합성 모드</a:t>
            </a:r>
          </a:p>
        </p:txBody>
      </p:sp>
    </p:spTree>
    <p:extLst>
      <p:ext uri="{BB962C8B-B14F-4D97-AF65-F5344CB8AC3E}">
        <p14:creationId xmlns:p14="http://schemas.microsoft.com/office/powerpoint/2010/main" val="1884767799"/>
      </p:ext>
    </p:extLst>
  </p:cSld>
</p:sld>
</file>

<file path=ppt/slides/slide3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0BFF3D-D937-4A42-974A-328B07F2968C}"/>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5C394CE5-9977-4137-9850-615C85B8AC36}"/>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전국 데이터 확보 범위</a:t>
            </a:r>
          </a:p>
        </p:txBody>
      </p:sp>
      <p:sp>
        <p:nvSpPr>
          <p:cNvPr id="3" name="">
            <a:extLst xmlns:a="http://schemas.openxmlformats.org/drawingml/2006/main">
              <a:ext uri="{FF2B5EF4-FFF2-40B4-BE49-F238E27FC236}">
                <a16:creationId xmlns:a16="http://schemas.microsoft.com/office/drawing/2014/main" id="{AABA3994-1838-49E7-9EB1-1E43B00ED7B9}"/>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graphicFrame>
        <p:nvGraphicFramePr>
          <p:cNvPr id="4" name="">
            <a:extLst xmlns:a="http://schemas.openxmlformats.org/drawingml/2006/main">
              <a:ext uri="{FF2B5EF4-FFF2-40B4-BE49-F238E27FC236}">
                <a16:creationId xmlns:a16="http://schemas.microsoft.com/office/drawing/2014/main" id="{8BD2BA10-200B-4994-A844-DA46651C51F0}"/>
              </a:ext>
            </a:extLst>
          </p:cNvPr>
          <p:cNvGraphicFramePr/>
          <p:nvPr/>
        </p:nvGraphicFramePr>
        <p:xfrm>
          <a:off xmlns:a="http://schemas.openxmlformats.org/drawingml/2006/main" x="571500" y="1543050"/>
          <a:ext xmlns:a="http://schemas.openxmlformats.org/drawingml/2006/main" cx="8001000" cy="2743200"/>
        </p:xfrm>
        <a:graphic xmlns:a="http://schemas.openxmlformats.org/drawingml/2006/main">
          <a:graphicData uri="http://schemas.openxmlformats.org/drawingml/2006/table">
            <a:tbl>
              <a:tblPr/>
              <a:tblGrid>
                <a:gridCol w="1571625"/>
                <a:gridCol w="3333750"/>
                <a:gridCol w="3095625"/>
              </a:tblGrid>
              <a:tr h="548640">
                <a:tc>
                  <a:txBody>
                    <a:bodyPr/>
                    <a:lstStyle/>
                    <a:p>
                      <a:r>
                        <a:rPr sz="1500" b="1">
                          <a:solidFill>
                            <a:srgbClr val="007D68"/>
                          </a:solidFill>
                          <a:latin typeface="NanumGothic"/>
                          <a:ea typeface="NanumGothic"/>
                          <a:cs typeface="NanumGothic"/>
                        </a:rPr>
                        <a:t>자료</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확보 범위</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사용</a:t>
                      </a:r>
                    </a:p>
                  </a:txBody>
                  <a:tcPr marL="91440" marR="91440" marT="45720" marB="45720">
                    <a:solidFill>
                      <a:srgbClr val="E7EFEB"/>
                    </a:solidFill>
                  </a:tcPr>
                </a:tc>
              </a:tr>
              <a:tr h="548640">
                <a:tc>
                  <a:txBody>
                    <a:bodyPr/>
                    <a:lstStyle/>
                    <a:p>
                      <a:r>
                        <a:rPr sz="1500" b="0">
                          <a:solidFill>
                            <a:srgbClr val="222A2D"/>
                          </a:solidFill>
                          <a:latin typeface="NanumGothic"/>
                          <a:ea typeface="NanumGothic"/>
                          <a:cs typeface="NanumGothic"/>
                        </a:rPr>
                        <a:t>서울 기본 관제</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실측22,582행 ~9/30</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10/1 합성 · 모델23/25</a:t>
                      </a:r>
                    </a:p>
                  </a:txBody>
                  <a:tcPr marL="91440" marR="91440" marT="45720" marB="45720">
                    <a:solidFill>
                      <a:srgbClr val="FAFBF9"/>
                    </a:solidFill>
                  </a:tcPr>
                </a:tc>
              </a:tr>
              <a:tr h="548640">
                <a:tc>
                  <a:txBody>
                    <a:bodyPr/>
                    <a:lstStyle/>
                    <a:p>
                      <a:r>
                        <a:rPr sz="1500" b="0">
                          <a:solidFill>
                            <a:srgbClr val="222A2D"/>
                          </a:solidFill>
                          <a:latin typeface="NanumGothic"/>
                          <a:ea typeface="NanumGothic"/>
                          <a:cs typeface="NanumGothic"/>
                        </a:rPr>
                        <a:t>전국 추가 실측</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3곳 × 연속 280일</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LSTM 1 · 비교 기준 2</a:t>
                      </a:r>
                    </a:p>
                  </a:txBody>
                  <a:tcPr marL="91440" marR="91440" marT="45720" marB="45720">
                    <a:solidFill>
                      <a:srgbClr val="F2F6F3"/>
                    </a:solidFill>
                  </a:tcPr>
                </a:tc>
              </a:tr>
              <a:tr h="548640">
                <a:tc>
                  <a:txBody>
                    <a:bodyPr/>
                    <a:lstStyle/>
                    <a:p>
                      <a:r>
                        <a:rPr sz="1500" b="0">
                          <a:solidFill>
                            <a:srgbClr val="222A2D"/>
                          </a:solidFill>
                          <a:latin typeface="NanumGothic"/>
                          <a:ea typeface="NanumGothic"/>
                          <a:cs typeface="NanumGothic"/>
                        </a:rPr>
                        <a:t>전국 합성 모드</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17시도 · 29,597행 합성</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LSTM16 · 비교 기준1</a:t>
                      </a:r>
                    </a:p>
                  </a:txBody>
                  <a:tcPr marL="91440" marR="91440" marT="45720" marB="45720">
                    <a:solidFill>
                      <a:srgbClr val="FAFBF9"/>
                    </a:solidFill>
                  </a:tcPr>
                </a:tc>
              </a:tr>
              <a:tr h="548640">
                <a:tc>
                  <a:txBody>
                    <a:bodyPr/>
                    <a:lstStyle/>
                    <a:p>
                      <a:r>
                        <a:rPr sz="1500" b="0">
                          <a:solidFill>
                            <a:srgbClr val="222A2D"/>
                          </a:solidFill>
                          <a:latin typeface="NanumGothic"/>
                          <a:ea typeface="NanumGothic"/>
                          <a:cs typeface="NanumGothic"/>
                        </a:rPr>
                        <a:t>장마 통계</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66지점 × 54년</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장마·비장마 평가</a:t>
                      </a:r>
                    </a:p>
                  </a:txBody>
                  <a:tcPr marL="91440" marR="91440" marT="45720" marB="45720">
                    <a:solidFill>
                      <a:srgbClr val="F2F6F3"/>
                    </a:solidFill>
                  </a:tcPr>
                </a:tc>
              </a:tr>
            </a:tbl>
          </a:graphicData>
        </a:graphic>
      </p:graphicFrame>
      <p:sp>
        <p:nvSpPr>
          <p:cNvPr id="5" name="">
            <a:extLst xmlns:a="http://schemas.openxmlformats.org/drawingml/2006/main">
              <a:ext uri="{FF2B5EF4-FFF2-40B4-BE49-F238E27FC236}">
                <a16:creationId xmlns:a16="http://schemas.microsoft.com/office/drawing/2014/main" id="{F44BE916-AA42-42CF-A295-272329E31D4D}"/>
              </a:ext>
            </a:extLst>
          </p:cNvPr>
          <p:cNvSpPr>
            <a:spLocks xmlns:a="http://schemas.openxmlformats.org/drawingml/2006/main" noGrp="1"/>
          </p:cNvSpPr>
          <p:nvPr/>
        </p:nvSpPr>
        <p:spPr>
          <a:xfrm xmlns:a="http://schemas.openxmlformats.org/drawingml/2006/main">
            <a:off x="571500" y="4429125"/>
            <a:ext cx="800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07D68"/>
                </a:solidFill>
                <a:latin typeface="NanumGothic"/>
                <a:ea typeface="NanumGothic"/>
                <a:cs typeface="NanumGothic"/>
              </a:defRPr>
            </a:defPPr>
          </a:lstStyle>
          <a:p xmlns:a="http://schemas.openxmlformats.org/drawingml/2006/main">
            <a:pPr>
              <a:defRPr sz="1425" b="1">
                <a:solidFill>
                  <a:srgbClr val="007D68"/>
                </a:solidFill>
                <a:latin typeface="NanumGothic"/>
                <a:ea typeface="NanumGothic"/>
                <a:cs typeface="NanumGothic"/>
              </a:defRPr>
            </a:pPr>
            <a:r>
              <a:rPr sz="1425" b="1">
                <a:solidFill>
                  <a:srgbClr val="007D68"/>
                </a:solidFill>
                <a:latin typeface="NanumGothic"/>
                <a:ea typeface="NanumGothic"/>
                <a:cs typeface="NanumGothic"/>
              </a:rPr>
              <a:t>ASOS6년 원천 유효2,731 · 결측3,845일 · 결측0 채움 없음</a:t>
            </a:r>
          </a:p>
        </p:txBody>
      </p:sp>
    </p:spTree>
    <p:extLst>
      <p:ext uri="{BB962C8B-B14F-4D97-AF65-F5344CB8AC3E}">
        <p14:creationId xmlns:p14="http://schemas.microsoft.com/office/powerpoint/2010/main" val="1388992490"/>
      </p:ext>
    </p:extLst>
  </p:cSld>
</p:sld>
</file>

<file path=ppt/slides/slide3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EB00A8-BFE4-487F-9569-6E5A5E14FD17}"/>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37019B39-0301-436A-88CA-13125C23BDD9}"/>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단위와 관측소 연결 검증</a:t>
            </a:r>
          </a:p>
        </p:txBody>
      </p:sp>
      <p:sp>
        <p:nvSpPr>
          <p:cNvPr id="3" name="">
            <a:extLst xmlns:a="http://schemas.openxmlformats.org/drawingml/2006/main">
              <a:ext uri="{FF2B5EF4-FFF2-40B4-BE49-F238E27FC236}">
                <a16:creationId xmlns:a16="http://schemas.microsoft.com/office/drawing/2014/main" id="{85AC6B66-BCD7-4761-AB67-0606F60A6021}"/>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graphicFrame>
        <p:nvGraphicFramePr>
          <p:cNvPr id="4" name="">
            <a:extLst xmlns:a="http://schemas.openxmlformats.org/drawingml/2006/main">
              <a:ext uri="{FF2B5EF4-FFF2-40B4-BE49-F238E27FC236}">
                <a16:creationId xmlns:a16="http://schemas.microsoft.com/office/drawing/2014/main" id="{4B40F4FE-6ADD-42FC-BB0C-9B0E0FE44728}"/>
              </a:ext>
            </a:extLst>
          </p:cNvPr>
          <p:cNvGraphicFramePr/>
          <p:nvPr/>
        </p:nvGraphicFramePr>
        <p:xfrm>
          <a:off xmlns:a="http://schemas.openxmlformats.org/drawingml/2006/main" x="571500" y="1619250"/>
          <a:ext xmlns:a="http://schemas.openxmlformats.org/drawingml/2006/main" cx="8001000" cy="2076450"/>
        </p:xfrm>
        <a:graphic xmlns:a="http://schemas.openxmlformats.org/drawingml/2006/main">
          <a:graphicData uri="http://schemas.openxmlformats.org/drawingml/2006/table">
            <a:tbl>
              <a:tblPr/>
              <a:tblGrid>
                <a:gridCol w="2476500"/>
                <a:gridCol w="3143250"/>
                <a:gridCol w="2381250"/>
              </a:tblGrid>
              <a:tr h="519113">
                <a:tc>
                  <a:txBody>
                    <a:bodyPr/>
                    <a:lstStyle/>
                    <a:p>
                      <a:r>
                        <a:rPr sz="1650" b="1">
                          <a:solidFill>
                            <a:srgbClr val="007D68"/>
                          </a:solidFill>
                          <a:latin typeface="NanumGothic"/>
                          <a:ea typeface="NanumGothic"/>
                          <a:cs typeface="NanumGothic"/>
                        </a:rPr>
                        <a:t>지하수 관측소</a:t>
                      </a:r>
                    </a:p>
                  </a:txBody>
                  <a:tcPr marL="91440" marR="91440" marT="45720" marB="45720">
                    <a:solidFill>
                      <a:srgbClr val="E7EFEB"/>
                    </a:solidFill>
                  </a:tcPr>
                </a:tc>
                <a:tc>
                  <a:txBody>
                    <a:bodyPr/>
                    <a:lstStyle/>
                    <a:p>
                      <a:r>
                        <a:rPr sz="1650" b="1">
                          <a:solidFill>
                            <a:srgbClr val="007D68"/>
                          </a:solidFill>
                          <a:latin typeface="NanumGothic"/>
                          <a:ea typeface="NanumGothic"/>
                          <a:cs typeface="NanumGothic"/>
                        </a:rPr>
                        <a:t>기상 입력 지점</a:t>
                      </a:r>
                    </a:p>
                  </a:txBody>
                  <a:tcPr marL="91440" marR="91440" marT="45720" marB="45720">
                    <a:solidFill>
                      <a:srgbClr val="E7EFEB"/>
                    </a:solidFill>
                  </a:tcPr>
                </a:tc>
                <a:tc>
                  <a:txBody>
                    <a:bodyPr/>
                    <a:lstStyle/>
                    <a:p>
                      <a:r>
                        <a:rPr sz="1650" b="1">
                          <a:solidFill>
                            <a:srgbClr val="007D68"/>
                          </a:solidFill>
                          <a:latin typeface="NanumGothic"/>
                          <a:ea typeface="NanumGothic"/>
                          <a:cs typeface="NanumGothic"/>
                        </a:rPr>
                        <a:t>현재 승인</a:t>
                      </a:r>
                    </a:p>
                  </a:txBody>
                  <a:tcPr marL="91440" marR="91440" marT="45720" marB="45720">
                    <a:solidFill>
                      <a:srgbClr val="E7EFEB"/>
                    </a:solidFill>
                  </a:tcPr>
                </a:tc>
              </a:tr>
              <a:tr h="519113">
                <a:tc>
                  <a:txBody>
                    <a:bodyPr/>
                    <a:lstStyle/>
                    <a:p>
                      <a:r>
                        <a:rPr sz="1650" b="0">
                          <a:solidFill>
                            <a:srgbClr val="222A2D"/>
                          </a:solidFill>
                          <a:latin typeface="NanumGothic"/>
                          <a:ea typeface="NanumGothic"/>
                          <a:cs typeface="NanumGothic"/>
                        </a:rPr>
                        <a:t>광주도척</a:t>
                      </a:r>
                    </a:p>
                  </a:txBody>
                  <a:tcPr marL="91440" marR="91440" marT="45720" marB="45720">
                    <a:solidFill>
                      <a:srgbClr val="FAFBF9"/>
                    </a:solidFill>
                  </a:tcPr>
                </a:tc>
                <a:tc>
                  <a:txBody>
                    <a:bodyPr/>
                    <a:lstStyle/>
                    <a:p>
                      <a:r>
                        <a:rPr sz="1650" b="0">
                          <a:solidFill>
                            <a:srgbClr val="222A2D"/>
                          </a:solidFill>
                          <a:latin typeface="NanumGothic"/>
                          <a:ea typeface="NanumGothic"/>
                          <a:cs typeface="NanumGothic"/>
                        </a:rPr>
                        <a:t>ASOS 203 이천</a:t>
                      </a:r>
                    </a:p>
                  </a:txBody>
                  <a:tcPr marL="91440" marR="91440" marT="45720" marB="45720">
                    <a:solidFill>
                      <a:srgbClr val="FAFBF9"/>
                    </a:solidFill>
                  </a:tcPr>
                </a:tc>
                <a:tc>
                  <a:txBody>
                    <a:bodyPr/>
                    <a:lstStyle/>
                    <a:p>
                      <a:r>
                        <a:rPr sz="1650" b="0">
                          <a:solidFill>
                            <a:srgbClr val="222A2D"/>
                          </a:solidFill>
                          <a:latin typeface="NanumGothic"/>
                          <a:ea typeface="NanumGothic"/>
                          <a:cs typeface="NanumGothic"/>
                        </a:rPr>
                        <a:t>실험 연결</a:t>
                      </a:r>
                    </a:p>
                  </a:txBody>
                  <a:tcPr marL="91440" marR="91440" marT="45720" marB="45720">
                    <a:solidFill>
                      <a:srgbClr val="FAFBF9"/>
                    </a:solidFill>
                  </a:tcPr>
                </a:tc>
              </a:tr>
              <a:tr h="519113">
                <a:tc>
                  <a:txBody>
                    <a:bodyPr/>
                    <a:lstStyle/>
                    <a:p>
                      <a:r>
                        <a:rPr sz="1650" b="0">
                          <a:solidFill>
                            <a:srgbClr val="222A2D"/>
                          </a:solidFill>
                          <a:latin typeface="NanumGothic"/>
                          <a:ea typeface="NanumGothic"/>
                          <a:cs typeface="NanumGothic"/>
                        </a:rPr>
                        <a:t>무안무안</a:t>
                      </a:r>
                    </a:p>
                  </a:txBody>
                  <a:tcPr marL="91440" marR="91440" marT="45720" marB="45720">
                    <a:solidFill>
                      <a:srgbClr val="F2F6F3"/>
                    </a:solidFill>
                  </a:tcPr>
                </a:tc>
                <a:tc>
                  <a:txBody>
                    <a:bodyPr/>
                    <a:lstStyle/>
                    <a:p>
                      <a:r>
                        <a:rPr sz="1650" b="0">
                          <a:solidFill>
                            <a:srgbClr val="222A2D"/>
                          </a:solidFill>
                          <a:latin typeface="NanumGothic"/>
                          <a:ea typeface="NanumGothic"/>
                          <a:cs typeface="NanumGothic"/>
                        </a:rPr>
                        <a:t>ASOS 165 목포</a:t>
                      </a:r>
                    </a:p>
                  </a:txBody>
                  <a:tcPr marL="91440" marR="91440" marT="45720" marB="45720">
                    <a:solidFill>
                      <a:srgbClr val="F2F6F3"/>
                    </a:solidFill>
                  </a:tcPr>
                </a:tc>
                <a:tc>
                  <a:txBody>
                    <a:bodyPr/>
                    <a:lstStyle/>
                    <a:p>
                      <a:r>
                        <a:rPr sz="1650" b="0">
                          <a:solidFill>
                            <a:srgbClr val="222A2D"/>
                          </a:solidFill>
                          <a:latin typeface="NanumGothic"/>
                          <a:ea typeface="NanumGothic"/>
                          <a:cs typeface="NanumGothic"/>
                        </a:rPr>
                        <a:t>실험 연결</a:t>
                      </a:r>
                    </a:p>
                  </a:txBody>
                  <a:tcPr marL="91440" marR="91440" marT="45720" marB="45720">
                    <a:solidFill>
                      <a:srgbClr val="F2F6F3"/>
                    </a:solidFill>
                  </a:tcPr>
                </a:tc>
              </a:tr>
              <a:tr h="519113">
                <a:tc>
                  <a:txBody>
                    <a:bodyPr/>
                    <a:lstStyle/>
                    <a:p>
                      <a:r>
                        <a:rPr sz="1650" b="0">
                          <a:solidFill>
                            <a:srgbClr val="222A2D"/>
                          </a:solidFill>
                          <a:latin typeface="NanumGothic"/>
                          <a:ea typeface="NanumGothic"/>
                          <a:cs typeface="NanumGothic"/>
                        </a:rPr>
                        <a:t>제주조천</a:t>
                      </a:r>
                    </a:p>
                  </a:txBody>
                  <a:tcPr marL="91440" marR="91440" marT="45720" marB="45720">
                    <a:solidFill>
                      <a:srgbClr val="FAFBF9"/>
                    </a:solidFill>
                  </a:tcPr>
                </a:tc>
                <a:tc>
                  <a:txBody>
                    <a:bodyPr/>
                    <a:lstStyle/>
                    <a:p>
                      <a:r>
                        <a:rPr sz="1650" b="0">
                          <a:solidFill>
                            <a:srgbClr val="222A2D"/>
                          </a:solidFill>
                          <a:latin typeface="NanumGothic"/>
                          <a:ea typeface="NanumGothic"/>
                          <a:cs typeface="NanumGothic"/>
                        </a:rPr>
                        <a:t>ASOS 188 성산</a:t>
                      </a:r>
                    </a:p>
                  </a:txBody>
                  <a:tcPr marL="91440" marR="91440" marT="45720" marB="45720">
                    <a:solidFill>
                      <a:srgbClr val="FAFBF9"/>
                    </a:solidFill>
                  </a:tcPr>
                </a:tc>
                <a:tc>
                  <a:txBody>
                    <a:bodyPr/>
                    <a:lstStyle/>
                    <a:p>
                      <a:r>
                        <a:rPr sz="1650" b="0">
                          <a:solidFill>
                            <a:srgbClr val="222A2D"/>
                          </a:solidFill>
                          <a:latin typeface="NanumGothic"/>
                          <a:ea typeface="NanumGothic"/>
                          <a:cs typeface="NanumGothic"/>
                        </a:rPr>
                        <a:t>실험 연결</a:t>
                      </a:r>
                    </a:p>
                  </a:txBody>
                  <a:tcPr marL="91440" marR="91440" marT="45720" marB="45720">
                    <a:solidFill>
                      <a:srgbClr val="FAFBF9"/>
                    </a:solidFill>
                  </a:tcPr>
                </a:tc>
              </a:tr>
            </a:tbl>
          </a:graphicData>
        </a:graphic>
      </p:graphicFrame>
      <p:sp>
        <p:nvSpPr>
          <p:cNvPr id="5" name="">
            <a:extLst xmlns:a="http://schemas.openxmlformats.org/drawingml/2006/main">
              <a:ext uri="{FF2B5EF4-FFF2-40B4-BE49-F238E27FC236}">
                <a16:creationId xmlns:a16="http://schemas.microsoft.com/office/drawing/2014/main" id="{077A9A64-2345-4F23-A24A-4D3392595AFF}"/>
              </a:ext>
            </a:extLst>
          </p:cNvPr>
          <p:cNvSpPr>
            <a:spLocks xmlns:a="http://schemas.openxmlformats.org/drawingml/2006/main" noGrp="1"/>
          </p:cNvSpPr>
          <p:nvPr/>
        </p:nvSpPr>
        <p:spPr>
          <a:xfrm xmlns:a="http://schemas.openxmlformats.org/drawingml/2006/main">
            <a:off x="571500" y="39433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007D68"/>
                </a:solidFill>
                <a:latin typeface="NanumGothic"/>
                <a:ea typeface="NanumGothic"/>
                <a:cs typeface="NanumGothic"/>
              </a:defRPr>
            </a:defPPr>
          </a:lstStyle>
          <a:p xmlns:a="http://schemas.openxmlformats.org/drawingml/2006/main">
            <a:pPr>
              <a:defRPr sz="1650" b="1">
                <a:solidFill>
                  <a:srgbClr val="007D68"/>
                </a:solidFill>
                <a:latin typeface="NanumGothic"/>
                <a:ea typeface="NanumGothic"/>
                <a:cs typeface="NanumGothic"/>
              </a:defRPr>
            </a:pPr>
            <a:r>
              <a:rPr sz="1650" b="1">
                <a:solidFill>
                  <a:srgbClr val="007D68"/>
                </a:solidFill>
                <a:latin typeface="NanumGothic"/>
                <a:ea typeface="NanumGothic"/>
                <a:cs typeface="NanumGothic"/>
              </a:rPr>
              <a:t>결측 강수는 0으로 채우지 않고, 날짜 공백은 이어 붙이지 않습니다</a:t>
            </a:r>
          </a:p>
        </p:txBody>
      </p:sp>
    </p:spTree>
    <p:extLst>
      <p:ext uri="{BB962C8B-B14F-4D97-AF65-F5344CB8AC3E}">
        <p14:creationId xmlns:p14="http://schemas.microsoft.com/office/powerpoint/2010/main" val="2110135741"/>
      </p:ext>
    </p:extLst>
  </p:cSld>
</p:sld>
</file>

<file path=ppt/slides/slide3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74B9A7-AC75-428F-B5C8-9EBA520BAE87}"/>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4EC1C3C0-A779-46AE-9714-B81D75E8632A}"/>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장마 대응 모델의 입력과 평가</a:t>
            </a:r>
          </a:p>
        </p:txBody>
      </p:sp>
      <p:sp>
        <p:nvSpPr>
          <p:cNvPr id="3" name="">
            <a:extLst xmlns:a="http://schemas.openxmlformats.org/drawingml/2006/main">
              <a:ext uri="{FF2B5EF4-FFF2-40B4-BE49-F238E27FC236}">
                <a16:creationId xmlns:a16="http://schemas.microsoft.com/office/drawing/2014/main" id="{D7185335-9908-4AA3-BDE7-A999BD43E272}"/>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sp>
        <p:nvSpPr>
          <p:cNvPr id="4" name="">
            <a:extLst xmlns:a="http://schemas.openxmlformats.org/drawingml/2006/main">
              <a:ext uri="{FF2B5EF4-FFF2-40B4-BE49-F238E27FC236}">
                <a16:creationId xmlns:a16="http://schemas.microsoft.com/office/drawing/2014/main" id="{FD80A64D-A54D-4918-AE5D-D094E175A68F}"/>
              </a:ext>
            </a:extLst>
          </p:cNvPr>
          <p:cNvSpPr>
            <a:spLocks xmlns:a="http://schemas.openxmlformats.org/drawingml/2006/main" noGrp="1"/>
          </p:cNvSpPr>
          <p:nvPr/>
        </p:nvSpPr>
        <p:spPr>
          <a:xfrm xmlns:a="http://schemas.openxmlformats.org/drawingml/2006/main">
            <a:off x="571500" y="1609725"/>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07D68"/>
                </a:solidFill>
                <a:latin typeface="NanumGothic"/>
                <a:ea typeface="NanumGothic"/>
                <a:cs typeface="NanumGothic"/>
              </a:defRPr>
            </a:defPPr>
          </a:lstStyle>
          <a:p xmlns:a="http://schemas.openxmlformats.org/drawingml/2006/main">
            <a:pPr>
              <a:defRPr sz="2025" b="1">
                <a:solidFill>
                  <a:srgbClr val="007D68"/>
                </a:solidFill>
                <a:latin typeface="NanumGothic"/>
                <a:ea typeface="NanumGothic"/>
                <a:cs typeface="NanumGothic"/>
              </a:defRPr>
            </a:pPr>
            <a:r>
              <a:rPr sz="2025" b="1">
                <a:solidFill>
                  <a:srgbClr val="007D68"/>
                </a:solidFill>
                <a:latin typeface="NanumGothic"/>
                <a:ea typeface="NanumGothic"/>
                <a:cs typeface="NanumGothic"/>
              </a:rPr>
              <a:t>M0   최근 20일의 수위·강수</a:t>
            </a:r>
          </a:p>
        </p:txBody>
      </p:sp>
      <p:sp>
        <p:nvSpPr>
          <p:cNvPr id="5" name="">
            <a:extLst xmlns:a="http://schemas.openxmlformats.org/drawingml/2006/main">
              <a:ext uri="{FF2B5EF4-FFF2-40B4-BE49-F238E27FC236}">
                <a16:creationId xmlns:a16="http://schemas.microsoft.com/office/drawing/2014/main" id="{B6E7985B-AFD8-40D4-B153-D598C4C633E8}"/>
              </a:ext>
            </a:extLst>
          </p:cNvPr>
          <p:cNvSpPr>
            <a:spLocks xmlns:a="http://schemas.openxmlformats.org/drawingml/2006/main" noGrp="1"/>
          </p:cNvSpPr>
          <p:nvPr/>
        </p:nvSpPr>
        <p:spPr>
          <a:xfrm xmlns:a="http://schemas.openxmlformats.org/drawingml/2006/main">
            <a:off x="571500" y="2162175"/>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07D68"/>
                </a:solidFill>
                <a:latin typeface="NanumGothic"/>
                <a:ea typeface="NanumGothic"/>
                <a:cs typeface="NanumGothic"/>
              </a:defRPr>
            </a:defPPr>
          </a:lstStyle>
          <a:p xmlns:a="http://schemas.openxmlformats.org/drawingml/2006/main">
            <a:pPr>
              <a:defRPr sz="2025" b="1">
                <a:solidFill>
                  <a:srgbClr val="007D68"/>
                </a:solidFill>
                <a:latin typeface="NanumGothic"/>
                <a:ea typeface="NanumGothic"/>
                <a:cs typeface="NanumGothic"/>
              </a:defRPr>
            </a:pPr>
            <a:r>
              <a:rPr sz="2025" b="1">
                <a:solidFill>
                  <a:srgbClr val="007D68"/>
                </a:solidFill>
                <a:latin typeface="NanumGothic"/>
                <a:ea typeface="NanumGothic"/>
                <a:cs typeface="NanumGothic"/>
              </a:rPr>
              <a:t>M1   M0 + 과거 누적 강수·달력 계절성</a:t>
            </a:r>
          </a:p>
        </p:txBody>
      </p:sp>
      <p:sp>
        <p:nvSpPr>
          <p:cNvPr id="6" name="">
            <a:extLst xmlns:a="http://schemas.openxmlformats.org/drawingml/2006/main">
              <a:ext uri="{FF2B5EF4-FFF2-40B4-BE49-F238E27FC236}">
                <a16:creationId xmlns:a16="http://schemas.microsoft.com/office/drawing/2014/main" id="{C1A4A22D-C8C0-4ADD-B48E-BB148F1A4306}"/>
              </a:ext>
            </a:extLst>
          </p:cNvPr>
          <p:cNvSpPr>
            <a:spLocks xmlns:a="http://schemas.openxmlformats.org/drawingml/2006/main" noGrp="1"/>
          </p:cNvSpPr>
          <p:nvPr/>
        </p:nvSpPr>
        <p:spPr>
          <a:xfrm xmlns:a="http://schemas.openxmlformats.org/drawingml/2006/main">
            <a:off x="571500" y="3000375"/>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실측: 학습1~5월 · 검증6월 · 평가7~10월</a:t>
            </a:r>
          </a:p>
        </p:txBody>
      </p:sp>
      <p:sp>
        <p:nvSpPr>
          <p:cNvPr id="7" name="">
            <a:extLst xmlns:a="http://schemas.openxmlformats.org/drawingml/2006/main">
              <a:ext uri="{FF2B5EF4-FFF2-40B4-BE49-F238E27FC236}">
                <a16:creationId xmlns:a16="http://schemas.microsoft.com/office/drawing/2014/main" id="{5C68CF70-C83C-4EF8-BE70-2E436891FC7B}"/>
              </a:ext>
            </a:extLst>
          </p:cNvPr>
          <p:cNvSpPr>
            <a:spLocks xmlns:a="http://schemas.openxmlformats.org/drawingml/2006/main" noGrp="1"/>
          </p:cNvSpPr>
          <p:nvPr/>
        </p:nvSpPr>
        <p:spPr>
          <a:xfrm xmlns:a="http://schemas.openxmlformats.org/drawingml/2006/main">
            <a:off x="571500" y="3705225"/>
            <a:ext cx="800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22A2D"/>
                </a:solidFill>
                <a:latin typeface="NanumGothic"/>
                <a:ea typeface="NanumGothic"/>
                <a:cs typeface="NanumGothic"/>
              </a:defRPr>
            </a:defPPr>
          </a:lstStyle>
          <a:p xmlns:a="http://schemas.openxmlformats.org/drawingml/2006/main">
            <a:pPr>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장마 시작·종료일은 평가에만 사용</a:t>
            </a:r>
          </a:p>
          <a:p xmlns:a="http://schemas.openxmlformats.org/drawingml/2006/main">
            <a:pPr>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미래 실제 강수·미래 정답을 입력에 사용하지 않음</a:t>
            </a:r>
          </a:p>
        </p:txBody>
      </p:sp>
    </p:spTree>
    <p:extLst>
      <p:ext uri="{BB962C8B-B14F-4D97-AF65-F5344CB8AC3E}">
        <p14:creationId xmlns:p14="http://schemas.microsoft.com/office/powerpoint/2010/main" val="1151989462"/>
      </p:ext>
    </p:extLst>
  </p:cSld>
</p:sld>
</file>

<file path=ppt/slides/slide3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2B7361-ACC4-4181-AE37-23EC85B85489}"/>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45B9075A-360F-40BC-A47B-7E412B18729E}"/>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강수 특징의 효과는 관측소마다 달랐습니다</a:t>
            </a:r>
          </a:p>
        </p:txBody>
      </p:sp>
      <p:sp>
        <p:nvSpPr>
          <p:cNvPr id="3" name="">
            <a:extLst xmlns:a="http://schemas.openxmlformats.org/drawingml/2006/main">
              <a:ext uri="{FF2B5EF4-FFF2-40B4-BE49-F238E27FC236}">
                <a16:creationId xmlns:a16="http://schemas.microsoft.com/office/drawing/2014/main" id="{85CAE4AF-79BA-4E2E-A227-4B8A2F4B52C0}"/>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graphicFrame>
        <p:nvGraphicFramePr>
          <p:cNvPr id="4" name="">
            <a:extLst xmlns:a="http://schemas.openxmlformats.org/drawingml/2006/main">
              <a:ext uri="{FF2B5EF4-FFF2-40B4-BE49-F238E27FC236}">
                <a16:creationId xmlns:a16="http://schemas.microsoft.com/office/drawing/2014/main" id="{54706CF4-2BE0-41FB-8AB6-7A187937AA36}"/>
              </a:ext>
            </a:extLst>
          </p:cNvPr>
          <p:cNvGraphicFramePr/>
          <p:nvPr/>
        </p:nvGraphicFramePr>
        <p:xfrm>
          <a:off xmlns:a="http://schemas.openxmlformats.org/drawingml/2006/main" x="571500" y="1600200"/>
          <a:ext xmlns:a="http://schemas.openxmlformats.org/drawingml/2006/main" cx="8001000" cy="2152650"/>
        </p:xfrm>
        <a:graphic xmlns:a="http://schemas.openxmlformats.org/drawingml/2006/main">
          <a:graphicData uri="http://schemas.openxmlformats.org/drawingml/2006/table">
            <a:tbl>
              <a:tblPr/>
              <a:tblGrid>
                <a:gridCol w="1809750"/>
                <a:gridCol w="1476375"/>
                <a:gridCol w="1476375"/>
                <a:gridCol w="1571625"/>
                <a:gridCol w="1666875"/>
              </a:tblGrid>
              <a:tr h="538163">
                <a:tc>
                  <a:txBody>
                    <a:bodyPr/>
                    <a:lstStyle/>
                    <a:p>
                      <a:r>
                        <a:rPr sz="1500" b="1">
                          <a:solidFill>
                            <a:srgbClr val="007D68"/>
                          </a:solidFill>
                          <a:latin typeface="NanumGothic"/>
                          <a:ea typeface="NanumGothic"/>
                          <a:cs typeface="NanumGothic"/>
                        </a:rPr>
                        <a:t>관측소</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M0 RMSE</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M1 RMSE</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Persistence</a:t>
                      </a:r>
                    </a:p>
                  </a:txBody>
                  <a:tcPr marL="91440" marR="91440" marT="45720" marB="45720">
                    <a:solidFill>
                      <a:srgbClr val="E7EFEB"/>
                    </a:solidFill>
                  </a:tcPr>
                </a:tc>
                <a:tc>
                  <a:txBody>
                    <a:bodyPr/>
                    <a:lstStyle/>
                    <a:p>
                      <a:r>
                        <a:rPr sz="1500" b="1">
                          <a:solidFill>
                            <a:srgbClr val="007D68"/>
                          </a:solidFill>
                          <a:latin typeface="NanumGothic"/>
                          <a:ea typeface="NanumGothic"/>
                          <a:cs typeface="NanumGothic"/>
                        </a:rPr>
                        <a:t>M0 대비 감소</a:t>
                      </a:r>
                    </a:p>
                  </a:txBody>
                  <a:tcPr marL="91440" marR="91440" marT="45720" marB="45720">
                    <a:solidFill>
                      <a:srgbClr val="E7EFEB"/>
                    </a:solidFill>
                  </a:tcPr>
                </a:tc>
              </a:tr>
              <a:tr h="538163">
                <a:tc>
                  <a:txBody>
                    <a:bodyPr/>
                    <a:lstStyle/>
                    <a:p>
                      <a:r>
                        <a:rPr sz="1500" b="0">
                          <a:solidFill>
                            <a:srgbClr val="222A2D"/>
                          </a:solidFill>
                          <a:latin typeface="NanumGothic"/>
                          <a:ea typeface="NanumGothic"/>
                          <a:cs typeface="NanumGothic"/>
                        </a:rPr>
                        <a:t>광주도척</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0.05379</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0.06235</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0.05336</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-15.92%</a:t>
                      </a:r>
                    </a:p>
                  </a:txBody>
                  <a:tcPr marL="91440" marR="91440" marT="45720" marB="45720">
                    <a:solidFill>
                      <a:srgbClr val="FAFBF9"/>
                    </a:solidFill>
                  </a:tcPr>
                </a:tc>
              </a:tr>
              <a:tr h="538163">
                <a:tc>
                  <a:txBody>
                    <a:bodyPr/>
                    <a:lstStyle/>
                    <a:p>
                      <a:r>
                        <a:rPr sz="1500" b="0">
                          <a:solidFill>
                            <a:srgbClr val="222A2D"/>
                          </a:solidFill>
                          <a:latin typeface="NanumGothic"/>
                          <a:ea typeface="NanumGothic"/>
                          <a:cs typeface="NanumGothic"/>
                        </a:rPr>
                        <a:t>무안무안</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0.09075</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0.10179</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0.09077</a:t>
                      </a:r>
                    </a:p>
                  </a:txBody>
                  <a:tcPr marL="91440" marR="91440" marT="45720" marB="45720">
                    <a:solidFill>
                      <a:srgbClr val="F2F6F3"/>
                    </a:solidFill>
                  </a:tcPr>
                </a:tc>
                <a:tc>
                  <a:txBody>
                    <a:bodyPr/>
                    <a:lstStyle/>
                    <a:p>
                      <a:r>
                        <a:rPr sz="1500" b="0">
                          <a:solidFill>
                            <a:srgbClr val="222A2D"/>
                          </a:solidFill>
                          <a:latin typeface="NanumGothic"/>
                          <a:ea typeface="NanumGothic"/>
                          <a:cs typeface="NanumGothic"/>
                        </a:rPr>
                        <a:t>-12.17%</a:t>
                      </a:r>
                    </a:p>
                  </a:txBody>
                  <a:tcPr marL="91440" marR="91440" marT="45720" marB="45720">
                    <a:solidFill>
                      <a:srgbClr val="F2F6F3"/>
                    </a:solidFill>
                  </a:tcPr>
                </a:tc>
              </a:tr>
              <a:tr h="538163">
                <a:tc>
                  <a:txBody>
                    <a:bodyPr/>
                    <a:lstStyle/>
                    <a:p>
                      <a:r>
                        <a:rPr sz="1500" b="0">
                          <a:solidFill>
                            <a:srgbClr val="222A2D"/>
                          </a:solidFill>
                          <a:latin typeface="NanumGothic"/>
                          <a:ea typeface="NanumGothic"/>
                          <a:cs typeface="NanumGothic"/>
                        </a:rPr>
                        <a:t>제주조천</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0.06904</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0.04872</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0.04838</a:t>
                      </a:r>
                    </a:p>
                  </a:txBody>
                  <a:tcPr marL="91440" marR="91440" marT="45720" marB="45720">
                    <a:solidFill>
                      <a:srgbClr val="FAFBF9"/>
                    </a:solidFill>
                  </a:tcPr>
                </a:tc>
                <a:tc>
                  <a:txBody>
                    <a:bodyPr/>
                    <a:lstStyle/>
                    <a:p>
                      <a:r>
                        <a:rPr sz="1500" b="0">
                          <a:solidFill>
                            <a:srgbClr val="222A2D"/>
                          </a:solidFill>
                          <a:latin typeface="NanumGothic"/>
                          <a:ea typeface="NanumGothic"/>
                          <a:cs typeface="NanumGothic"/>
                        </a:rPr>
                        <a:t>29.43%</a:t>
                      </a:r>
                    </a:p>
                  </a:txBody>
                  <a:tcPr marL="91440" marR="91440" marT="45720" marB="45720">
                    <a:solidFill>
                      <a:srgbClr val="FAFBF9"/>
                    </a:solidFill>
                  </a:tcPr>
                </a:tc>
              </a:tr>
            </a:tbl>
          </a:graphicData>
        </a:graphic>
      </p:graphicFrame>
      <p:sp>
        <p:nvSpPr>
          <p:cNvPr id="5" name="">
            <a:extLst xmlns:a="http://schemas.openxmlformats.org/drawingml/2006/main">
              <a:ext uri="{FF2B5EF4-FFF2-40B4-BE49-F238E27FC236}">
                <a16:creationId xmlns:a16="http://schemas.microsoft.com/office/drawing/2014/main" id="{C45B3BCE-1C07-4C8B-91E3-A02894443645}"/>
              </a:ext>
            </a:extLst>
          </p:cNvPr>
          <p:cNvSpPr>
            <a:spLocks xmlns:a="http://schemas.openxmlformats.org/drawingml/2006/main" noGrp="1"/>
          </p:cNvSpPr>
          <p:nvPr/>
        </p:nvSpPr>
        <p:spPr>
          <a:xfrm xmlns:a="http://schemas.openxmlformats.org/drawingml/2006/main">
            <a:off x="571500" y="3857625"/>
            <a:ext cx="800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86B"/>
                </a:solidFill>
                <a:latin typeface="NanumGothic"/>
                <a:ea typeface="NanumGothic"/>
                <a:cs typeface="NanumGothic"/>
              </a:defRPr>
            </a:defPPr>
          </a:lstStyle>
          <a:p xmlns:a="http://schemas.openxmlformats.org/drawingml/2006/main">
            <a:pPr>
              <a:defRPr sz="1350" b="0">
                <a:solidFill>
                  <a:srgbClr val="5C686B"/>
                </a:solidFill>
                <a:latin typeface="NanumGothic"/>
                <a:ea typeface="NanumGothic"/>
                <a:cs typeface="NanumGothic"/>
              </a:defRPr>
            </a:pPr>
            <a:r>
              <a:rPr sz="1350" b="0">
                <a:solidFill>
                  <a:srgbClr val="5C686B"/>
                </a:solidFill>
                <a:latin typeface="NanumGothic"/>
                <a:ea typeface="NanumGothic"/>
                <a:cs typeface="NanumGothic"/>
              </a:rPr>
              <a:t>실측 RMSE(m) · 음수 감소율은 악화 · 제주M1도 persistence보다0.71% 악화</a:t>
            </a:r>
          </a:p>
        </p:txBody>
      </p:sp>
      <p:sp>
        <p:nvSpPr>
          <p:cNvPr id="6" name="">
            <a:extLst xmlns:a="http://schemas.openxmlformats.org/drawingml/2006/main">
              <a:ext uri="{FF2B5EF4-FFF2-40B4-BE49-F238E27FC236}">
                <a16:creationId xmlns:a16="http://schemas.microsoft.com/office/drawing/2014/main" id="{07A6B936-B43C-4690-8819-2D30EA85F549}"/>
              </a:ext>
            </a:extLst>
          </p:cNvPr>
          <p:cNvSpPr>
            <a:spLocks xmlns:a="http://schemas.openxmlformats.org/drawingml/2006/main" noGrp="1"/>
          </p:cNvSpPr>
          <p:nvPr/>
        </p:nvSpPr>
        <p:spPr>
          <a:xfrm xmlns:a="http://schemas.openxmlformats.org/drawingml/2006/main">
            <a:off x="571500" y="4210050"/>
            <a:ext cx="800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007D68"/>
                </a:solidFill>
                <a:latin typeface="NanumGothic"/>
                <a:ea typeface="NanumGothic"/>
                <a:cs typeface="NanumGothic"/>
              </a:defRPr>
            </a:defPPr>
          </a:lstStyle>
          <a:p xmlns:a="http://schemas.openxmlformats.org/drawingml/2006/main">
            <a:pPr>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합성17곳 × 640일: 전체0.04083→0.04066 · 5% 개선0곳</a:t>
            </a:r>
          </a:p>
          <a:p xmlns:a="http://schemas.openxmlformats.org/drawingml/2006/main">
            <a:pPr>
              <a:defRPr sz="1350" b="1">
                <a:solidFill>
                  <a:srgbClr val="007D68"/>
                </a:solidFill>
                <a:latin typeface="NanumGothic"/>
                <a:ea typeface="NanumGothic"/>
                <a:cs typeface="NanumGothic"/>
              </a:defRPr>
            </a:pPr>
            <a:r>
              <a:rPr sz="1350" b="1">
                <a:solidFill>
                  <a:srgbClr val="007D68"/>
                </a:solidFill>
                <a:latin typeface="NanumGothic"/>
                <a:ea typeface="NanumGothic"/>
                <a:cs typeface="NanumGothic"/>
              </a:rPr>
              <a:t>합성 장마0.09115→0.09119 · 강한 강수도 악화 / 운영 근거 아님</a:t>
            </a:r>
          </a:p>
        </p:txBody>
      </p:sp>
    </p:spTree>
    <p:extLst>
      <p:ext uri="{BB962C8B-B14F-4D97-AF65-F5344CB8AC3E}">
        <p14:creationId xmlns:p14="http://schemas.microsoft.com/office/powerpoint/2010/main" val="1207536892"/>
      </p:ext>
    </p:extLst>
  </p:cSld>
</p:sld>
</file>

<file path=ppt/slides/slide3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F8782F-7884-4212-B252-174BA8288D94}"/>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1690569B-C46F-4B32-BDF7-4BF82DAA4FFE}"/>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자동 수집·감시와 운영 승격의 구분</a:t>
            </a:r>
          </a:p>
        </p:txBody>
      </p:sp>
      <p:sp>
        <p:nvSpPr>
          <p:cNvPr id="3" name="">
            <a:extLst xmlns:a="http://schemas.openxmlformats.org/drawingml/2006/main">
              <a:ext uri="{FF2B5EF4-FFF2-40B4-BE49-F238E27FC236}">
                <a16:creationId xmlns:a16="http://schemas.microsoft.com/office/drawing/2014/main" id="{586DB8FC-055F-4A51-A258-AF1CBC275552}"/>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sp>
        <p:nvSpPr>
          <p:cNvPr id="4" name="">
            <a:extLst xmlns:a="http://schemas.openxmlformats.org/drawingml/2006/main">
              <a:ext uri="{FF2B5EF4-FFF2-40B4-BE49-F238E27FC236}">
                <a16:creationId xmlns:a16="http://schemas.microsoft.com/office/drawing/2014/main" id="{86768EE7-8CBD-4326-9058-BD3A658A8286}"/>
              </a:ext>
            </a:extLst>
          </p:cNvPr>
          <p:cNvSpPr>
            <a:spLocks xmlns:a="http://schemas.openxmlformats.org/drawingml/2006/main" noGrp="1"/>
          </p:cNvSpPr>
          <p:nvPr/>
        </p:nvSpPr>
        <p:spPr>
          <a:xfrm xmlns:a="http://schemas.openxmlformats.org/drawingml/2006/main">
            <a:off x="571500" y="1581150"/>
            <a:ext cx="800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07D68"/>
                </a:solidFill>
                <a:latin typeface="NanumGothic"/>
                <a:ea typeface="NanumGothic"/>
                <a:cs typeface="NanumGothic"/>
              </a:defRPr>
            </a:defPPr>
          </a:lstStyle>
          <a:p xmlns:a="http://schemas.openxmlformats.org/drawingml/2006/main">
            <a:pPr>
              <a:defRPr sz="2025" b="1">
                <a:solidFill>
                  <a:srgbClr val="007D68"/>
                </a:solidFill>
                <a:latin typeface="NanumGothic"/>
                <a:ea typeface="NanumGothic"/>
                <a:cs typeface="NanumGothic"/>
              </a:defRPr>
            </a:pPr>
            <a:r>
              <a:rPr sz="2025" b="1">
                <a:solidFill>
                  <a:srgbClr val="007D68"/>
                </a:solidFill>
                <a:latin typeface="NanumGothic"/>
                <a:ea typeface="NanumGothic"/>
                <a:cs typeface="NanumGothic"/>
              </a:rPr>
              <a:t>D−1 일자료 자동 수집   실제 API 응답 확인</a:t>
            </a:r>
          </a:p>
        </p:txBody>
      </p:sp>
      <p:sp>
        <p:nvSpPr>
          <p:cNvPr id="5" name="">
            <a:extLst xmlns:a="http://schemas.openxmlformats.org/drawingml/2006/main">
              <a:ext uri="{FF2B5EF4-FFF2-40B4-BE49-F238E27FC236}">
                <a16:creationId xmlns:a16="http://schemas.microsoft.com/office/drawing/2014/main" id="{AE961BF2-F565-435B-89AF-BA7497AF3178}"/>
              </a:ext>
            </a:extLst>
          </p:cNvPr>
          <p:cNvSpPr>
            <a:spLocks xmlns:a="http://schemas.openxmlformats.org/drawingml/2006/main" noGrp="1"/>
          </p:cNvSpPr>
          <p:nvPr/>
        </p:nvSpPr>
        <p:spPr>
          <a:xfrm xmlns:a="http://schemas.openxmlformats.org/drawingml/2006/main">
            <a:off x="571500" y="2257425"/>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21일 RMSE 감시   연속 2회 초과   21일 대기</a:t>
            </a:r>
          </a:p>
        </p:txBody>
      </p:sp>
      <p:sp>
        <p:nvSpPr>
          <p:cNvPr id="6" name="">
            <a:extLst xmlns:a="http://schemas.openxmlformats.org/drawingml/2006/main">
              <a:ext uri="{FF2B5EF4-FFF2-40B4-BE49-F238E27FC236}">
                <a16:creationId xmlns:a16="http://schemas.microsoft.com/office/drawing/2014/main" id="{3307CF2C-7DF4-46FE-859F-97CE9FFCCD6C}"/>
              </a:ext>
            </a:extLst>
          </p:cNvPr>
          <p:cNvSpPr>
            <a:spLocks xmlns:a="http://schemas.openxmlformats.org/drawingml/2006/main" noGrp="1"/>
          </p:cNvSpPr>
          <p:nvPr/>
        </p:nvSpPr>
        <p:spPr>
          <a:xfrm xmlns:a="http://schemas.openxmlformats.org/drawingml/2006/main">
            <a:off x="571500" y="2876550"/>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22A2D"/>
                </a:solidFill>
                <a:latin typeface="NanumGothic"/>
                <a:ea typeface="NanumGothic"/>
                <a:cs typeface="NanumGothic"/>
              </a:defRPr>
            </a:defPPr>
          </a:lstStyle>
          <a:p xmlns:a="http://schemas.openxmlformats.org/drawingml/2006/main">
            <a:pPr>
              <a:defRPr sz="1875" b="0">
                <a:solidFill>
                  <a:srgbClr val="222A2D"/>
                </a:solidFill>
                <a:latin typeface="NanumGothic"/>
                <a:ea typeface="NanumGothic"/>
                <a:cs typeface="NanumGothic"/>
              </a:defRPr>
            </a:pPr>
            <a:r>
              <a:rPr sz="1875" b="0">
                <a:solidFill>
                  <a:srgbClr val="222A2D"/>
                </a:solidFill>
                <a:latin typeface="NanumGothic"/>
                <a:ea typeface="NanumGothic"/>
                <a:cs typeface="NanumGothic"/>
              </a:rPr>
              <a:t>41일로 후보 학습   새 정답 30일로 비교</a:t>
            </a:r>
          </a:p>
        </p:txBody>
      </p:sp>
      <p:sp>
        <p:nvSpPr>
          <p:cNvPr id="7" name="">
            <a:extLst xmlns:a="http://schemas.openxmlformats.org/drawingml/2006/main">
              <a:ext uri="{FF2B5EF4-FFF2-40B4-BE49-F238E27FC236}">
                <a16:creationId xmlns:a16="http://schemas.microsoft.com/office/drawing/2014/main" id="{78F0BCBD-2A8A-4EE9-8289-DAB66CF15076}"/>
              </a:ext>
            </a:extLst>
          </p:cNvPr>
          <p:cNvSpPr>
            <a:spLocks xmlns:a="http://schemas.openxmlformats.org/drawingml/2006/main" noGrp="1"/>
          </p:cNvSpPr>
          <p:nvPr/>
        </p:nvSpPr>
        <p:spPr>
          <a:xfrm xmlns:a="http://schemas.openxmlformats.org/drawingml/2006/main">
            <a:off x="571500" y="358140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계절 근거 부족 즉시 만료 · 후속 정답 대기 상한 90일</a:t>
            </a:r>
          </a:p>
        </p:txBody>
      </p:sp>
      <p:sp>
        <p:nvSpPr>
          <p:cNvPr id="8" name="">
            <a:extLst xmlns:a="http://schemas.openxmlformats.org/drawingml/2006/main">
              <a:ext uri="{FF2B5EF4-FFF2-40B4-BE49-F238E27FC236}">
                <a16:creationId xmlns:a16="http://schemas.microsoft.com/office/drawing/2014/main" id="{C36E4FEC-42E9-408E-B8B4-B3DE9114226E}"/>
              </a:ext>
            </a:extLst>
          </p:cNvPr>
          <p:cNvSpPr>
            <a:spLocks xmlns:a="http://schemas.openxmlformats.org/drawingml/2006/main" noGrp="1"/>
          </p:cNvSpPr>
          <p:nvPr/>
        </p:nvSpPr>
        <p:spPr>
          <a:xfrm xmlns:a="http://schemas.openxmlformats.org/drawingml/2006/main">
            <a:off x="571500" y="4352925"/>
            <a:ext cx="800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86B"/>
                </a:solidFill>
                <a:latin typeface="NanumGothic"/>
                <a:ea typeface="NanumGothic"/>
                <a:cs typeface="NanumGothic"/>
              </a:defRPr>
            </a:defPPr>
          </a:lstStyle>
          <a:p xmlns:a="http://schemas.openxmlformats.org/drawingml/2006/main">
            <a:pPr>
              <a:defRPr sz="1425" b="0">
                <a:solidFill>
                  <a:srgbClr val="5C686B"/>
                </a:solidFill>
                <a:latin typeface="NanumGothic"/>
                <a:ea typeface="NanumGothic"/>
                <a:cs typeface="NanumGothic"/>
              </a:defRPr>
            </a:pPr>
            <a:r>
              <a:rPr sz="1425" b="0">
                <a:solidFill>
                  <a:srgbClr val="5C686B"/>
                </a:solidFill>
                <a:latin typeface="NanumGothic"/>
                <a:ea typeface="NanumGothic"/>
                <a:cs typeface="NanumGothic"/>
              </a:rPr>
              <a:t>D−1 입력으로 D일에 발행한 값은 당일 수위 추정입니다</a:t>
            </a:r>
          </a:p>
        </p:txBody>
      </p:sp>
    </p:spTree>
    <p:extLst>
      <p:ext uri="{BB962C8B-B14F-4D97-AF65-F5344CB8AC3E}">
        <p14:creationId xmlns:p14="http://schemas.microsoft.com/office/powerpoint/2010/main" val="1696562891"/>
      </p:ext>
    </p:extLst>
  </p:cSld>
</p:sld>
</file>

<file path=ppt/slides/slide3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77F631-200D-4556-AD48-D6D0B1F50C26}"/>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F592A735-D825-4486-91E6-A7EF38FE1B8F}"/>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통합 API와 실제 실행 검증</a:t>
            </a:r>
          </a:p>
        </p:txBody>
      </p:sp>
      <p:sp>
        <p:nvSpPr>
          <p:cNvPr id="3" name="">
            <a:extLst xmlns:a="http://schemas.openxmlformats.org/drawingml/2006/main">
              <a:ext uri="{FF2B5EF4-FFF2-40B4-BE49-F238E27FC236}">
                <a16:creationId xmlns:a16="http://schemas.microsoft.com/office/drawing/2014/main" id="{6E8AEB6C-7403-41F8-AF9A-194CF4E68EFB}"/>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graphicFrame>
        <p:nvGraphicFramePr>
          <p:cNvPr id="4" name="">
            <a:extLst xmlns:a="http://schemas.openxmlformats.org/drawingml/2006/main">
              <a:ext uri="{FF2B5EF4-FFF2-40B4-BE49-F238E27FC236}">
                <a16:creationId xmlns:a16="http://schemas.microsoft.com/office/drawing/2014/main" id="{7A3227E7-A346-4071-9CA8-C3741EA26908}"/>
              </a:ext>
            </a:extLst>
          </p:cNvPr>
          <p:cNvGraphicFramePr/>
          <p:nvPr/>
        </p:nvGraphicFramePr>
        <p:xfrm>
          <a:off xmlns:a="http://schemas.openxmlformats.org/drawingml/2006/main" x="571500" y="1581150"/>
          <a:ext xmlns:a="http://schemas.openxmlformats.org/drawingml/2006/main" cx="8001000" cy="2257425"/>
        </p:xfrm>
        <a:graphic xmlns:a="http://schemas.openxmlformats.org/drawingml/2006/main">
          <a:graphicData uri="http://schemas.openxmlformats.org/drawingml/2006/table">
            <a:tbl>
              <a:tblPr/>
              <a:tblGrid>
                <a:gridCol w="4429125"/>
                <a:gridCol w="3571875"/>
              </a:tblGrid>
              <a:tr h="564356">
                <a:tc>
                  <a:txBody>
                    <a:bodyPr/>
                    <a:lstStyle/>
                    <a:p>
                      <a:r>
                        <a:rPr sz="1425" b="1">
                          <a:solidFill>
                            <a:srgbClr val="007D68"/>
                          </a:solidFill>
                          <a:latin typeface="NanumGothic"/>
                          <a:ea typeface="NanumGothic"/>
                          <a:cs typeface="NanumGothic"/>
                        </a:rPr>
                        <a:t>요청</a:t>
                      </a:r>
                    </a:p>
                  </a:txBody>
                  <a:tcPr marL="91440" marR="91440" marT="45720" marB="45720">
                    <a:solidFill>
                      <a:srgbClr val="E7EFEB"/>
                    </a:solidFill>
                  </a:tcPr>
                </a:tc>
                <a:tc>
                  <a:txBody>
                    <a:bodyPr/>
                    <a:lstStyle/>
                    <a:p>
                      <a:r>
                        <a:rPr sz="1425" b="1">
                          <a:solidFill>
                            <a:srgbClr val="007D68"/>
                          </a:solidFill>
                          <a:latin typeface="NanumGothic"/>
                          <a:ea typeface="NanumGothic"/>
                          <a:cs typeface="NanumGothic"/>
                        </a:rPr>
                        <a:t>같은 서비스에서 확인하는 정보</a:t>
                      </a:r>
                    </a:p>
                  </a:txBody>
                  <a:tcPr marL="91440" marR="91440" marT="45720" marB="45720">
                    <a:solidFill>
                      <a:srgbClr val="E7EFEB"/>
                    </a:solidFill>
                  </a:tcPr>
                </a:tc>
              </a:tr>
              <a:tr h="564356">
                <a:tc>
                  <a:txBody>
                    <a:bodyPr/>
                    <a:lstStyle/>
                    <a:p>
                      <a:r>
                        <a:rPr sz="1425" b="0">
                          <a:solidFill>
                            <a:srgbClr val="222A2D"/>
                          </a:solidFill>
                          <a:latin typeface="NanumGothic"/>
                          <a:ea typeface="NanumGothic"/>
                          <a:cs typeface="NanumGothic"/>
                        </a:rPr>
                        <a:t>GET /api/v2/network/stations</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선택 자료 범위·자료·모델 준비</a:t>
                      </a:r>
                    </a:p>
                  </a:txBody>
                  <a:tcPr marL="91440" marR="91440" marT="45720" marB="45720">
                    <a:solidFill>
                      <a:srgbClr val="FAFBF9"/>
                    </a:solidFill>
                  </a:tcPr>
                </a:tc>
              </a:tr>
              <a:tr h="564356">
                <a:tc>
                  <a:txBody>
                    <a:bodyPr/>
                    <a:lstStyle/>
                    <a:p>
                      <a:r>
                        <a:rPr sz="1425" b="0">
                          <a:solidFill>
                            <a:srgbClr val="222A2D"/>
                          </a:solidFill>
                          <a:latin typeface="NanumGothic"/>
                          <a:ea typeface="NanumGothic"/>
                          <a:cs typeface="NanumGothic"/>
                        </a:rPr>
                        <a:t>GET /api/v2/network/stations/{id}/history</a:t>
                      </a:r>
                    </a:p>
                  </a:txBody>
                  <a:tcPr marL="91440" marR="91440" marT="45720" marB="45720">
                    <a:solidFill>
                      <a:srgbClr val="F2F6F3"/>
                    </a:solidFill>
                  </a:tcPr>
                </a:tc>
                <a:tc>
                  <a:txBody>
                    <a:bodyPr/>
                    <a:lstStyle/>
                    <a:p>
                      <a:r>
                        <a:rPr sz="1425" b="0">
                          <a:solidFill>
                            <a:srgbClr val="222A2D"/>
                          </a:solidFill>
                          <a:latin typeface="NanumGothic"/>
                          <a:ea typeface="NanumGothic"/>
                          <a:cs typeface="NanumGothic"/>
                        </a:rPr>
                        <a:t>수위·연결 강수·장마 문맥</a:t>
                      </a:r>
                    </a:p>
                  </a:txBody>
                  <a:tcPr marL="91440" marR="91440" marT="45720" marB="45720">
                    <a:solidFill>
                      <a:srgbClr val="F2F6F3"/>
                    </a:solidFill>
                  </a:tcPr>
                </a:tc>
              </a:tr>
              <a:tr h="564356">
                <a:tc>
                  <a:txBody>
                    <a:bodyPr/>
                    <a:lstStyle/>
                    <a:p>
                      <a:r>
                        <a:rPr sz="1425" b="0">
                          <a:solidFill>
                            <a:srgbClr val="222A2D"/>
                          </a:solidFill>
                          <a:latin typeface="NanumGothic"/>
                          <a:ea typeface="NanumGothic"/>
                          <a:cs typeface="NanumGothic"/>
                        </a:rPr>
                        <a:t>GET /api/v2/network/pipeline?station_id=…</a:t>
                      </a:r>
                    </a:p>
                  </a:txBody>
                  <a:tcPr marL="91440" marR="91440" marT="45720" marB="45720">
                    <a:solidFill>
                      <a:srgbClr val="FAFBF9"/>
                    </a:solidFill>
                  </a:tcPr>
                </a:tc>
                <a:tc>
                  <a:txBody>
                    <a:bodyPr/>
                    <a:lstStyle/>
                    <a:p>
                      <a:r>
                        <a:rPr sz="1425" b="0">
                          <a:solidFill>
                            <a:srgbClr val="222A2D"/>
                          </a:solidFill>
                          <a:latin typeface="NanumGothic"/>
                          <a:ea typeface="NanumGothic"/>
                          <a:cs typeface="NanumGothic"/>
                        </a:rPr>
                        <a:t>감시·후보·장마 평가·수집 상태</a:t>
                      </a:r>
                    </a:p>
                  </a:txBody>
                  <a:tcPr marL="91440" marR="91440" marT="45720" marB="45720">
                    <a:solidFill>
                      <a:srgbClr val="FAFBF9"/>
                    </a:solidFill>
                  </a:tcPr>
                </a:tc>
              </a:tr>
            </a:tbl>
          </a:graphicData>
        </a:graphic>
      </p:graphicFrame>
      <p:sp>
        <p:nvSpPr>
          <p:cNvPr id="5" name="">
            <a:extLst xmlns:a="http://schemas.openxmlformats.org/drawingml/2006/main">
              <a:ext uri="{FF2B5EF4-FFF2-40B4-BE49-F238E27FC236}">
                <a16:creationId xmlns:a16="http://schemas.microsoft.com/office/drawing/2014/main" id="{C1734F72-0359-4214-A864-ED985170D1EC}"/>
              </a:ext>
            </a:extLst>
          </p:cNvPr>
          <p:cNvSpPr>
            <a:spLocks xmlns:a="http://schemas.openxmlformats.org/drawingml/2006/main" noGrp="1"/>
          </p:cNvSpPr>
          <p:nvPr/>
        </p:nvSpPr>
        <p:spPr>
          <a:xfrm xmlns:a="http://schemas.openxmlformats.org/drawingml/2006/main">
            <a:off x="571500" y="4048125"/>
            <a:ext cx="800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007D68"/>
                </a:solidFill>
                <a:latin typeface="NanumGothic"/>
                <a:ea typeface="NanumGothic"/>
                <a:cs typeface="NanumGothic"/>
              </a:defRPr>
            </a:defPPr>
          </a:lstStyle>
          <a:p xmlns:a="http://schemas.openxmlformats.org/drawingml/2006/main">
            <a:pPr>
              <a:defRPr sz="1650" b="1">
                <a:solidFill>
                  <a:srgbClr val="007D68"/>
                </a:solidFill>
                <a:latin typeface="NanumGothic"/>
                <a:ea typeface="NanumGothic"/>
                <a:cs typeface="NanumGothic"/>
              </a:defRPr>
            </a:pPr>
            <a:r>
              <a:rPr sz="1650" b="1">
                <a:solidFill>
                  <a:srgbClr val="007D68"/>
                </a:solidFill>
                <a:latin typeface="NanumGothic"/>
                <a:ea typeface="NanumGothic"/>
                <a:cs typeface="NanumGothic"/>
              </a:rPr>
              <a:t>컨테이너245 통과·1skip / 프런트32 통과 · 기동·재기동 확인</a:t>
            </a:r>
          </a:p>
        </p:txBody>
      </p:sp>
    </p:spTree>
    <p:extLst>
      <p:ext uri="{BB962C8B-B14F-4D97-AF65-F5344CB8AC3E}">
        <p14:creationId xmlns:p14="http://schemas.microsoft.com/office/powerpoint/2010/main" val="635536397"/>
      </p:ext>
    </p:extLst>
  </p:cSld>
</p:sld>
</file>

<file path=ppt/slides/slide3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DDF2C1-86F9-4E24-8779-4EE1C9F1ED61}"/>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전국 확장과 장마 대응</a:t>
            </a:r>
          </a:p>
        </p:txBody>
      </p:sp>
      <p:sp>
        <p:nvSpPr>
          <p:cNvPr id="2" name="">
            <a:extLst xmlns:a="http://schemas.openxmlformats.org/drawingml/2006/main">
              <a:ext uri="{FF2B5EF4-FFF2-40B4-BE49-F238E27FC236}">
                <a16:creationId xmlns:a16="http://schemas.microsoft.com/office/drawing/2014/main" id="{A17F41E4-F680-4E25-9785-74C8A7354A9D}"/>
              </a:ext>
            </a:extLst>
          </p:cNvPr>
          <p:cNvSpPr>
            <a:spLocks xmlns:a="http://schemas.openxmlformats.org/drawingml/2006/main" noGrp="1"/>
          </p:cNvSpPr>
          <p:nvPr/>
        </p:nvSpPr>
        <p:spPr>
          <a:xfrm xmlns:a="http://schemas.openxmlformats.org/drawingml/2006/main">
            <a:off x="571500" y="781050"/>
            <a:ext cx="800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검증 범위와 다음 단계</a:t>
            </a:r>
          </a:p>
        </p:txBody>
      </p:sp>
      <p:sp>
        <p:nvSpPr>
          <p:cNvPr id="3" name="">
            <a:extLst xmlns:a="http://schemas.openxmlformats.org/drawingml/2006/main">
              <a:ext uri="{FF2B5EF4-FFF2-40B4-BE49-F238E27FC236}">
                <a16:creationId xmlns:a16="http://schemas.microsoft.com/office/drawing/2014/main" id="{52EFB882-0A4D-439A-BF57-AEC8EF8989FC}"/>
              </a:ext>
            </a:extLst>
          </p:cNvPr>
          <p:cNvSpPr>
            <a:spLocks xmlns:a="http://schemas.openxmlformats.org/drawingml/2006/main" noGrp="1"/>
          </p:cNvSpPr>
          <p:nvPr/>
        </p:nvSpPr>
        <p:spPr>
          <a:xfrm xmlns:a="http://schemas.openxmlformats.org/drawingml/2006/main">
            <a:off x="571500" y="4695825"/>
            <a:ext cx="7524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2026-10-08 확보·실행 결과</a:t>
            </a:r>
          </a:p>
        </p:txBody>
      </p:sp>
      <p:sp>
        <p:nvSpPr>
          <p:cNvPr id="4" name="">
            <a:extLst xmlns:a="http://schemas.openxmlformats.org/drawingml/2006/main">
              <a:ext uri="{FF2B5EF4-FFF2-40B4-BE49-F238E27FC236}">
                <a16:creationId xmlns:a16="http://schemas.microsoft.com/office/drawing/2014/main" id="{0C100DCA-EBE4-4A86-8962-70FDD487A687}"/>
              </a:ext>
            </a:extLst>
          </p:cNvPr>
          <p:cNvSpPr>
            <a:spLocks xmlns:a="http://schemas.openxmlformats.org/drawingml/2006/main" noGrp="1"/>
          </p:cNvSpPr>
          <p:nvPr/>
        </p:nvSpPr>
        <p:spPr>
          <a:xfrm xmlns:a="http://schemas.openxmlformats.org/drawingml/2006/main">
            <a:off x="571500" y="16002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확인 완료</a:t>
            </a:r>
          </a:p>
        </p:txBody>
      </p:sp>
      <p:sp>
        <p:nvSpPr>
          <p:cNvPr id="5" name="">
            <a:extLst xmlns:a="http://schemas.openxmlformats.org/drawingml/2006/main">
              <a:ext uri="{FF2B5EF4-FFF2-40B4-BE49-F238E27FC236}">
                <a16:creationId xmlns:a16="http://schemas.microsoft.com/office/drawing/2014/main" id="{E64BC241-BB1B-4456-B709-E7F6A945C813}"/>
              </a:ext>
            </a:extLst>
          </p:cNvPr>
          <p:cNvSpPr>
            <a:spLocks xmlns:a="http://schemas.openxmlformats.org/drawingml/2006/main" noGrp="1"/>
          </p:cNvSpPr>
          <p:nvPr/>
        </p:nvSpPr>
        <p:spPr>
          <a:xfrm xmlns:a="http://schemas.openxmlformats.org/drawingml/2006/main">
            <a:off x="571500" y="2105025"/>
            <a:ext cx="371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22A2D"/>
                </a:solidFill>
                <a:latin typeface="NanumGothic"/>
                <a:ea typeface="NanumGothic"/>
                <a:cs typeface="NanumGothic"/>
              </a:defRPr>
            </a:defPPr>
          </a:lstStyle>
          <a:p xmlns:a="http://schemas.openxmlformats.org/drawingml/2006/main">
            <a:pPr>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서울 실측 ~9/30 확보</a:t>
            </a:r>
          </a:p>
          <a:p xmlns:a="http://schemas.openxmlformats.org/drawingml/2006/main">
            <a:pPr>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전국 실측3·합성17 분리</a:t>
            </a:r>
          </a:p>
          <a:p xmlns:a="http://schemas.openxmlformats.org/drawingml/2006/main">
            <a:pPr>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수집·감시·교체 차단</a:t>
            </a:r>
          </a:p>
        </p:txBody>
      </p:sp>
      <p:sp>
        <p:nvSpPr>
          <p:cNvPr id="6" name="">
            <a:extLst xmlns:a="http://schemas.openxmlformats.org/drawingml/2006/main">
              <a:ext uri="{FF2B5EF4-FFF2-40B4-BE49-F238E27FC236}">
                <a16:creationId xmlns:a16="http://schemas.microsoft.com/office/drawing/2014/main" id="{8A2768D2-B8E6-4679-9609-6957D617BC2D}"/>
              </a:ext>
            </a:extLst>
          </p:cNvPr>
          <p:cNvSpPr>
            <a:spLocks xmlns:a="http://schemas.openxmlformats.org/drawingml/2006/main" noGrp="1"/>
          </p:cNvSpPr>
          <p:nvPr/>
        </p:nvSpPr>
        <p:spPr>
          <a:xfrm xmlns:a="http://schemas.openxmlformats.org/drawingml/2006/main">
            <a:off x="4857750" y="160020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007D68"/>
                </a:solidFill>
                <a:latin typeface="NanumGothic"/>
                <a:ea typeface="NanumGothic"/>
                <a:cs typeface="NanumGothic"/>
              </a:defRPr>
            </a:defPPr>
          </a:lstStyle>
          <a:p xmlns:a="http://schemas.openxmlformats.org/drawingml/2006/main">
            <a:pPr>
              <a:defRPr sz="1875" b="1">
                <a:solidFill>
                  <a:srgbClr val="007D68"/>
                </a:solidFill>
                <a:latin typeface="NanumGothic"/>
                <a:ea typeface="NanumGothic"/>
                <a:cs typeface="NanumGothic"/>
              </a:defRPr>
            </a:pPr>
            <a:r>
              <a:rPr sz="1875" b="1">
                <a:solidFill>
                  <a:srgbClr val="007D68"/>
                </a:solidFill>
                <a:latin typeface="NanumGothic"/>
                <a:ea typeface="NanumGothic"/>
                <a:cs typeface="NanumGothic"/>
              </a:rPr>
              <a:t>추가 검증</a:t>
            </a:r>
          </a:p>
        </p:txBody>
      </p:sp>
      <p:sp>
        <p:nvSpPr>
          <p:cNvPr id="7" name="">
            <a:extLst xmlns:a="http://schemas.openxmlformats.org/drawingml/2006/main">
              <a:ext uri="{FF2B5EF4-FFF2-40B4-BE49-F238E27FC236}">
                <a16:creationId xmlns:a16="http://schemas.microsoft.com/office/drawing/2014/main" id="{B0B6C495-0478-46CA-B6FC-8386B86206BC}"/>
              </a:ext>
            </a:extLst>
          </p:cNvPr>
          <p:cNvSpPr>
            <a:spLocks xmlns:a="http://schemas.openxmlformats.org/drawingml/2006/main" noGrp="1"/>
          </p:cNvSpPr>
          <p:nvPr/>
        </p:nvSpPr>
        <p:spPr>
          <a:xfrm xmlns:a="http://schemas.openxmlformats.org/drawingml/2006/main">
            <a:off x="4857750" y="2105025"/>
            <a:ext cx="371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22A2D"/>
                </a:solidFill>
                <a:latin typeface="NanumGothic"/>
                <a:ea typeface="NanumGothic"/>
                <a:cs typeface="NanumGothic"/>
              </a:defRPr>
            </a:defPPr>
          </a:lstStyle>
          <a:p xmlns:a="http://schemas.openxmlformats.org/drawingml/2006/main">
            <a:pPr>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추가 실측·기존 모델 재평가</a:t>
            </a:r>
          </a:p>
          <a:p xmlns:a="http://schemas.openxmlformats.org/drawingml/2006/main">
            <a:pPr>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예보 격자·과거 발표본</a:t>
            </a:r>
          </a:p>
          <a:p xmlns:a="http://schemas.openxmlformats.org/drawingml/2006/main">
            <a:pPr>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합성 검증과 현장 실증</a:t>
            </a:r>
          </a:p>
          <a:p xmlns:a="http://schemas.openxmlformats.org/drawingml/2006/main">
            <a:pPr>
              <a:defRPr sz="1800" b="0">
                <a:solidFill>
                  <a:srgbClr val="222A2D"/>
                </a:solidFill>
                <a:latin typeface="NanumGothic"/>
                <a:ea typeface="NanumGothic"/>
                <a:cs typeface="NanumGothic"/>
              </a:defRPr>
            </a:pPr>
            <a:r>
              <a:rPr sz="1800" b="0">
                <a:solidFill>
                  <a:srgbClr val="222A2D"/>
                </a:solidFill>
                <a:latin typeface="NanumGothic"/>
                <a:ea typeface="NanumGothic"/>
                <a:cs typeface="NanumGothic"/>
              </a:rPr>
              <a:t>실제 후속30일·운영 승인</a:t>
            </a:r>
          </a:p>
        </p:txBody>
      </p:sp>
      <p:sp>
        <p:nvSpPr>
          <p:cNvPr id="8" name="">
            <a:extLst xmlns:a="http://schemas.openxmlformats.org/drawingml/2006/main">
              <a:ext uri="{FF2B5EF4-FFF2-40B4-BE49-F238E27FC236}">
                <a16:creationId xmlns:a16="http://schemas.microsoft.com/office/drawing/2014/main" id="{087EBF74-0359-4CBF-AF24-9B3B10F48B18}"/>
              </a:ext>
            </a:extLst>
          </p:cNvPr>
          <p:cNvSpPr>
            <a:spLocks xmlns:a="http://schemas.openxmlformats.org/drawingml/2006/main" noGrp="1"/>
          </p:cNvSpPr>
          <p:nvPr/>
        </p:nvSpPr>
        <p:spPr>
          <a:xfrm xmlns:a="http://schemas.openxmlformats.org/drawingml/2006/main">
            <a:off x="571500" y="4162425"/>
            <a:ext cx="800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C686B"/>
                </a:solidFill>
                <a:latin typeface="NanumGothic"/>
                <a:ea typeface="NanumGothic"/>
                <a:cs typeface="NanumGothic"/>
              </a:defRPr>
            </a:defPPr>
          </a:lstStyle>
          <a:p xmlns:a="http://schemas.openxmlformats.org/drawingml/2006/main">
            <a:pPr>
              <a:defRPr sz="1500" b="0">
                <a:solidFill>
                  <a:srgbClr val="5C686B"/>
                </a:solidFill>
                <a:latin typeface="NanumGothic"/>
                <a:ea typeface="NanumGothic"/>
                <a:cs typeface="NanumGothic"/>
              </a:defRPr>
            </a:pPr>
            <a:r>
              <a:rPr sz="1500" b="0">
                <a:solidFill>
                  <a:srgbClr val="5C686B"/>
                </a:solidFill>
                <a:latin typeface="NanumGothic"/>
                <a:ea typeface="NanumGothic"/>
                <a:cs typeface="NanumGothic"/>
              </a:rPr>
              <a:t>싱크홀 확률·안전 등급·사고 예방 효과는 검증 범위에 포함하지 않음</a:t>
            </a:r>
          </a:p>
        </p:txBody>
      </p:sp>
    </p:spTree>
    <p:extLst>
      <p:ext uri="{BB962C8B-B14F-4D97-AF65-F5344CB8AC3E}">
        <p14:creationId xmlns:p14="http://schemas.microsoft.com/office/powerpoint/2010/main" val="1337656605"/>
      </p:ext>
    </p:extLst>
  </p:cSld>
</p:sld>
</file>

<file path=ppt/slides/slide3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6840C9-CB16-4F05-AC25-96CA747DC5DF}"/>
              </a:ext>
            </a:extLst>
          </p:cNvPr>
          <p:cNvSpPr>
            <a:spLocks xmlns:a="http://schemas.openxmlformats.org/drawingml/2006/main" noGrp="1"/>
          </p:cNvSpPr>
          <p:nvPr/>
        </p:nvSpPr>
        <p:spPr>
          <a:xfrm xmlns:a="http://schemas.openxmlformats.org/drawingml/2006/main">
            <a:off x="571500" y="266700"/>
            <a:ext cx="800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1">
                <a:solidFill>
                  <a:srgbClr val="007D68"/>
                </a:solidFill>
                <a:latin typeface="NanumGothic"/>
                <a:ea typeface="NanumGothic"/>
                <a:cs typeface="NanumGothic"/>
              </a:defRPr>
            </a:defPPr>
          </a:lstStyle>
          <a:p xmlns:a="http://schemas.openxmlformats.org/drawingml/2006/main">
            <a:pPr>
              <a:buNone/>
              <a:defRPr sz="975" b="1">
                <a:solidFill>
                  <a:srgbClr val="007D68"/>
                </a:solidFill>
                <a:latin typeface="NanumGothic"/>
                <a:ea typeface="NanumGothic"/>
                <a:cs typeface="NanumGothic"/>
              </a:defRPr>
            </a:pPr>
            <a:r>
              <a:rPr sz="975" b="1">
                <a:solidFill>
                  <a:srgbClr val="007D68"/>
                </a:solidFill>
                <a:latin typeface="NanumGothic"/>
                <a:ea typeface="NanumGothic"/>
                <a:cs typeface="NanumGothic"/>
              </a:rPr>
              <a:t>팀원 및 역할</a:t>
            </a:r>
          </a:p>
        </p:txBody>
      </p:sp>
      <p:sp>
        <p:nvSpPr>
          <p:cNvPr id="2" name="">
            <a:extLst xmlns:a="http://schemas.openxmlformats.org/drawingml/2006/main">
              <a:ext uri="{FF2B5EF4-FFF2-40B4-BE49-F238E27FC236}">
                <a16:creationId xmlns:a16="http://schemas.microsoft.com/office/drawing/2014/main" id="{C7696BA8-709F-4EB4-80F6-E6F3DE6C7B79}"/>
              </a:ext>
            </a:extLst>
          </p:cNvPr>
          <p:cNvSpPr>
            <a:spLocks xmlns:a="http://schemas.openxmlformats.org/drawingml/2006/main" noGrp="1"/>
          </p:cNvSpPr>
          <p:nvPr/>
        </p:nvSpPr>
        <p:spPr>
          <a:xfrm xmlns:a="http://schemas.openxmlformats.org/drawingml/2006/main">
            <a:off x="571500" y="781050"/>
            <a:ext cx="8001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222A2D"/>
                </a:solidFill>
                <a:latin typeface="NanumGothic"/>
                <a:ea typeface="NanumGothic"/>
                <a:cs typeface="NanumGothic"/>
              </a:defRPr>
            </a:defPPr>
          </a:lstStyle>
          <a:p xmlns:a="http://schemas.openxmlformats.org/drawingml/2006/main">
            <a:pPr>
              <a:buNone/>
              <a:defRPr sz="2400" b="1">
                <a:solidFill>
                  <a:srgbClr val="222A2D"/>
                </a:solidFill>
                <a:latin typeface="NanumGothic"/>
                <a:ea typeface="NanumGothic"/>
                <a:cs typeface="NanumGothic"/>
              </a:defRPr>
            </a:pPr>
            <a:r>
              <a:rPr sz="2400" b="1">
                <a:solidFill>
                  <a:srgbClr val="222A2D"/>
                </a:solidFill>
                <a:latin typeface="NanumGothic"/>
                <a:ea typeface="NanumGothic"/>
                <a:cs typeface="NanumGothic"/>
              </a:rPr>
              <a:t>SKALA 4기 광주3반 5조 · GroundWatch</a:t>
            </a:r>
          </a:p>
        </p:txBody>
      </p:sp>
      <p:sp>
        <p:nvSpPr>
          <p:cNvPr id="3" name="">
            <a:extLst xmlns:a="http://schemas.openxmlformats.org/drawingml/2006/main">
              <a:ext uri="{FF2B5EF4-FFF2-40B4-BE49-F238E27FC236}">
                <a16:creationId xmlns:a16="http://schemas.microsoft.com/office/drawing/2014/main" id="{F4479EB9-E03D-433C-931F-4711A9B057A0}"/>
              </a:ext>
            </a:extLst>
          </p:cNvPr>
          <p:cNvSpPr>
            <a:spLocks xmlns:a="http://schemas.openxmlformats.org/drawingml/2006/main" noGrp="1"/>
          </p:cNvSpPr>
          <p:nvPr/>
        </p:nvSpPr>
        <p:spPr>
          <a:xfrm xmlns:a="http://schemas.openxmlformats.org/drawingml/2006/main">
            <a:off x="571500" y="4676775"/>
            <a:ext cx="7667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사용자 제공 프로필 사진 · 역할은 팀 기획 기준</a:t>
            </a:r>
          </a:p>
        </p:txBody>
      </p:sp>
      <p:sp>
        <p:nvSpPr>
          <p:cNvPr id="4" name="">
            <a:extLst xmlns:a="http://schemas.openxmlformats.org/drawingml/2006/main">
              <a:ext uri="{FF2B5EF4-FFF2-40B4-BE49-F238E27FC236}">
                <a16:creationId xmlns:a16="http://schemas.microsoft.com/office/drawing/2014/main" id="{AE8AE0BB-15F3-4A8A-9039-B6D09077A4FC}"/>
              </a:ext>
            </a:extLst>
          </p:cNvPr>
          <p:cNvSpPr>
            <a:spLocks xmlns:a="http://schemas.openxmlformats.org/drawingml/2006/main" noGrp="1"/>
          </p:cNvSpPr>
          <p:nvPr/>
        </p:nvSpPr>
        <p:spPr>
          <a:xfrm xmlns:a="http://schemas.openxmlformats.org/drawingml/2006/main">
            <a:off x="8210550" y="4676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825" b="0">
                <a:solidFill>
                  <a:srgbClr val="5C686B"/>
                </a:solidFill>
                <a:latin typeface="NanumGothic"/>
                <a:ea typeface="NanumGothic"/>
                <a:cs typeface="NanumGothic"/>
              </a:defRPr>
            </a:defPPr>
          </a:lstStyle>
          <a:p xmlns:a="http://schemas.openxmlformats.org/drawingml/2006/main">
            <a:pPr>
              <a:buNone/>
              <a:defRPr sz="825" b="0">
                <a:solidFill>
                  <a:srgbClr val="5C686B"/>
                </a:solidFill>
                <a:latin typeface="NanumGothic"/>
                <a:ea typeface="NanumGothic"/>
                <a:cs typeface="NanumGothic"/>
              </a:defRPr>
            </a:pPr>
            <a:r>
              <a:rPr sz="825" b="0">
                <a:solidFill>
                  <a:srgbClr val="5C686B"/>
                </a:solidFill>
                <a:latin typeface="NanumGothic"/>
                <a:ea typeface="NanumGothic"/>
                <a:cs typeface="NanumGothic"/>
              </a:rPr>
              <a:t>37</a:t>
            </a:r>
          </a:p>
        </p:txBody>
      </p:sp>
      <p:pic>
        <p:nvPicPr>
          <p:cNvPr id="5" name="">
            <a:extLst xmlns:a="http://schemas.openxmlformats.org/drawingml/2006/main">
              <a:ext uri="{FF2B5EF4-FFF2-40B4-BE49-F238E27FC236}">
                <a16:creationId xmlns:a16="http://schemas.microsoft.com/office/drawing/2014/main" id="{05CF30A1-C375-4118-90EA-AEBB94945400}"/>
              </a:ext>
            </a:extLst>
          </p:cNvPr>
          <p:cNvPicPr>
            <a:picLocks xmlns:a="http://schemas.openxmlformats.org/drawingml/2006/main" noChangeAspect="1"/>
          </p:cNvPicPr>
          <p:nvPr/>
        </p:nvPicPr>
        <p:blipFill>
          <a:blip xmlns:r="http://schemas.openxmlformats.org/officeDocument/2006/relationships" xmlns:a="http://schemas.openxmlformats.org/drawingml/2006/main" r:embed="Rab77c379209848ec"/>
          <a:stretch xmlns:a="http://schemas.openxmlformats.org/drawingml/2006/main"/>
        </p:blipFill>
        <p:spPr>
          <a:xfrm xmlns:a="http://schemas.openxmlformats.org/drawingml/2006/main">
            <a:off x="619813" y="1447800"/>
            <a:ext cx="779675" cy="11715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0F46733-4364-46B2-A08A-145F4B32B2AC}"/>
              </a:ext>
            </a:extLst>
          </p:cNvPr>
          <p:cNvSpPr>
            <a:spLocks xmlns:a="http://schemas.openxmlformats.org/drawingml/2006/main" noGrp="1"/>
          </p:cNvSpPr>
          <p:nvPr/>
        </p:nvSpPr>
        <p:spPr>
          <a:xfrm xmlns:a="http://schemas.openxmlformats.org/drawingml/2006/main">
            <a:off x="1581150" y="1638300"/>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조건우</a:t>
            </a:r>
          </a:p>
        </p:txBody>
      </p:sp>
      <p:sp>
        <p:nvSpPr>
          <p:cNvPr id="7" name="">
            <a:extLst xmlns:a="http://schemas.openxmlformats.org/drawingml/2006/main">
              <a:ext uri="{FF2B5EF4-FFF2-40B4-BE49-F238E27FC236}">
                <a16:creationId xmlns:a16="http://schemas.microsoft.com/office/drawing/2014/main" id="{38BFC0CB-C94E-401E-9289-43E9CB7FF169}"/>
              </a:ext>
            </a:extLst>
          </p:cNvPr>
          <p:cNvSpPr>
            <a:spLocks xmlns:a="http://schemas.openxmlformats.org/drawingml/2006/main" noGrp="1"/>
          </p:cNvSpPr>
          <p:nvPr/>
        </p:nvSpPr>
        <p:spPr>
          <a:xfrm xmlns:a="http://schemas.openxmlformats.org/drawingml/2006/main">
            <a:off x="1581150" y="2028825"/>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PM · 기획 및 일정 관리</a:t>
            </a:r>
          </a:p>
        </p:txBody>
      </p:sp>
      <p:pic>
        <p:nvPicPr>
          <p:cNvPr id="8" name="">
            <a:extLst xmlns:a="http://schemas.openxmlformats.org/drawingml/2006/main">
              <a:ext uri="{FF2B5EF4-FFF2-40B4-BE49-F238E27FC236}">
                <a16:creationId xmlns:a16="http://schemas.microsoft.com/office/drawing/2014/main" id="{FDB22E15-258B-43B2-9369-B33A232586BB}"/>
              </a:ext>
            </a:extLst>
          </p:cNvPr>
          <p:cNvPicPr>
            <a:picLocks xmlns:a="http://schemas.openxmlformats.org/drawingml/2006/main" noChangeAspect="1"/>
          </p:cNvPicPr>
          <p:nvPr/>
        </p:nvPicPr>
        <p:blipFill>
          <a:blip xmlns:r="http://schemas.openxmlformats.org/officeDocument/2006/relationships" xmlns:a="http://schemas.openxmlformats.org/drawingml/2006/main" r:embed="R000e16149bcb4b9b"/>
          <a:stretch xmlns:a="http://schemas.openxmlformats.org/drawingml/2006/main"/>
        </p:blipFill>
        <p:spPr>
          <a:xfrm xmlns:a="http://schemas.openxmlformats.org/drawingml/2006/main">
            <a:off x="3286125" y="1470252"/>
            <a:ext cx="876300" cy="1126671"/>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533FE0B-8ABA-4A5E-BD46-803A2195A95F}"/>
              </a:ext>
            </a:extLst>
          </p:cNvPr>
          <p:cNvSpPr>
            <a:spLocks xmlns:a="http://schemas.openxmlformats.org/drawingml/2006/main" noGrp="1"/>
          </p:cNvSpPr>
          <p:nvPr/>
        </p:nvSpPr>
        <p:spPr>
          <a:xfrm xmlns:a="http://schemas.openxmlformats.org/drawingml/2006/main">
            <a:off x="4295775" y="1638300"/>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박건우</a:t>
            </a:r>
          </a:p>
        </p:txBody>
      </p:sp>
      <p:sp>
        <p:nvSpPr>
          <p:cNvPr id="10" name="">
            <a:extLst xmlns:a="http://schemas.openxmlformats.org/drawingml/2006/main">
              <a:ext uri="{FF2B5EF4-FFF2-40B4-BE49-F238E27FC236}">
                <a16:creationId xmlns:a16="http://schemas.microsoft.com/office/drawing/2014/main" id="{0AE54CBB-194C-43AD-A3C3-7B5A031DBBFA}"/>
              </a:ext>
            </a:extLst>
          </p:cNvPr>
          <p:cNvSpPr>
            <a:spLocks xmlns:a="http://schemas.openxmlformats.org/drawingml/2006/main" noGrp="1"/>
          </p:cNvSpPr>
          <p:nvPr/>
        </p:nvSpPr>
        <p:spPr>
          <a:xfrm xmlns:a="http://schemas.openxmlformats.org/drawingml/2006/main">
            <a:off x="4295775" y="2028825"/>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프론트엔드 · 백엔드</a:t>
            </a:r>
          </a:p>
        </p:txBody>
      </p:sp>
      <p:pic>
        <p:nvPicPr>
          <p:cNvPr id="11" name="">
            <a:extLst xmlns:a="http://schemas.openxmlformats.org/drawingml/2006/main">
              <a:ext uri="{FF2B5EF4-FFF2-40B4-BE49-F238E27FC236}">
                <a16:creationId xmlns:a16="http://schemas.microsoft.com/office/drawing/2014/main" id="{31936928-6D50-4643-B7BF-AFEAE5667137}"/>
              </a:ext>
            </a:extLst>
          </p:cNvPr>
          <p:cNvPicPr>
            <a:picLocks xmlns:a="http://schemas.openxmlformats.org/drawingml/2006/main" noChangeAspect="1"/>
          </p:cNvPicPr>
          <p:nvPr/>
        </p:nvPicPr>
        <p:blipFill>
          <a:blip xmlns:r="http://schemas.openxmlformats.org/officeDocument/2006/relationships" xmlns:a="http://schemas.openxmlformats.org/drawingml/2006/main" r:embed="R8eb24b9504814e3d"/>
          <a:stretch xmlns:a="http://schemas.openxmlformats.org/drawingml/2006/main"/>
        </p:blipFill>
        <p:spPr>
          <a:xfrm xmlns:a="http://schemas.openxmlformats.org/drawingml/2006/main">
            <a:off x="6000750" y="1595438"/>
            <a:ext cx="876300" cy="8763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7CC5D54-42F8-432F-8499-CC8591E9E591}"/>
              </a:ext>
            </a:extLst>
          </p:cNvPr>
          <p:cNvSpPr>
            <a:spLocks xmlns:a="http://schemas.openxmlformats.org/drawingml/2006/main" noGrp="1"/>
          </p:cNvSpPr>
          <p:nvPr/>
        </p:nvSpPr>
        <p:spPr>
          <a:xfrm xmlns:a="http://schemas.openxmlformats.org/drawingml/2006/main">
            <a:off x="7010400" y="1638300"/>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이병주</a:t>
            </a:r>
          </a:p>
        </p:txBody>
      </p:sp>
      <p:sp>
        <p:nvSpPr>
          <p:cNvPr id="13" name="">
            <a:extLst xmlns:a="http://schemas.openxmlformats.org/drawingml/2006/main">
              <a:ext uri="{FF2B5EF4-FFF2-40B4-BE49-F238E27FC236}">
                <a16:creationId xmlns:a16="http://schemas.microsoft.com/office/drawing/2014/main" id="{7FEE3177-25CE-4645-A4D9-69D24073DA62}"/>
              </a:ext>
            </a:extLst>
          </p:cNvPr>
          <p:cNvSpPr>
            <a:spLocks xmlns:a="http://schemas.openxmlformats.org/drawingml/2006/main" noGrp="1"/>
          </p:cNvSpPr>
          <p:nvPr/>
        </p:nvSpPr>
        <p:spPr>
          <a:xfrm xmlns:a="http://schemas.openxmlformats.org/drawingml/2006/main">
            <a:off x="7010400" y="2028825"/>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프론트엔드 · 백엔드</a:t>
            </a:r>
          </a:p>
        </p:txBody>
      </p:sp>
      <p:pic>
        <p:nvPicPr>
          <p:cNvPr id="14" name="">
            <a:extLst xmlns:a="http://schemas.openxmlformats.org/drawingml/2006/main">
              <a:ext uri="{FF2B5EF4-FFF2-40B4-BE49-F238E27FC236}">
                <a16:creationId xmlns:a16="http://schemas.microsoft.com/office/drawing/2014/main" id="{BD3BC29E-5CCB-4301-B9B3-B4A822C6C97B}"/>
              </a:ext>
            </a:extLst>
          </p:cNvPr>
          <p:cNvPicPr>
            <a:picLocks xmlns:a="http://schemas.openxmlformats.org/drawingml/2006/main" noChangeAspect="1"/>
          </p:cNvPicPr>
          <p:nvPr/>
        </p:nvPicPr>
        <p:blipFill>
          <a:blip xmlns:r="http://schemas.openxmlformats.org/officeDocument/2006/relationships" xmlns:a="http://schemas.openxmlformats.org/drawingml/2006/main" r:embed="R31d7ddd3d8d24e66"/>
          <a:stretch xmlns:a="http://schemas.openxmlformats.org/drawingml/2006/main"/>
        </p:blipFill>
        <p:spPr>
          <a:xfrm xmlns:a="http://schemas.openxmlformats.org/drawingml/2006/main">
            <a:off x="571500" y="3022827"/>
            <a:ext cx="876300" cy="1126671"/>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A4AB1D4-1FF7-4782-816A-658DE9776016}"/>
              </a:ext>
            </a:extLst>
          </p:cNvPr>
          <p:cNvSpPr>
            <a:spLocks xmlns:a="http://schemas.openxmlformats.org/drawingml/2006/main" noGrp="1"/>
          </p:cNvSpPr>
          <p:nvPr/>
        </p:nvSpPr>
        <p:spPr>
          <a:xfrm xmlns:a="http://schemas.openxmlformats.org/drawingml/2006/main">
            <a:off x="1581150" y="3190875"/>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최은주</a:t>
            </a:r>
          </a:p>
        </p:txBody>
      </p:sp>
      <p:sp>
        <p:nvSpPr>
          <p:cNvPr id="16" name="">
            <a:extLst xmlns:a="http://schemas.openxmlformats.org/drawingml/2006/main">
              <a:ext uri="{FF2B5EF4-FFF2-40B4-BE49-F238E27FC236}">
                <a16:creationId xmlns:a16="http://schemas.microsoft.com/office/drawing/2014/main" id="{83B10780-0F90-4708-9766-317D868EC75F}"/>
              </a:ext>
            </a:extLst>
          </p:cNvPr>
          <p:cNvSpPr>
            <a:spLocks xmlns:a="http://schemas.openxmlformats.org/drawingml/2006/main" noGrp="1"/>
          </p:cNvSpPr>
          <p:nvPr/>
        </p:nvSpPr>
        <p:spPr>
          <a:xfrm xmlns:a="http://schemas.openxmlformats.org/drawingml/2006/main">
            <a:off x="1581150" y="35814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AI 모델 · AIOps</a:t>
            </a:r>
          </a:p>
        </p:txBody>
      </p:sp>
      <p:pic>
        <p:nvPicPr>
          <p:cNvPr id="17" name="">
            <a:extLst xmlns:a="http://schemas.openxmlformats.org/drawingml/2006/main">
              <a:ext uri="{FF2B5EF4-FFF2-40B4-BE49-F238E27FC236}">
                <a16:creationId xmlns:a16="http://schemas.microsoft.com/office/drawing/2014/main" id="{8965DC5D-4BB9-4DE8-9D1C-AF18C6C4EDEB}"/>
              </a:ext>
            </a:extLst>
          </p:cNvPr>
          <p:cNvPicPr>
            <a:picLocks xmlns:a="http://schemas.openxmlformats.org/drawingml/2006/main" noChangeAspect="1"/>
          </p:cNvPicPr>
          <p:nvPr/>
        </p:nvPicPr>
        <p:blipFill>
          <a:blip xmlns:r="http://schemas.openxmlformats.org/officeDocument/2006/relationships" xmlns:a="http://schemas.openxmlformats.org/drawingml/2006/main" r:embed="R8c5d71035d2c4ef6"/>
          <a:stretch xmlns:a="http://schemas.openxmlformats.org/drawingml/2006/main"/>
        </p:blipFill>
        <p:spPr>
          <a:xfrm xmlns:a="http://schemas.openxmlformats.org/drawingml/2006/main">
            <a:off x="3286125" y="3038475"/>
            <a:ext cx="876300" cy="10953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56FD59C5-DB0B-47A2-897B-A388BAF11412}"/>
              </a:ext>
            </a:extLst>
          </p:cNvPr>
          <p:cNvSpPr>
            <a:spLocks xmlns:a="http://schemas.openxmlformats.org/drawingml/2006/main" noGrp="1"/>
          </p:cNvSpPr>
          <p:nvPr/>
        </p:nvSpPr>
        <p:spPr>
          <a:xfrm xmlns:a="http://schemas.openxmlformats.org/drawingml/2006/main">
            <a:off x="4295775" y="3190875"/>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장서연</a:t>
            </a:r>
          </a:p>
        </p:txBody>
      </p:sp>
      <p:sp>
        <p:nvSpPr>
          <p:cNvPr id="19" name="">
            <a:extLst xmlns:a="http://schemas.openxmlformats.org/drawingml/2006/main">
              <a:ext uri="{FF2B5EF4-FFF2-40B4-BE49-F238E27FC236}">
                <a16:creationId xmlns:a16="http://schemas.microsoft.com/office/drawing/2014/main" id="{A713CC41-B832-41EB-BCD7-A6FC9A7C0759}"/>
              </a:ext>
            </a:extLst>
          </p:cNvPr>
          <p:cNvSpPr>
            <a:spLocks xmlns:a="http://schemas.openxmlformats.org/drawingml/2006/main" noGrp="1"/>
          </p:cNvSpPr>
          <p:nvPr/>
        </p:nvSpPr>
        <p:spPr>
          <a:xfrm xmlns:a="http://schemas.openxmlformats.org/drawingml/2006/main">
            <a:off x="4295775" y="35814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AI 모델 · AIOps</a:t>
            </a:r>
          </a:p>
        </p:txBody>
      </p:sp>
      <p:pic>
        <p:nvPicPr>
          <p:cNvPr id="20" name="">
            <a:extLst xmlns:a="http://schemas.openxmlformats.org/drawingml/2006/main">
              <a:ext uri="{FF2B5EF4-FFF2-40B4-BE49-F238E27FC236}">
                <a16:creationId xmlns:a16="http://schemas.microsoft.com/office/drawing/2014/main" id="{2959C00B-F733-453D-AEB4-466F65C78B20}"/>
              </a:ext>
            </a:extLst>
          </p:cNvPr>
          <p:cNvPicPr>
            <a:picLocks xmlns:a="http://schemas.openxmlformats.org/drawingml/2006/main" noChangeAspect="1"/>
          </p:cNvPicPr>
          <p:nvPr/>
        </p:nvPicPr>
        <p:blipFill>
          <a:blip xmlns:r="http://schemas.openxmlformats.org/officeDocument/2006/relationships" xmlns:a="http://schemas.openxmlformats.org/drawingml/2006/main" r:embed="R0e553add81144a22"/>
          <a:stretch xmlns:a="http://schemas.openxmlformats.org/drawingml/2006/main"/>
        </p:blipFill>
        <p:spPr>
          <a:xfrm xmlns:a="http://schemas.openxmlformats.org/drawingml/2006/main">
            <a:off x="6000750" y="3001619"/>
            <a:ext cx="876300" cy="1169087"/>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4B74276-7FC7-44FD-BAF2-6E14BEAA8A97}"/>
              </a:ext>
            </a:extLst>
          </p:cNvPr>
          <p:cNvSpPr>
            <a:spLocks xmlns:a="http://schemas.openxmlformats.org/drawingml/2006/main" noGrp="1"/>
          </p:cNvSpPr>
          <p:nvPr/>
        </p:nvSpPr>
        <p:spPr>
          <a:xfrm xmlns:a="http://schemas.openxmlformats.org/drawingml/2006/main">
            <a:off x="7010400" y="3190875"/>
            <a:ext cx="1628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07D68"/>
                </a:solidFill>
                <a:latin typeface="NanumGothic"/>
                <a:ea typeface="NanumGothic"/>
                <a:cs typeface="NanumGothic"/>
              </a:defRPr>
            </a:defPPr>
          </a:lstStyle>
          <a:p xmlns:a="http://schemas.openxmlformats.org/drawingml/2006/main">
            <a:pPr>
              <a:buNone/>
              <a:defRPr sz="1725" b="1">
                <a:solidFill>
                  <a:srgbClr val="007D68"/>
                </a:solidFill>
                <a:latin typeface="NanumGothic"/>
                <a:ea typeface="NanumGothic"/>
                <a:cs typeface="NanumGothic"/>
              </a:defRPr>
            </a:pPr>
            <a:r>
              <a:rPr sz="1725" b="1">
                <a:solidFill>
                  <a:srgbClr val="007D68"/>
                </a:solidFill>
                <a:latin typeface="NanumGothic"/>
                <a:ea typeface="NanumGothic"/>
                <a:cs typeface="NanumGothic"/>
              </a:rPr>
              <a:t>한형준</a:t>
            </a:r>
          </a:p>
        </p:txBody>
      </p:sp>
      <p:sp>
        <p:nvSpPr>
          <p:cNvPr id="22" name="">
            <a:extLst xmlns:a="http://schemas.openxmlformats.org/drawingml/2006/main">
              <a:ext uri="{FF2B5EF4-FFF2-40B4-BE49-F238E27FC236}">
                <a16:creationId xmlns:a16="http://schemas.microsoft.com/office/drawing/2014/main" id="{A3242C13-2096-4C81-97FF-09BB318FC532}"/>
              </a:ext>
            </a:extLst>
          </p:cNvPr>
          <p:cNvSpPr>
            <a:spLocks xmlns:a="http://schemas.openxmlformats.org/drawingml/2006/main" noGrp="1"/>
          </p:cNvSpPr>
          <p:nvPr/>
        </p:nvSpPr>
        <p:spPr>
          <a:xfrm xmlns:a="http://schemas.openxmlformats.org/drawingml/2006/main">
            <a:off x="7010400" y="3581400"/>
            <a:ext cx="1628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222A2D"/>
                </a:solidFill>
                <a:latin typeface="NanumGothic"/>
                <a:ea typeface="NanumGothic"/>
                <a:cs typeface="NanumGothic"/>
              </a:defRPr>
            </a:defPPr>
          </a:lstStyle>
          <a:p xmlns:a="http://schemas.openxmlformats.org/drawingml/2006/main">
            <a:pPr>
              <a:buNone/>
              <a:defRPr sz="1200" b="0">
                <a:solidFill>
                  <a:srgbClr val="222A2D"/>
                </a:solidFill>
                <a:latin typeface="NanumGothic"/>
                <a:ea typeface="NanumGothic"/>
                <a:cs typeface="NanumGothic"/>
              </a:defRPr>
            </a:pPr>
            <a:r>
              <a:rPr sz="1200" b="0">
                <a:solidFill>
                  <a:srgbClr val="222A2D"/>
                </a:solidFill>
                <a:latin typeface="NanumGothic"/>
                <a:ea typeface="NanumGothic"/>
                <a:cs typeface="NanumGothic"/>
              </a:rPr>
              <a:t>데이터 분석 · 전처리 · 발표</a:t>
            </a:r>
          </a:p>
        </p:txBody>
      </p:sp>
    </p:spTree>
    <p:extLst>
      <p:ext uri="{BB962C8B-B14F-4D97-AF65-F5344CB8AC3E}">
        <p14:creationId xmlns:p14="http://schemas.microsoft.com/office/powerpoint/2010/main" val="2101316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NanumGothic"/>
        <a:cs typeface="NanumGothic"/>
      </a:majorFont>
      <a:minorFont>
        <a:latin typeface="NanumGothic"/>
        <a:ea typeface="NanumGothic"/>
        <a:cs typeface="NanumGothi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2026-10-08T14:55:31.5110000Z</dcterms:created>
  <dcterms:modified xsi:type="dcterms:W3CDTF">2026-10-08T14:55:31.5110000Z</dcterms:modified>
</coreProperties>
</file>