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abca2acfbf145de" /><Relationship Type="http://schemas.openxmlformats.org/officeDocument/2006/relationships/extended-properties" Target="/docProps/app.xml" Id="R5c46c0eadcb9449f" /><Relationship Type="http://schemas.openxmlformats.org/officeDocument/2006/relationships/officeDocument" Target="/ppt/presentation.xml" Id="Ra923d13c8ee14105"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857e3b8ed5ca41da"/>
  </p:sldMasterIdLst>
  <p:notesMasterIdLst>
    <p:notesMasterId xmlns:r="http://schemas.openxmlformats.org/officeDocument/2006/relationships" r:id="R0ba7e8a503294ca3"/>
  </p:notesMasterIdLst>
  <p:sldIdLst>
    <p:sldId xmlns:r="http://schemas.openxmlformats.org/officeDocument/2006/relationships" id="256" r:id="R5f6a7ddb1f38457d"/>
    <p:sldId xmlns:r="http://schemas.openxmlformats.org/officeDocument/2006/relationships" id="257" r:id="R28a270f1d6ee454d"/>
    <p:sldId xmlns:r="http://schemas.openxmlformats.org/officeDocument/2006/relationships" id="258" r:id="Ra8052da463a14e70"/>
    <p:sldId xmlns:r="http://schemas.openxmlformats.org/officeDocument/2006/relationships" id="259" r:id="R584792bd5c8945a7"/>
    <p:sldId xmlns:r="http://schemas.openxmlformats.org/officeDocument/2006/relationships" id="260" r:id="R861a10f47b984141"/>
    <p:sldId xmlns:r="http://schemas.openxmlformats.org/officeDocument/2006/relationships" id="261" r:id="Ra96103b513024e52"/>
    <p:sldId xmlns:r="http://schemas.openxmlformats.org/officeDocument/2006/relationships" id="262" r:id="Rff11dd25c61c452f"/>
    <p:sldId xmlns:r="http://schemas.openxmlformats.org/officeDocument/2006/relationships" id="263" r:id="R8f0c8b98ad954b94"/>
    <p:sldId xmlns:r="http://schemas.openxmlformats.org/officeDocument/2006/relationships" id="264" r:id="Rc4af7857221e457a"/>
    <p:sldId xmlns:r="http://schemas.openxmlformats.org/officeDocument/2006/relationships" id="265" r:id="R146efa2c64cb40a3"/>
    <p:sldId xmlns:r="http://schemas.openxmlformats.org/officeDocument/2006/relationships" id="266" r:id="R6c9ee5913b374d3c"/>
    <p:sldId xmlns:r="http://schemas.openxmlformats.org/officeDocument/2006/relationships" id="267" r:id="Rc1ba4b042b504a70"/>
    <p:sldId xmlns:r="http://schemas.openxmlformats.org/officeDocument/2006/relationships" id="268" r:id="Rfe78cf7913d64a7d"/>
    <p:sldId xmlns:r="http://schemas.openxmlformats.org/officeDocument/2006/relationships" id="269" r:id="R4f2ccc1e2ee847e2"/>
    <p:sldId xmlns:r="http://schemas.openxmlformats.org/officeDocument/2006/relationships" id="270" r:id="R521930f01e8541be"/>
    <p:sldId xmlns:r="http://schemas.openxmlformats.org/officeDocument/2006/relationships" id="271" r:id="R063f7d7c1f994596"/>
    <p:sldId xmlns:r="http://schemas.openxmlformats.org/officeDocument/2006/relationships" id="272" r:id="R2a4a0709ce2d4b44"/>
    <p:sldId xmlns:r="http://schemas.openxmlformats.org/officeDocument/2006/relationships" id="273" r:id="R99d7f28f6ccc412f"/>
    <p:sldId xmlns:r="http://schemas.openxmlformats.org/officeDocument/2006/relationships" id="274" r:id="R70e15ce682f243c8"/>
    <p:sldId xmlns:r="http://schemas.openxmlformats.org/officeDocument/2006/relationships" id="275" r:id="Ra12c8c6bcfda4caa"/>
    <p:sldId xmlns:r="http://schemas.openxmlformats.org/officeDocument/2006/relationships" id="276" r:id="R91e7f3fe17d54711"/>
    <p:sldId xmlns:r="http://schemas.openxmlformats.org/officeDocument/2006/relationships" id="277" r:id="Ra5e2c99ca9364368"/>
    <p:sldId xmlns:r="http://schemas.openxmlformats.org/officeDocument/2006/relationships" id="278" r:id="R59c19261ddc249e8"/>
    <p:sldId xmlns:r="http://schemas.openxmlformats.org/officeDocument/2006/relationships" id="279" r:id="R2273fd113c9149d0"/>
    <p:sldId xmlns:r="http://schemas.openxmlformats.org/officeDocument/2006/relationships" id="280" r:id="R5565739be2924fb5"/>
    <p:sldId xmlns:r="http://schemas.openxmlformats.org/officeDocument/2006/relationships" id="281" r:id="R20007a7817ea43f2"/>
    <p:sldId xmlns:r="http://schemas.openxmlformats.org/officeDocument/2006/relationships" id="282" r:id="Rabad12581cc74b4e"/>
    <p:sldId xmlns:r="http://schemas.openxmlformats.org/officeDocument/2006/relationships" id="283" r:id="R599328197c1f4ab5"/>
    <p:sldId xmlns:r="http://schemas.openxmlformats.org/officeDocument/2006/relationships" id="284" r:id="R4ba484bd24a44cb4"/>
    <p:sldId xmlns:r="http://schemas.openxmlformats.org/officeDocument/2006/relationships" id="285" r:id="R029e0e33c7274950"/>
    <p:sldId xmlns:r="http://schemas.openxmlformats.org/officeDocument/2006/relationships" id="286" r:id="R2a4a32708b7f476a"/>
    <p:sldId xmlns:r="http://schemas.openxmlformats.org/officeDocument/2006/relationships" id="287" r:id="R6ca362c37d1e467f"/>
    <p:sldId xmlns:r="http://schemas.openxmlformats.org/officeDocument/2006/relationships" id="288" r:id="Rfd00178439264717"/>
    <p:sldId xmlns:r="http://schemas.openxmlformats.org/officeDocument/2006/relationships" id="289" r:id="R0f49d0783679422d"/>
    <p:sldId xmlns:r="http://schemas.openxmlformats.org/officeDocument/2006/relationships" id="290" r:id="R48aa4a2b8de745b3"/>
    <p:sldId xmlns:r="http://schemas.openxmlformats.org/officeDocument/2006/relationships" id="291" r:id="R6dc23b5e2b8f4bdc"/>
    <p:sldId xmlns:r="http://schemas.openxmlformats.org/officeDocument/2006/relationships" id="292" r:id="R8d46aa05656d4dd9"/>
    <p:sldId xmlns:r="http://schemas.openxmlformats.org/officeDocument/2006/relationships" id="293" r:id="Rb8526bd9ee1041dd"/>
    <p:sldId xmlns:r="http://schemas.openxmlformats.org/officeDocument/2006/relationships" id="294" r:id="Rab40004d0d5f45df"/>
  </p:sldIdLst>
  <p:sldSz cx="9144000" cy="5143500"/>
  <p:notesSz cx="6858000" cy="9144000"/>
  <p:embeddedFontLst>
    <p:embeddedFont>
      <p:font typeface="NanumGothic"/>
      <p:regular xmlns:r="http://schemas.openxmlformats.org/officeDocument/2006/relationships" r:id="Rc95f3fd3ca4c404d"/>
      <p:bold xmlns:r="http://schemas.openxmlformats.org/officeDocument/2006/relationships" r:id="Raef4bfcc028f4d65"/>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8ea4eae205647cd" /><Relationship Type="http://schemas.openxmlformats.org/officeDocument/2006/relationships/slideMaster" Target="/ppt/slideMasters/slideMaster1.xml" Id="R857e3b8ed5ca41da" /><Relationship Type="http://schemas.openxmlformats.org/officeDocument/2006/relationships/notesMaster" Target="/ppt/notesMasters/notesMaster1.xml" Id="R0ba7e8a503294ca3" /><Relationship Type="http://schemas.openxmlformats.org/officeDocument/2006/relationships/presProps" Target="/ppt/presProps.xml" Id="Rae39b987ee8f4164" /><Relationship Type="http://schemas.openxmlformats.org/officeDocument/2006/relationships/tableStyles" Target="/ppt/tableStyles.xml" Id="Rc355c85976994071" /><Relationship Type="http://schemas.openxmlformats.org/officeDocument/2006/relationships/font" Target="/ppt/fonts/font.dat" Id="Rc95f3fd3ca4c404d" /><Relationship Type="http://schemas.openxmlformats.org/officeDocument/2006/relationships/font" Target="/ppt/fonts/font2.dat" Id="Raef4bfcc028f4d65" /><Relationship Type="http://schemas.openxmlformats.org/officeDocument/2006/relationships/slide" Target="/ppt/slides/slide1.xml" Id="R5f6a7ddb1f38457d" /><Relationship Type="http://schemas.openxmlformats.org/officeDocument/2006/relationships/slide" Target="/ppt/slides/slide2.xml" Id="R28a270f1d6ee454d" /><Relationship Type="http://schemas.openxmlformats.org/officeDocument/2006/relationships/slide" Target="/ppt/slides/slide3.xml" Id="Ra8052da463a14e70" /><Relationship Type="http://schemas.openxmlformats.org/officeDocument/2006/relationships/slide" Target="/ppt/slides/slide4.xml" Id="R584792bd5c8945a7" /><Relationship Type="http://schemas.openxmlformats.org/officeDocument/2006/relationships/slide" Target="/ppt/slides/slide5.xml" Id="R861a10f47b984141" /><Relationship Type="http://schemas.openxmlformats.org/officeDocument/2006/relationships/slide" Target="/ppt/slides/slide6.xml" Id="Ra96103b513024e52" /><Relationship Type="http://schemas.openxmlformats.org/officeDocument/2006/relationships/slide" Target="/ppt/slides/slide7.xml" Id="Rff11dd25c61c452f" /><Relationship Type="http://schemas.openxmlformats.org/officeDocument/2006/relationships/slide" Target="/ppt/slides/slide8.xml" Id="R8f0c8b98ad954b94" /><Relationship Type="http://schemas.openxmlformats.org/officeDocument/2006/relationships/slide" Target="/ppt/slides/slide9.xml" Id="Rc4af7857221e457a" /><Relationship Type="http://schemas.openxmlformats.org/officeDocument/2006/relationships/slide" Target="/ppt/slides/slide10.xml" Id="R146efa2c64cb40a3" /><Relationship Type="http://schemas.openxmlformats.org/officeDocument/2006/relationships/slide" Target="/ppt/slides/slide11.xml" Id="R6c9ee5913b374d3c" /><Relationship Type="http://schemas.openxmlformats.org/officeDocument/2006/relationships/slide" Target="/ppt/slides/slide12.xml" Id="Rc1ba4b042b504a70" /><Relationship Type="http://schemas.openxmlformats.org/officeDocument/2006/relationships/slide" Target="/ppt/slides/slide13.xml" Id="Rfe78cf7913d64a7d" /><Relationship Type="http://schemas.openxmlformats.org/officeDocument/2006/relationships/slide" Target="/ppt/slides/slide14.xml" Id="R4f2ccc1e2ee847e2" /><Relationship Type="http://schemas.openxmlformats.org/officeDocument/2006/relationships/slide" Target="/ppt/slides/slide15.xml" Id="R521930f01e8541be" /><Relationship Type="http://schemas.openxmlformats.org/officeDocument/2006/relationships/slide" Target="/ppt/slides/slide16.xml" Id="R063f7d7c1f994596" /><Relationship Type="http://schemas.openxmlformats.org/officeDocument/2006/relationships/slide" Target="/ppt/slides/slide17.xml" Id="R2a4a0709ce2d4b44" /><Relationship Type="http://schemas.openxmlformats.org/officeDocument/2006/relationships/slide" Target="/ppt/slides/slide18.xml" Id="R99d7f28f6ccc412f" /><Relationship Type="http://schemas.openxmlformats.org/officeDocument/2006/relationships/slide" Target="/ppt/slides/slide19.xml" Id="R70e15ce682f243c8" /><Relationship Type="http://schemas.openxmlformats.org/officeDocument/2006/relationships/slide" Target="/ppt/slides/slide20.xml" Id="Ra12c8c6bcfda4caa" /><Relationship Type="http://schemas.openxmlformats.org/officeDocument/2006/relationships/slide" Target="/ppt/slides/slide21.xml" Id="R91e7f3fe17d54711" /><Relationship Type="http://schemas.openxmlformats.org/officeDocument/2006/relationships/slide" Target="/ppt/slides/slide22.xml" Id="Ra5e2c99ca9364368" /><Relationship Type="http://schemas.openxmlformats.org/officeDocument/2006/relationships/slide" Target="/ppt/slides/slide23.xml" Id="R59c19261ddc249e8" /><Relationship Type="http://schemas.openxmlformats.org/officeDocument/2006/relationships/slide" Target="/ppt/slides/slide24.xml" Id="R2273fd113c9149d0" /><Relationship Type="http://schemas.openxmlformats.org/officeDocument/2006/relationships/slide" Target="/ppt/slides/slide25.xml" Id="R5565739be2924fb5" /><Relationship Type="http://schemas.openxmlformats.org/officeDocument/2006/relationships/slide" Target="/ppt/slides/slide26.xml" Id="R20007a7817ea43f2" /><Relationship Type="http://schemas.openxmlformats.org/officeDocument/2006/relationships/slide" Target="/ppt/slides/slide27.xml" Id="Rabad12581cc74b4e" /><Relationship Type="http://schemas.openxmlformats.org/officeDocument/2006/relationships/slide" Target="/ppt/slides/slide28.xml" Id="R599328197c1f4ab5" /><Relationship Type="http://schemas.openxmlformats.org/officeDocument/2006/relationships/slide" Target="/ppt/slides/slide29.xml" Id="R4ba484bd24a44cb4" /><Relationship Type="http://schemas.openxmlformats.org/officeDocument/2006/relationships/slide" Target="/ppt/slides/slide30.xml" Id="R029e0e33c7274950" /><Relationship Type="http://schemas.openxmlformats.org/officeDocument/2006/relationships/slide" Target="/ppt/slides/slide31.xml" Id="R2a4a32708b7f476a" /><Relationship Type="http://schemas.openxmlformats.org/officeDocument/2006/relationships/slide" Target="/ppt/slides/slide32.xml" Id="R6ca362c37d1e467f" /><Relationship Type="http://schemas.openxmlformats.org/officeDocument/2006/relationships/slide" Target="/ppt/slides/slide33.xml" Id="Rfd00178439264717" /><Relationship Type="http://schemas.openxmlformats.org/officeDocument/2006/relationships/slide" Target="/ppt/slides/slide34.xml" Id="R0f49d0783679422d" /><Relationship Type="http://schemas.openxmlformats.org/officeDocument/2006/relationships/slide" Target="/ppt/slides/slide35.xml" Id="R48aa4a2b8de745b3" /><Relationship Type="http://schemas.openxmlformats.org/officeDocument/2006/relationships/slide" Target="/ppt/slides/slide36.xml" Id="R6dc23b5e2b8f4bdc" /><Relationship Type="http://schemas.openxmlformats.org/officeDocument/2006/relationships/slide" Target="/ppt/slides/slide37.xml" Id="R8d46aa05656d4dd9" /><Relationship Type="http://schemas.openxmlformats.org/officeDocument/2006/relationships/slide" Target="/ppt/slides/slide38.xml" Id="Rb8526bd9ee1041dd" /><Relationship Type="http://schemas.openxmlformats.org/officeDocument/2006/relationships/slide" Target="/ppt/slides/slide39.xml" Id="Rab40004d0d5f45d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2e2a3f4423749c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anumGothic"/>
        <a:ea typeface="NanumGothic"/>
        <a:cs typeface="NanumGothic"/>
      </a:majorFont>
      <a:minorFont>
        <a:latin typeface="NanumGothic"/>
        <a:ea typeface="NanumGothic"/>
        <a:cs typeface="NanumGothic"/>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59af87a97b14cb8" /><Relationship Type="http://schemas.openxmlformats.org/officeDocument/2006/relationships/notesMaster" Target="/ppt/notesMasters/notesMaster1.xml" Id="Rc79967c1ba8c4e39" /></Relationships>
</file>

<file path=ppt/notesSlides/_rels/notesSlide2.xml.rels>&#65279;<?xml version="1.0" encoding="utf-8"?><Relationships xmlns="http://schemas.openxmlformats.org/package/2006/relationships"><Relationship Type="http://schemas.openxmlformats.org/officeDocument/2006/relationships/slide" Target="/ppt/slides/slide2.xml" Id="R645566f7f81e46f0" /><Relationship Type="http://schemas.openxmlformats.org/officeDocument/2006/relationships/notesMaster" Target="/ppt/notesMasters/notesMaster1.xml" Id="R00b6a11a30794056" /></Relationships>
</file>

<file path=ppt/notesSlides/_rels/notesSlide3.xml.rels>&#65279;<?xml version="1.0" encoding="utf-8"?><Relationships xmlns="http://schemas.openxmlformats.org/package/2006/relationships"><Relationship Type="http://schemas.openxmlformats.org/officeDocument/2006/relationships/slide" Target="/ppt/slides/slide3.xml" Id="R823aff01cd2c4d0c" /><Relationship Type="http://schemas.openxmlformats.org/officeDocument/2006/relationships/notesMaster" Target="/ppt/notesMasters/notesMaster1.xml" Id="Rc37e3bbe916848c1" /></Relationships>
</file>

<file path=ppt/notesSlides/_rels/notesSlide4.xml.rels>&#65279;<?xml version="1.0" encoding="utf-8"?><Relationships xmlns="http://schemas.openxmlformats.org/package/2006/relationships"><Relationship Type="http://schemas.openxmlformats.org/officeDocument/2006/relationships/slide" Target="/ppt/slides/slide4.xml" Id="Rabd974aa7e204830" /><Relationship Type="http://schemas.openxmlformats.org/officeDocument/2006/relationships/notesMaster" Target="/ppt/notesMasters/notesMaster1.xml" Id="Rdc49d0dd6296462f" /></Relationships>
</file>

<file path=ppt/notesSlides/_rels/notesSlide5.xml.rels>&#65279;<?xml version="1.0" encoding="utf-8"?><Relationships xmlns="http://schemas.openxmlformats.org/package/2006/relationships"><Relationship Type="http://schemas.openxmlformats.org/officeDocument/2006/relationships/slide" Target="/ppt/slides/slide5.xml" Id="Rb98d2c2ecf154b21" /><Relationship Type="http://schemas.openxmlformats.org/officeDocument/2006/relationships/notesMaster" Target="/ppt/notesMasters/notesMaster1.xml" Id="Red994fce2e05406f" /></Relationships>
</file>

<file path=ppt/notesSlides/_rels/notesSlide6.xml.rels>&#65279;<?xml version="1.0" encoding="utf-8"?><Relationships xmlns="http://schemas.openxmlformats.org/package/2006/relationships"><Relationship Type="http://schemas.openxmlformats.org/officeDocument/2006/relationships/slide" Target="/ppt/slides/slide6.xml" Id="R10659db179b54932" /><Relationship Type="http://schemas.openxmlformats.org/officeDocument/2006/relationships/notesMaster" Target="/ppt/notesMasters/notesMaster1.xml" Id="R841413c14c474a3c" /></Relationships>
</file>

<file path=ppt/notesSlides/_rels/notesSlide7.xml.rels>&#65279;<?xml version="1.0" encoding="utf-8"?><Relationships xmlns="http://schemas.openxmlformats.org/package/2006/relationships"><Relationship Type="http://schemas.openxmlformats.org/officeDocument/2006/relationships/slide" Target="/ppt/slides/slide7.xml" Id="Re4cc8c68dbb54c9d" /><Relationship Type="http://schemas.openxmlformats.org/officeDocument/2006/relationships/notesMaster" Target="/ppt/notesMasters/notesMaster1.xml" Id="Rf0bc650853824938" /></Relationships>
</file>

<file path=ppt/notesSlides/_rels/notesSlide8.xml.rels>&#65279;<?xml version="1.0" encoding="utf-8"?><Relationships xmlns="http://schemas.openxmlformats.org/package/2006/relationships"><Relationship Type="http://schemas.openxmlformats.org/officeDocument/2006/relationships/slide" Target="/ppt/slides/slide8.xml" Id="Rfb9b8f9b232247c3" /><Relationship Type="http://schemas.openxmlformats.org/officeDocument/2006/relationships/notesMaster" Target="/ppt/notesMasters/notesMaster1.xml" Id="R87a92d6758dd435d" /></Relationships>
</file>

<file path=ppt/notesSlides/_rels/notesSlide9.xml.rels>&#65279;<?xml version="1.0" encoding="utf-8"?><Relationships xmlns="http://schemas.openxmlformats.org/package/2006/relationships"><Relationship Type="http://schemas.openxmlformats.org/officeDocument/2006/relationships/slide" Target="/ppt/slides/slide9.xml" Id="Rd607769f54464d36" /><Relationship Type="http://schemas.openxmlformats.org/officeDocument/2006/relationships/notesMaster" Target="/ppt/notesMasters/notesMaster1.xml" Id="R993db018fc8f404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272437e72a54ffb" /><Relationship Type="http://schemas.openxmlformats.org/officeDocument/2006/relationships/notesMaster" Target="/ppt/notesMasters/notesMaster1.xml" Id="R18f03c409c894b7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da2c802918049fd" /><Relationship Type="http://schemas.openxmlformats.org/officeDocument/2006/relationships/notesMaster" Target="/ppt/notesMasters/notesMaster1.xml" Id="Rd04ba01cf0554fa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dcfb73ad59d4445" /><Relationship Type="http://schemas.openxmlformats.org/officeDocument/2006/relationships/notesMaster" Target="/ppt/notesMasters/notesMaster1.xml" Id="R8dcb2d2c376e4cf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63de66ec3724e71" /><Relationship Type="http://schemas.openxmlformats.org/officeDocument/2006/relationships/notesMaster" Target="/ppt/notesMasters/notesMaster1.xml" Id="R285116da12c54cf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1f9e0b7a4d64093" /><Relationship Type="http://schemas.openxmlformats.org/officeDocument/2006/relationships/notesMaster" Target="/ppt/notesMasters/notesMaster1.xml" Id="Rf5493a661aff439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f67fdc74cc74fa9" /><Relationship Type="http://schemas.openxmlformats.org/officeDocument/2006/relationships/notesMaster" Target="/ppt/notesMasters/notesMaster1.xml" Id="Rce87f3da0b4e459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09962b23288405c" /><Relationship Type="http://schemas.openxmlformats.org/officeDocument/2006/relationships/notesMaster" Target="/ppt/notesMasters/notesMaster1.xml" Id="R4e898f25914f4ce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1bede92b1e44967" /><Relationship Type="http://schemas.openxmlformats.org/officeDocument/2006/relationships/notesMaster" Target="/ppt/notesMasters/notesMaster1.xml" Id="R73273f3408004d2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a275057c86145b6" /><Relationship Type="http://schemas.openxmlformats.org/officeDocument/2006/relationships/notesMaster" Target="/ppt/notesMasters/notesMaster1.xml" Id="R2d12fdff3aca413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06c2ae05d8b4772" /><Relationship Type="http://schemas.openxmlformats.org/officeDocument/2006/relationships/notesMaster" Target="/ppt/notesMasters/notesMaster1.xml" Id="R6f7bcca127c84b9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2ad5eaed83b4117" /><Relationship Type="http://schemas.openxmlformats.org/officeDocument/2006/relationships/notesMaster" Target="/ppt/notesMasters/notesMaster1.xml" Id="R1fbb2dd54e634f2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1a58cca856144cf" /><Relationship Type="http://schemas.openxmlformats.org/officeDocument/2006/relationships/notesMaster" Target="/ppt/notesMasters/notesMaster1.xml" Id="R1011d09ebc9643b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4cbc425a97d4abe" /><Relationship Type="http://schemas.openxmlformats.org/officeDocument/2006/relationships/notesMaster" Target="/ppt/notesMasters/notesMaster1.xml" Id="Rf76b5e6dfece437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b85e044aa194829" /><Relationship Type="http://schemas.openxmlformats.org/officeDocument/2006/relationships/notesMaster" Target="/ppt/notesMasters/notesMaster1.xml" Id="Rf599a89498fe4c5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e9495f10b004dd8" /><Relationship Type="http://schemas.openxmlformats.org/officeDocument/2006/relationships/notesMaster" Target="/ppt/notesMasters/notesMaster1.xml" Id="R0e8970249d3445b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f0aac70621443b1" /><Relationship Type="http://schemas.openxmlformats.org/officeDocument/2006/relationships/notesMaster" Target="/ppt/notesMasters/notesMaster1.xml" Id="Rd4686999016547e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f31083a11af4f0f" /><Relationship Type="http://schemas.openxmlformats.org/officeDocument/2006/relationships/notesMaster" Target="/ppt/notesMasters/notesMaster1.xml" Id="R517f1f057cfb4ed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f4c1de1e52044c1" /><Relationship Type="http://schemas.openxmlformats.org/officeDocument/2006/relationships/notesMaster" Target="/ppt/notesMasters/notesMaster1.xml" Id="Rce3a3c871a4a485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645fc3f8a714a14" /><Relationship Type="http://schemas.openxmlformats.org/officeDocument/2006/relationships/notesMaster" Target="/ppt/notesMasters/notesMaster1.xml" Id="R24299751dc9048f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5d9167d6d1245e3" /><Relationship Type="http://schemas.openxmlformats.org/officeDocument/2006/relationships/notesMaster" Target="/ppt/notesMasters/notesMaster1.xml" Id="R33591e80adbd453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c6425e89289406e" /><Relationship Type="http://schemas.openxmlformats.org/officeDocument/2006/relationships/notesMaster" Target="/ppt/notesMasters/notesMaster1.xml" Id="R8aaa0a0ba2f94aa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4c2b31aabdc4dfb" /><Relationship Type="http://schemas.openxmlformats.org/officeDocument/2006/relationships/notesMaster" Target="/ppt/notesMasters/notesMaster1.xml" Id="R6fdd192651204fa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484c39740804065" /><Relationship Type="http://schemas.openxmlformats.org/officeDocument/2006/relationships/notesMaster" Target="/ppt/notesMasters/notesMaster1.xml" Id="R28c2ea6777ff45a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03a3ecff861412f" /><Relationship Type="http://schemas.openxmlformats.org/officeDocument/2006/relationships/notesMaster" Target="/ppt/notesMasters/notesMaster1.xml" Id="R61ea39c3887744e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ca2f6d902ec34ed9" /><Relationship Type="http://schemas.openxmlformats.org/officeDocument/2006/relationships/notesMaster" Target="/ppt/notesMasters/notesMaster1.xml" Id="R6bcc63da3d15499b"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c9059f22ae74317" /><Relationship Type="http://schemas.openxmlformats.org/officeDocument/2006/relationships/notesMaster" Target="/ppt/notesMasters/notesMaster1.xml" Id="Rbe74595dca56428c"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771e12483b448e2" /><Relationship Type="http://schemas.openxmlformats.org/officeDocument/2006/relationships/notesMaster" Target="/ppt/notesMasters/notesMaster1.xml" Id="R9083e57e8cb44eea"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df05061126c34c57" /><Relationship Type="http://schemas.openxmlformats.org/officeDocument/2006/relationships/notesMaster" Target="/ppt/notesMasters/notesMaster1.xml" Id="R259f2910c5ce4d56"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d5095e5836364fb1" /><Relationship Type="http://schemas.openxmlformats.org/officeDocument/2006/relationships/notesMaster" Target="/ppt/notesMasters/notesMaster1.xml" Id="R94380cf8ee5a4dca"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386c5a5b52b6493d" /><Relationship Type="http://schemas.openxmlformats.org/officeDocument/2006/relationships/notesMaster" Target="/ppt/notesMasters/notesMaster1.xml" Id="Ra9937fcc07bc406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안녕하세요. 광주3반 5조 발표를 맡은 한형준입니다. GroundWatch는 서울 25개 구별 대표 관측소의 수위·강수를 기본 화면에 제공합니다. 구 전체 평균은 아닙니다. 서울 추가 실측은9월30일까지 확보했고 이후 합성 확장을 명확히 구분합니다. 추가 실측 조회가 기존 모델의 재평가나 승격 완료를 뜻하지는 않습니다. 전국 실측 3곳의 280일 자료와 장마 평가는 추가 조회이고 운영 미승인입니다. 입력 마지막 날의 1일 뒤 수위를 추정하며, 발행 시점에 따라 당일 추정과 다음 날 예측을 구분합니다. 오늘은 운영 기준과 실제 동작 결과를 설명하겠습니다.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제안 B2B 고객은 지하수 관측·시설 유지관리 업무를 수행하는 기업의 운영 담당자입니다. 업무 담당자는 수위·강수·입력 날짜와 모델 품질을 함께 확인하고, 모델 운영자는 오차 증가와 재학습·교체 근거를 관리합니다. 공공기관은 자료 제공·현장 검증 협업 대상이며 공공기관 직접 판매는 B2G입니다. B2G가 과제 B2B 조건으로 인정됐다고 주장하지 않으며 실제 고객 도입·계약·매출·현장 효과는 아직 검증하지 않았습니다.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장애가 나면 담당자는 예측을 조회할 수 없습니다. 응답이 늦으면 여러 관측소를 확인하고 비교하는 업무가 지연됩니다. 모델 품질이 나빠지면 오차가 커진 예측을 계속 업무에 참고할 수 있습니다. 이 문제들이 서로 다르기 때문에 생존·준비 상태, 응답 지표, 모델 오차를 나누어 감시하도록 설계했습니다. 이는 저희가 정의한 업무 시나리오이며 현장 고객 효과를 측정한 결과는 아닙니다.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가이드의 도메인 매핑표를 기준으로 여덟 항목을 바꿨습니다. 예측 대상은 종가에서 다음 날 지하수위로, 입력은 20일 수위와 강수로 치환했습니다. 고정 금액으로 판단하던 게이트는 기존 예측 방식과의 상대 오차 비교로 바꿨습니다. 재학습과 알림의 흐름은 유지하면서 관측소, 날짜, 단위, 모델 버전으로 기록을 연결했습니다. 다음부터는 이렇게 바꾼 기준이 어떤 서비스 범위를 만드는지 설명하겠습니다.</a:t>
            </a:r>
          </a:p>
          <a:p xmlns:a="http://schemas.openxmlformats.org/drawingml/2006/main">
            <a:r>
              <a:t/>
            </a:r>
          </a:p>
          <a:p xmlns:a="http://schemas.openxmlformats.org/drawingml/2006/main">
            <a:r>
              <a:t>공식 가이드17~18쪽의8개 도메인 매핑 항목을 유지했습니다. 이해관계자는 지하수 관측·시설 유지관리 기업의 업무·모델 운영자로 제안합니다.</a:t>
            </a:r>
          </a:p>
          <a:p xmlns:a="http://schemas.openxmlformats.org/drawingml/2006/main">
            <a:r>
              <a:t/>
            </a:r>
          </a:p>
          <a:p xmlns:a="http://schemas.openxmlformats.org/drawingml/2006/main">
            <a:r>
              <a:t>공식 가이드17~18쪽의8개 도메인 매핑 항목을 유지했습니다. 이해관계자는 지하수 관측·시설 유지관리 기업의 업무·모델 운영자로 제안합니다.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확인할 수 있는 결과는 관측소별 다음 날 수위 예측과 모델 운영 상태입니다. 기본 시연 자료에는 공식 과거 관측과 별도로 구분한 합성 확장이 포함됩니다. 현장 적용을 위해서는 관측소의 적합성과 수위 변화의 원인, 실제 업무 시간이나 비용 효과를 추가로 검증해야 합니다. 싱크홀 발생 확률이나 안전 등급을 산출했다고 설명하지 않습니다. B2B는 관측·시설 유지관리 기업에 제안하고 공공기관은 협업 대상으로 구분합니다. 도입·계약·매출 실적은 확인하지 않았습니다.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최근 연속 20일의 수위와 강수를 관측소별 모델에 입력합니다. 모델은 LSTM으로 다음 날의 변화량을 예측하고 마지막 입력 수위에 더합니다. 관측소마다 모델과 scaler를 따로 관리하며 scaler는 학습 구간만 보고 학습합니다. 예측 결과에는 대상 날짜와 모델 버전을 함께 남겨 이후 실제 관측값이 들어왔을 때 같은 날짜의 오차를 계산할 수 있게 했습니다.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응답 목표는 p95 1초 이하입니다. p95는 요청 시간의 95백분위로, 일부 느린 요청까지 살피기 위한 지표입니다. 저장된 300초, 107개 요청의 측정에서는 0.6538초였고 서버 오류인 5xx는 0건이었습니다. 이 수치는 해당 요청 창의 결과이며 장기간 가용성을 보장하는 SLA는 아닙니다. 초기 실제 관측 모델은 종로구 검증 RMSE 0.032519로, 직전 수위를 그대로 예측하는 persistence 기준의 허용 상한 0.037465를 통과했습니다. 수위에는 음수와 0이 있어 백분율 오차보다 같은 수위 단위의 RMSE를 중심으로 설명합니다.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시연의 막대를 각각 가리킨다.]</a:t>
            </a:r>
          </a:p>
          <a:p xmlns:a="http://schemas.openxmlformats.org/drawingml/2006/main">
            <a:r>
              <a:t/>
            </a:r>
          </a:p>
          <a:p xmlns:a="http://schemas.openxmlformats.org/drawingml/2006/main">
            <a:r>
              <a:t>AIOps의 가치는 새 모델을 만들었다는 사실보다, 실제로 나아졌는지 확인하고 교체를 결정한 결과로 보여드리겠습니다. 이번 합성 시연에서 같은 후속 정답 30일을 비교했을 때 기존 RMSE는 0.0232006, 후보는 0.0210489로 9.27% 감소했습니다. 과거 구간 검사도 통과해 v2로 교체했습니다. 반면 다른 시연의 후보는 2.51% 개선되어 5% 기준에 미달했고 기존 모델을 유지했습니다. 그래프는 각 시연의 기존 오차를 100으로 맞춘 것으로, 서로 다른 시연의 후보를 직접 비교하는 그래프는 아닙니다. 현장 비용 절감이나 사고 예방 수치는 아직 측정하지 않았습니다.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장마나 장기 가뭄은 강수와 지하수위의 관계를 학습 때와 다르게 만들 수 있습니다. 양수나 배수 조건이 바뀌면 강수만으로 설명하기 어려운 수위 변화가 나타날 수 있습니다. 센서 교체나 영점 보정은 측정 기준의 변화를 일으킬 수 있습니다. 이런 상황에서는 먼저 원자료, 단위, 관측 조건을 확인해야 합니다. 현재 시스템은 이 원인들을 분류하는 기능 대신 실제 정답에 대한 예측 오차 증가를 감지합니다. 시연에서는 첫 정답 22일째부터 수위에 0.2를 더해 이러한 변화를 재현했습니다.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서울 기존 모델은 초기 검증 구간, 전국 모델은 동결한 holdout 구간을 기준으로 guard와 오차 임계값을 계산합니다.</a:t>
            </a:r>
          </a:p>
          <a:p xmlns:a="http://schemas.openxmlformats.org/drawingml/2006/main">
            <a:r>
              <a:t/>
            </a:r>
          </a:p>
          <a:p xmlns:a="http://schemas.openxmlformats.org/drawingml/2006/main">
            <a:r>
              <a:t>모델을 배포하기 전에 입력과 성능을 차례로 검사합니다. 입력은 연속 20일인지, 관측소와 날짜·단위가 맞는지, 강수가 0 이상인지 확인합니다. 초기 모델은 persistence 검증 RMSE의 110% 이내여야 합니다. 재학습 후보는 학습 이후 새로 확보한 정답 30일에서 기존 모델보다 오차가 5% 이상 줄어야 하고, 과거 검증 구간도 110% 허용 범위를 통과해야 합니다. 마지막으로 모델 로드와 시험 예측이 성공해야 서빙 모델을 바꿉니다.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서울 기존 모델은 초기 검증 구간, 전국 모델은 동결한 holdout 구간을 기준으로 guard와 오차 임계값을 계산합니다.</a:t>
            </a:r>
          </a:p>
          <a:p xmlns:a="http://schemas.openxmlformats.org/drawingml/2006/main">
            <a:r>
              <a:t/>
            </a:r>
          </a:p>
          <a:p xmlns:a="http://schemas.openxmlformats.org/drawingml/2006/main">
            <a:r>
              <a:t>서비스와 모델을 각각 감시합니다. 서비스는 300초에 최소 20요청이 모였을 때 p95가 1초를 넘거나 5xx 비율이 1% 이상이면 이벤트를 기록합니다. 모델은 21일 RMSE를 사용하고 정상 검증 구간의 rolling RMSE 95백분위에 1.5배를 곱한 값을 임계로 사용합니다. 단발 초과에 반응하지 않도록 연속 2회 조건을 두고, 중복 재학습을 줄이기 위해 21일 cooldown을 적용했습니다. 이 값들은 과제의 운영 정책이며 지반 안전 기준은 아닙니다.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[왼쪽부터 오른쪽으로 순서대로 가리킨다.]</a:t>
            </a:r>
          </a:p>
          <a:p xmlns:a="http://schemas.openxmlformats.org/drawingml/2006/main">
            <a:r>
              <a:t/>
            </a:r>
          </a:p>
          <a:p xmlns:a="http://schemas.openxmlformats.org/drawingml/2006/main">
            <a:r>
              <a:t>정답이 쌓이면 오차를 감시하고, 반복 초과 시 품질 알림과 재학습 작업을 남깁니다. 최근 41일에는 입력 문맥 20일과 학습 정답 21일이 들어갑니다. 후보를 만든 뒤에는 새로운 정답 30일을 기다려 기존 모델과 비교합니다. 개선과 회귀 검사에 모두 통과하면 교체하고 실패하면 기존 모델을 유지합니다. 따라서 재학습 완료와 모델 교체는 서로 다른 단계입니다.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정답이 부족하면 평가를 기다립니다. 후보가 성능 기준에 미달하거나 입력 날짜에 공백이 있으면 기존 모델을 유지합니다. 모델 로드 실패도 전환을 중단하고 오류를 기록합니다. 이미 검증한 이전 모델로 돌아갈 때는 사유를 남기는 복귀 요청을 사용합니다. 프로세스가 재시작되어 중단된 작업도 성공으로 처리하지 않고 interrupted로 보존합니다. 이처럼 무엇을 바꾸지 않았는지와 그 이유까지 운영 이력에 남깁니다.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[위쪽 데이터 흐름을 왼쪽부터 읽는다.]</a:t>
            </a:r>
          </a:p>
          <a:p xmlns:a="http://schemas.openxmlformats.org/drawingml/2006/main">
            <a:r>
              <a:t/>
            </a:r>
          </a:p>
          <a:p xmlns:a="http://schemas.openxmlformats.org/drawingml/2006/main">
            <a:r>
              <a:t>자료를 업로드하면 FastAPI가 형식을 검사하고 worker가 모델을 학습합니다. 학습 결과와 지표·버전은 MLflow에 등록하고 FastAPI가 검증된 모델로 추론합니다. 예측과 운영 기록은 SQLite에 저장합니다. 이 구성은 단일 serving-app 컨테이너 안에서 실행합니다. MLflow는 로컬 SQLite와 artifact 파일을 사용하므로 별도 MLflow 서버를 띄운 구조는 아닙니다. 대시보드는 서빙 API를 호출하고 자료와 모델, 운영 이력은 볼륨으로 보존합니다.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이번에는 운영 중 데이터가 흐르는 순서입니다. 먼저 예측값과 모델 버전·대상일을 저장합니다. 그 날짜의 실제 정답이 도착하면 예측과 연결해 오차를 계산합니다. 반복된 오차 증가를 감지하면 이벤트와 로그를 남기고 worker의 재학습 작업을 등록합니다. 이후 후보 검증과 교체는 앞서 설명한 운영 정책을 따릅니다.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사용되는 API를 기능별로 모았습니다. 추론은 POST, 생존과 준비 확인은 GET입니다. 업로드와 학습, 자료 진행, 복귀는 비동기 작업으로 접수합니다. 여기서 202는 요청을 받았다는 뜻이며 완료 여부는 작업 조회에서 다시 확인합니다. 순차 배치 검증에는 replays의 advance를 사용합니다. 교수자 원본의 batch-test나 logs 주소를 팀 서비스의 엔드포인트로 옮겨 적지 않았습니다.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왼쪽은 실제 20일 요청 중 한 행입니다. 관측소, 날짜, 수위, 강수와 수위 단위를 보냅니다. 정상 응답에는 예측값뿐 아니라 사용 모델 버전과 입력·예측 날짜가 함께 있습니다. 빈 sequence를 보낸 실제 요청은 422와 too_short 오류를 반환했습니다. 따라서 잘못된 입력을 받아 임의의 예측값을 만드는 대신 계약 단계에서 막는 것을 확인했습니다.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업로드는 관측 CSV와 관측소·단위 manifest를 함께 전송합니다. 학습에는 자료 식별자와 대상 구를 보냅니다. 배치 검증은 진행할 일수를 보내며 새 정답을 순서대로 공개하고 감시·후보 평가까지 실행합니다. 표의 식별자는 계약을 설명하기 위한 예시이며 실제 요청과 응답은 증거 파일에 보존했습니다. 접수 결과로 받은 작업 식별자를 조회해 최종 상태와 오류를 확인합니다.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live는 프로세스 생존, ready는 입력과 모델의 준비를 확인합니다. 준비가 부족하면 ready는 503을 반환합니다. events와 jobs에서는 품질 이벤트와 작업의 상태·오류를 조회합니다. 실제 시연에서도 초기 모델 준비가 끝나기 전에 자료 진행을 요청했을 때 409가 반환되어, 준비되지 않은 상태의 진행을 막는 것을 확인했습니다. 이제부터는 이렇게 호출한 결과를 실제 화면으로 보여드리겠습니다.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서울 합성 교체 시연의 실제 실행 화면]</a:t>
            </a:r>
          </a:p>
          <a:p xmlns:a="http://schemas.openxmlformats.org/drawingml/2006/main">
            <a:r>
              <a:t/>
            </a:r>
          </a:p>
          <a:p xmlns:a="http://schemas.openxmlformats.org/drawingml/2006/main">
            <a:r>
              <a:t>실제 진단 화면입니다. container가 true이고 컨테이너 ID와 API 프로세스 9, worker 프로세스 7을 확인할 수 있습니다. worker_running도 true입니다. 이는 프로세스가 실행 중이라는 증거이며 모델 품질이나 장기 가용성까지 입증하는 값은 아닙니다. 다음 화면들은 이 검증 과정에서 직접 캡처한 결과입니다.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서울 합성 교체 시연의 실제 실행 화면]</a:t>
            </a:r>
          </a:p>
          <a:p xmlns:a="http://schemas.openxmlformats.org/drawingml/2006/main">
            <a:r>
              <a:t/>
            </a:r>
          </a:p>
          <a:p xmlns:a="http://schemas.openxmlformats.org/drawingml/2006/main">
            <a:r>
              <a:t>종로구의 시연 시작 상태입니다. 모델 버전은 1이고 7월 10일 입력으로 7월 11일 수위를 예측했습니다. 예측값은 약 -22.6053 gl.-m입니다. 이 시점에는 후속 정답이 0일이므로 오차 평가와 드리프트 판단은 대기합니다. 이후 같은 시연에서 자료를 진행하겠습니다.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서울 합성 교체 시연의 실제 실행 화면]</a:t>
            </a:r>
          </a:p>
          <a:p xmlns:a="http://schemas.openxmlformats.org/drawingml/2006/main">
            <a:r>
              <a:t/>
            </a:r>
          </a:p>
          <a:p xmlns:a="http://schemas.openxmlformats.org/drawingml/2006/main">
            <a:r>
              <a:t>8월 1일부터 수위에 0.2를 더한 시연 자료를 공개했습니다. 오차 감시와 드리프트 감지가 완료됐고 자동 재학습도 완료된 화면입니다. 21일 RMSE가 약 0.0549187로 임계값 0.0172312를 넘었습니다. 다만 후보를 만들었다고 즉시 교체하지는 않았고, 이 캡처에서는 후속 정답 30일을 기다리는 상태였습니다.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서울 합성 교체 시연의 실제 실행 화면]</a:t>
            </a:r>
          </a:p>
          <a:p xmlns:a="http://schemas.openxmlformats.org/drawingml/2006/main">
            <a:r>
              <a:t/>
            </a:r>
          </a:p>
          <a:p xmlns:a="http://schemas.openxmlformats.org/drawingml/2006/main">
            <a:r>
              <a:t>실제 종로구 품질 이벤트입니다. 오차와 임계값, 재학습 요청 메시지, 발생 시각을 함께 확인할 수 있습니다. 알림은 10월 8일 06시 12분 24초 UTC에 기록됐습니다. 이 알림은 운영 화면과 SQLite 이벤트로 제공하며 외부 메신저를 보냈다고 설명하지 않습니다.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서울 합성 교체 시연의 실제 실행 화면]</a:t>
            </a:r>
          </a:p>
          <a:p xmlns:a="http://schemas.openxmlformats.org/drawingml/2006/main">
            <a:r>
              <a:t/>
            </a:r>
          </a:p>
          <a:p xmlns:a="http://schemas.openxmlformats.org/drawingml/2006/main">
            <a:r>
              <a:t>알림에 이어 생성된 fine_tune 작업의 실제 기록입니다. 상태는 completed이고 후보 버전은 2입니다. 결과의 awaiting_shadow는 새 정답으로 비교 평가를 기다린다는 뜻입니다. 이때 서빙 모델은 여전히 v1이고 필요한 후속 정답은 30개입니다. 화면을 통해 학습 완료와 배포 완료를 구분할 수 있습니다.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서울 합성 교체 시연의 실제 실행 화면]</a:t>
            </a:r>
          </a:p>
          <a:p xmlns:a="http://schemas.openxmlformats.org/drawingml/2006/main">
            <a:r>
              <a:t/>
            </a:r>
          </a:p>
          <a:p xmlns:a="http://schemas.openxmlformats.org/drawingml/2006/main">
            <a:r>
              <a:t>[기존·후보 막대와 점선을 가리킨다.]</a:t>
            </a:r>
          </a:p>
          <a:p xmlns:a="http://schemas.openxmlformats.org/drawingml/2006/main">
            <a:r>
              <a:t/>
            </a:r>
          </a:p>
          <a:p xmlns:a="http://schemas.openxmlformats.org/drawingml/2006/main">
            <a:r>
              <a:t>후속 정답 30일이 확보된 뒤의 평가 화면입니다. 막대는 짧을수록 오차가 작고 점선은 기존보다 5% 이상 줄어야 하는 기준입니다. 후보의 오차는 기존 대비 9.27% 줄었습니다. 과거 구간 오차도 허용 상한을 통과했습니다. 그래서 화면 상단에 후보 모델로 교체 완료가 표시됩니다. 작은 소수점 숫자를 해석해야 했던 평가를 그래프와 개선율로 먼저 읽을 수 있게 바꿨습니다.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서울 합성 교체 시연의 실제 실행 화면]</a:t>
            </a:r>
          </a:p>
          <a:p xmlns:a="http://schemas.openxmlformats.org/drawingml/2006/main">
            <a:r>
              <a:t/>
            </a:r>
          </a:p>
          <a:p xmlns:a="http://schemas.openxmlformats.org/drawingml/2006/main">
            <a:r>
              <a:t>후보 평가, 모델 교체, 현재 모델 서빙을 따로 확인한 화면입니다. 후보 v2가 게이트를 통과해 교체됐고 실제 예측에서도 v2가 사용됐습니다. 등록된 후보가 존재한다는 사실만 확인한 것이 아니라, 최종 응답에 새 모델이 쓰이는 것까지 확인했습니다.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서울 합성 교체 시연의 실제 실행 화면]</a:t>
            </a:r>
          </a:p>
          <a:p xmlns:a="http://schemas.openxmlformats.org/drawingml/2006/main">
            <a:r>
              <a:t/>
            </a:r>
          </a:p>
          <a:p xmlns:a="http://schemas.openxmlformats.org/drawingml/2006/main">
            <a:r>
              <a:t>같은 시연의 진행 후 예측 화면입니다. 모델 버전은 2이고 9월 1일 입력으로 9월 2일 수위를 약 -21.4740 gl.-m로 예측했습니다. 앞의 v1 화면과 날짜가 다르므로 두 예측값의 차이를 정확도 개선으로 해석하지 않습니다. 정확도 개선은 25쪽의 동일 정답 30일 비교가 근거이고, 이 화면은 교체한 모델이 실제 응답을 만든다는 근거입니다.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서울 합성 교체 시연의 실제 실행 화면]</a:t>
            </a:r>
          </a:p>
          <a:p xmlns:a="http://schemas.openxmlformats.org/drawingml/2006/main">
            <a:r>
              <a:t/>
            </a:r>
          </a:p>
          <a:p xmlns:a="http://schemas.openxmlformats.org/drawingml/2006/main">
            <a:r>
              <a:t>강수량은 날짜별로 관측되는 이산 자료라 실제 값이 있는 날의 날짜를 표시했습니다. 0mm는 점으로, 결측은 빈칸으로 구분하고 긴 기간은 가로로 이동할 수 있습니다. 이 캡처에서는 8월 27일 강수 3.5mm가 막대로 보이고, 비가 없는 날은 0mm 점으로 보입니다. 운영자가 그래프의 값과 날짜를 함께 읽을 수 있게 개선한 부분입니다.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기본 화면은 서울 25개 구별 대표 관측소이며 종로를 처음 선택합니다. 서울 추가 실측22,582행을2026년9월30일까지 확보했습니다. 10월1일부터는 합성 확장으로 분리하며 실제 관측 날짜와 모델 입력 날짜를 함께 표시합니다. 저장자료 검증 모드를 선택하면 과거 25개 모델을 확인합니다. 전국 실측3곳과 전국17시도 합성 시뮬레이션은 별도 자료 범위이며 운영 미승인입니다. 최신HTTP에서서울25곳중23곳 모델준비,전국실측3곳중1곳,합성17곳중16곳이 모델준비입니다. 서울2곳은과거날짜공백을채우지않았고합성1곳은초기게이트탈락으로persistence를표시합니다. 자료조회가능과모델준비를구분합니다. 같은 관측소 선택이 상세와 모델 관리로 이어지고 실제 전국 강수 지도와 장마 평가를 조회합니다. GIMS 위치만 확보한 1,023개는 기본 지도와 목록에 표시하지 않습니다. 관측소 상세는 Three.js로 최근 실측과 추정 수위를 비교합니다. 전국은 해발 기준면의 수위 비교이고 서울 GL 단면은 별도 개념도입니다. 실제 지층 도면은 없으며 3D를 사용할 수 없으면 2D 비교도로 대체합니다.</a:t>
            </a:r>
          </a:p>
          <a:p xmlns:a="http://schemas.openxmlformats.org/drawingml/2006/main">
            <a:r>
              <a:t/>
            </a:r>
          </a:p>
          <a:p xmlns:a="http://schemas.openxmlformats.org/drawingml/2006/main">
            <a:r>
              <a:t>추가 조회 모드 ‘서울 실제 API 관측·예측 · 원값’은 기존 저장자료 경로와 별도입니다. VTsSec 원값·ASOS108 강수·강수 결측 마스크의3특성을 api_native_masked_v1 namespace에서 사용합니다. 수위 단위가 확정되지 않아 원값을 해발·GL로 바꾸거나 공간도표에 표시하지 않습니다. 격리 볼륨에서 수집·학습이 미준비일 수 있으며 실제API25개 모델준비나 운영승격 성공을 보장하지 않습니다.</a:t>
            </a:r>
          </a:p>
          <a:p xmlns:a="http://schemas.openxmlformats.org/drawingml/2006/main">
            <a:r>
              <a:t/>
            </a:r>
          </a:p>
          <a:p xmlns:a="http://schemas.openxmlformats.org/drawingml/2006/main">
            <a:r>
              <a:t>근거: frontend/src/main.tsx; evidence/records/2026-10-08-national/integrated-network-http.json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서울 25개 구별 대표 관측소가 기본 서비스입니다. GIMS 참고 위치 1,023곳은 확보 목록만 보존하며 기본 지도에서 제외합니다. 서울 25곳을 합한 1,048개는 원천 목록 수이며 서비스 범위가 아닙니다. 광주도척, 무안무안, 제주조천 세 곳은 2026년 1월1일부터 10월7일까지 각각 280일 실측을 확보했습니다. AWS 일자료는280일201,206건입니다. API허브 ASOS 활용 승인과 실제 응답을 확인했습니다. ASOS2020~2025년 원천은 유효2,731행·결측3,845행으로 연속6년 모델 입력이 아닙니다. 원천 음수 결측은0으로 채우지 않습니다. 전국17시도 수위·강수는 합성 시나리오이며 실측3곳과 분리합니다. 장마 통계는 66지점 54년 3,564행을 평가 전용으로 사용합니다. 위치 목록의 표준화 테스트 레이어 한계와 미확인 지점은 별도 상태로 남깁니다.</a:t>
            </a:r>
          </a:p>
          <a:p xmlns:a="http://schemas.openxmlformats.org/drawingml/2006/main">
            <a:r>
              <a:t/>
            </a:r>
          </a:p>
          <a:p xmlns:a="http://schemas.openxmlformats.org/drawingml/2006/main">
            <a:r>
              <a:t>근거: data/national_stations_gims.json; data/national_groundwater_samples.json; data/national_aws_history.json.gz; data/rainy_seasons_kma_manifest.json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서울 수위는 gl.-m 표기를 보존하고 전국 실험 자료는 elevation m, 즉 기준면에 대한 수위로 관리합니다. GIMS가 제공한 기상지점 이름을 기상청 ASOS 이름과 대조한 세 연결만 실험 입력으로 사용합니다. 기관 간 숫자 코드가 같다고 같은 지점으로 간주하지 않습니다. 원천 필드와 날짜·단위 계약 확인은 학습 실험의 근거이고, 현장 운영 승인과 기준점 변경 이력 검증을 대신하지 않습니다.</a:t>
            </a:r>
          </a:p>
          <a:p xmlns:a="http://schemas.openxmlformats.org/drawingml/2006/main">
            <a:r>
              <a:t/>
            </a:r>
          </a:p>
          <a:p xmlns:a="http://schemas.openxmlformats.org/drawingml/2006/main">
            <a:r>
              <a:t>추가 조회 모드 ‘서울 실제 API 관측·예측 · 원값’은 기존 저장자료 경로와 별도입니다. VTsSec 원값·ASOS108 강수·강수 결측 마스크의3특성을 api_native_masked_v1 namespace에서 사용합니다. 수위 단위가 확정되지 않아 원값을 해발·GL로 바꾸거나 공간도표에 표시하지 않습니다. 격리 볼륨에서 수집·학습이 미준비일 수 있으며 실제API25개 모델준비나 운영승격 성공을 보장하지 않습니다.</a:t>
            </a:r>
          </a:p>
          <a:p xmlns:a="http://schemas.openxmlformats.org/drawingml/2006/main">
            <a:r>
              <a:t/>
            </a:r>
          </a:p>
          <a:p xmlns:a="http://schemas.openxmlformats.org/drawingml/2006/main">
            <a:r>
              <a:t>근거: data/national_experimental_joined.json; data/README.md; docs/contracts.md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M0는 최근20일 수위·강수의 두 채널입니다. M1은 같은 시계열에3·7·14일 누적강수, 최대20일 연속강수일수, 연중sin/cos 등6개 요약특징을 추가합니다. 실제 장마 시작·종료일은 사후에 확정되므로 모델 입력으로 넣지 않고 평가 그룹을 나누는 데만 사용합니다. 실측 두 모델은 학습 종료5월31일, 튜닝 검증6월, 최종 비교7월1일~10월7일99정답으로 고정했습니다. 별도 합성17시도는 학습2022~2023년, 검증2024년1~3월, 평가2024년4월1일~2025년12월31일640정답입니다. 합성 장마는 매년6월20일~7월25일 시나리오로 정하며 공식 장마 통계가 아닙니다. scaler와 강한 강수 P95도 학습 구간만 사용합니다.</a:t>
            </a:r>
          </a:p>
          <a:p xmlns:a="http://schemas.openxmlformats.org/drawingml/2006/main">
            <a:r>
              <a:t/>
            </a:r>
          </a:p>
          <a:p xmlns:a="http://schemas.openxmlformats.org/drawingml/2006/main">
            <a:r>
              <a:t>실제API 원값 모드는3특성이며 M0/M1의 기존2특성 경로와 namespace를 분리합니다.</a:t>
            </a:r>
          </a:p>
          <a:p xmlns:a="http://schemas.openxmlformats.org/drawingml/2006/main">
            <a:r>
              <a:t/>
            </a:r>
          </a:p>
          <a:p xmlns:a="http://schemas.openxmlformats.org/drawingml/2006/main">
            <a:r>
              <a:t>근거: serving_app/national_models.py; scripts/evaluate_national_seasons.py; evidence/records/2026-10-08-national/seasonal-evaluation.json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표는 공통 최종 평가99정답의 RMSE입니다. 감소율이 양수면 M1이 M0보다 좋습니다. 제주 M1은 M0보다 전체29.43%, 장마52.27%좋지만 전체 persistence보다 약0.71%나쁩니다. 제주 장마는19개 정답뿐이므로30개 계절 게이트를 충족하지 않습니다. 무안과 광주에서는 M1이 더 나빴습니다. 별도 합성17곳34모델의640일 평가도 완료했습니다. 전체 pooled RMSE는M0 0.04083450에서M1 0.04066274로 줄고16곳이 미세 개선했지만5%개선 지점은0곳입니다. 합성 장마72정답/지점의pooled RMSE는0.09114846에서0.09118669로 악화됐고 강한 강수618개 합계도0.12931976에서0.12972571로 악화됐습니다. 합성 시나리오에서 장마 개선을 입증하지 못했고 실측 운영 승격 근거로 사용하지 않습니다. 따라서 강수 특징을 넣으면 무조건 더 좋아진다고 결론내리지 않고, 나쁜 후보는 교체하지 않습니다.</a:t>
            </a:r>
          </a:p>
          <a:p xmlns:a="http://schemas.openxmlformats.org/drawingml/2006/main">
            <a:r>
              <a:t/>
            </a:r>
          </a:p>
          <a:p xmlns:a="http://schemas.openxmlformats.org/drawingml/2006/main">
            <a:r>
              <a:t>근거: evidence/records/2026-10-08-national/seasonal-evaluation.json; synthetic-seasonal-evaluation.json; synthetic-seasonal-summary.json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API 원본 검증 후3개 지하수 관측소와 완료 일강수를 D−1기준으로 수집합니다. 기본Compose에서는 전국 scheduler와 실험 감시가 활성화됩니다. 실제 발행 예측에 정답이 연결되면21일RMSE를 매일 계산하고 연속2회 초과,21일대기,41일자료 조건에서 후보를 학습합니다. 새 정답30일 비교와5%개선·guard 조건을 만족해야 합니다. 현재3곳은실험 연결이므로 운영 승격은 차단됩니다. 동결guard의 계절 표본이 부족한M1후보는 회복 불가능한 조건이므로 즉시 만료합니다. 그외 후속 정답 대기는90일 상한으로 만료해 영구 대기를 방지합니다. 합성 미래30일 공개 실험은 검증용이며 실제 미래30일 운영 실증이 아닙니다. D−1자료로D에발행하는값은입력기준1일후의당일추정이며발행일기준내일예측이아닙니다. 오늘 내려받은 과거자료로 당시 예측을 발행한 것처럼 소급하지 않습니다.</a:t>
            </a:r>
          </a:p>
          <a:p xmlns:a="http://schemas.openxmlformats.org/drawingml/2006/main">
            <a:r>
              <a:t/>
            </a:r>
          </a:p>
          <a:p xmlns:a="http://schemas.openxmlformats.org/drawingml/2006/main">
            <a:r>
              <a:t>실제API 원값 모드의 감지 임계는 초기validation RMSE×1.5이며 rolling21일 RMSE의P95가 아닙니다. 최근21일 오차를 연속2회 초과하면cooldown21일과최근41일 조건으로 최대30epoch 파인튜닝합니다. cutoff 다음날부터 정확히 연속30일의 새 정답에서5%개선을 확인하고, 후보 학습과 겹치지 않는 동일 과거guard 최소10정답에서 부모 모델 대비 악화10%이내를 확인합니다. CSV·전국 모델의 기존 임계·guard 정책과 섞지 않습니다. 준비·평가·승격은 별도 상태이며 현재 수집 미준비 가능성이 있습니다.</a:t>
            </a:r>
          </a:p>
          <a:p xmlns:a="http://schemas.openxmlformats.org/drawingml/2006/main">
            <a:r>
              <a:t/>
            </a:r>
          </a:p>
          <a:p xmlns:a="http://schemas.openxmlformats.org/drawingml/2006/main">
            <a:r>
              <a:t>근거: serving_app/national_observation_worker.py; national_service.py; evidence/records/2026-10-08-national/integrated-pipeline-http.json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기존v1시연 API는 호환 경로로 유지하고 사용자 화면은v2network읽기계약을 통해 같은 관측소목록을 봅니다. network history는수위와연결강수, pipeline은모델·감시·장마평가·수집상태를 제공합니다. Compose컨테이너 안에서API와영속worker를 실행하고재기동 후완료모델을중복학습하지 않습니다. 최종 통합 전체 컨테이너 테스트245개 통과·1skip과 프런트32개 테스트·빌드를 확인했습니다. 최종Docker healthy와브라우저화면을확인했습니다. 재기동후34완료모델·17관측소·29,597합성행·58작업이보존되고중복학습되지않았습니다. 이 실행 검증은 실제 미래 정답30일이나 운영 승격 근거는 아닙니다.</a:t>
            </a:r>
          </a:p>
          <a:p xmlns:a="http://schemas.openxmlformats.org/drawingml/2006/main">
            <a:r>
              <a:t/>
            </a:r>
          </a:p>
          <a:p xmlns:a="http://schemas.openxmlformats.org/drawingml/2006/main">
            <a:r>
              <a:t>추가 조회 모드 ‘서울 실제 API 관측·예측 · 원값’은 기존 저장자료 경로와 별도입니다. VTsSec 원값·ASOS108 강수·강수 결측 마스크의3특성을 api_native_masked_v1 namespace에서 사용합니다. 수위 단위가 확정되지 않아 원값을 해발·GL로 바꾸거나 공간도표에 표시하지 않습니다. 격리 볼륨에서 수집·학습이 미준비일 수 있으며 실제API25개 모델준비나 운영승격 성공을 보장하지 않습니다.</a:t>
            </a:r>
          </a:p>
          <a:p xmlns:a="http://schemas.openxmlformats.org/drawingml/2006/main">
            <a:r>
              <a:t/>
            </a:r>
          </a:p>
          <a:p xmlns:a="http://schemas.openxmlformats.org/drawingml/2006/main">
            <a:r>
              <a:t>근거: serving_app/network_api.py; compose.yaml; evidence/README.md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기본 서비스는 서울 25개 구별 대표 관측소 관제입니다. 서울 추가 실측은9월30일까지 확보했으며10월1일 이후는 합성 시연으로 분리합니다. 추가 실측의 기존 모델 재평가는 완료로 주장하지 않습니다. 전국 3곳의 280일 실측과 LSTM 1곳·persistence 2곳은 운영 미승인 추가 조회입니다. GIMS 위치 목록은 기본 화면에서 제외합니다. 미연결 예보와 미확인 특보는 화면에서 제외하되 원천 샘플은 보존합니다. 실제 발행 이후 정답 30일 평가와 현장 운영 승인은 아직 추가 검증 대상입니다.</a:t>
            </a:r>
          </a:p>
          <a:p xmlns:a="http://schemas.openxmlformats.org/drawingml/2006/main">
            <a:r>
              <a:t/>
            </a:r>
          </a:p>
          <a:p xmlns:a="http://schemas.openxmlformats.org/drawingml/2006/main">
            <a:r>
              <a:t>근거: TODO.md; data/national_forecast_sample.json; data/national_warning_status.json; docs/operations.md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 frontend와 backend 모듈로 구성한 서비스의 읽기 검증. 복사한 runtime을 사용하고 외부 수집·추가 학습은 비활성화했다. 실제 API 관측소 목록·선택·3D/2D·모델 관리·모바일 확인. 모델 정확도나 실측 승격의 신규 증거가 아니다. 근거: evidence/records/2026-10-09-final/live-ui.json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단위35와 훅/지도 통합5는 Vitest, E2E4는 모의 API를 사용한 Chrome 테스트다. Python 245통과·1skip은 최종 Docker 이미지에서 전체 backend/tests 실행 결과이며 skip은 opt-in TensorFlow 학습 smoke다. 3D 번들 크기 경고는 남아 있으며 오류가 아니다. 근거: evidence/records/2026-10-09-final/verification.json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팀은 기획·일정 관리, 화면·백엔드, AI 모델·AIOps, 데이터 분석·전처리 역할로 구성했습니다. 저희가 확인한 결과는 예측 오차를 감시하고, 검증한 후보를 실제 서빙에 반영하며, 기준 미달 후보는 유지 정책으로 처리한 것입니다. 발표를 마치겠습니다. 감사합니다.</a:t>
            </a:r>
          </a:p>
          <a:p xmlns:a="http://schemas.openxmlformats.org/drawingml/2006/main">
            <a:r>
              <a:t/>
            </a:r>
          </a:p>
          <a:p xmlns:a="http://schemas.openxmlformats.org/drawingml/2006/main">
            <a:r>
              <a:t>근거: 사진: 사용자 제공 1.JPG 박건우, 2.jpg 한형준, 3.png 장서연, 4.png 최은주, 5.png 조건우, 6.png 이병주. 역할은 proposal.md 배정이며 개인별 구현 실적을 증명하지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773dc3684a1452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68fcc5be07b4eb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3727eb563304b4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125afba4d5a48c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d2aa3953aa548b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a3ea74fa11d4bf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C3A0E04-4C21-45DE-8760-703EFDC7FB29}"/>
              </a:ext>
            </a:extLst>
          </p:cNvPr>
          <p:cNvSpPr>
            <a:spLocks xmlns:a="http://schemas.openxmlformats.org/drawingml/2006/main" noGrp="1"/>
          </p:cNvSpPr>
          <p:nvPr>
            <p:ph type="title" idx="0"/>
          </p:nvPr>
        </p:nvSpPr>
        <p:spPr>
          <a:xfrm xmlns:a="http://schemas.openxmlformats.org/drawingml/2006/main">
            <a:off x="914400" y="1943100"/>
            <a:ext cx="7315200" cy="7429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600" b="1">
                <a:solidFill>
                  <a:schemeClr val="tx1"/>
                </a:solidFill>
                <a:latin typeface="NanumGothic"/>
                <a:ea typeface="NanumGothic"/>
                <a:cs typeface="NanumGothic"/>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FC63490-DC33-4367-AE7C-29917885DB11}"/>
              </a:ext>
            </a:extLst>
          </p:cNvPr>
          <p:cNvSpPr>
            <a:spLocks xmlns:a="http://schemas.openxmlformats.org/drawingml/2006/main" noGrp="1"/>
          </p:cNvSpPr>
          <p:nvPr>
            <p:ph type="subTitle" idx="1"/>
          </p:nvPr>
        </p:nvSpPr>
        <p:spPr>
          <a:xfrm xmlns:a="http://schemas.openxmlformats.org/drawingml/2006/main">
            <a:off x="1371600" y="2828925"/>
            <a:ext cx="6400800" cy="571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575" b="0">
                <a:solidFill>
                  <a:schemeClr val="tx1"/>
                </a:solidFill>
                <a:latin typeface="NanumGothic"/>
                <a:ea typeface="NanumGothic"/>
                <a:cs typeface="NanumGothic"/>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AF47D99-F49B-4E79-8C44-832735CB7E24}"/>
              </a:ext>
            </a:extLst>
          </p:cNvPr>
          <p:cNvSpPr>
            <a:spLocks xmlns:a="http://schemas.openxmlformats.org/drawingml/2006/main" noGrp="1"/>
          </p:cNvSpPr>
          <p:nvPr>
            <p:ph type="title" idx="0"/>
          </p:nvPr>
        </p:nvSpPr>
        <p:spPr>
          <a:xfrm xmlns:a="http://schemas.openxmlformats.org/drawingml/2006/main">
            <a:off x="914400" y="2143125"/>
            <a:ext cx="7315200" cy="857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1">
                <a:solidFill>
                  <a:schemeClr val="tx1"/>
                </a:solidFill>
                <a:latin typeface="NanumGothic"/>
                <a:ea typeface="NanumGothic"/>
                <a:cs typeface="NanumGothic"/>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01D0546-2E06-48CC-B79D-AF1593C25031}"/>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NanumGothic"/>
                <a:ea typeface="NanumGothic"/>
                <a:cs typeface="NanumGothic"/>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BDFB8A6-7FDD-45FB-98D1-937CE15645E5}"/>
              </a:ext>
            </a:extLst>
          </p:cNvPr>
          <p:cNvSpPr>
            <a:spLocks xmlns:a="http://schemas.openxmlformats.org/drawingml/2006/main" noGrp="1"/>
          </p:cNvSpPr>
          <p:nvPr>
            <p:ph type="body" idx="1"/>
          </p:nvPr>
        </p:nvSpPr>
        <p:spPr>
          <a:xfrm xmlns:a="http://schemas.openxmlformats.org/drawingml/2006/main">
            <a:off x="514350" y="1428750"/>
            <a:ext cx="81153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NanumGothic"/>
                <a:ea typeface="NanumGothic"/>
                <a:cs typeface="NanumGothic"/>
              </a:defRPr>
            </a:defPPr>
            <a:lvl1pPr marL="171450" indent="-171450">
              <a:lnSpc>
                <a:spcPct val="110000"/>
              </a:lnSpc>
              <a:spcBef>
                <a:spcPts val="0"/>
              </a:spcBef>
              <a:spcAft>
                <a:spcPts val="900"/>
              </a:spcAft>
              <a:buChar char="•"/>
              <a:defRPr/>
            </a:lvl1pPr>
            <a:lvl2pPr marL="400050" indent="-171450">
              <a:lnSpc>
                <a:spcPct val="110000"/>
              </a:lnSpc>
              <a:spcBef>
                <a:spcPts val="0"/>
              </a:spcBef>
              <a:spcAft>
                <a:spcPts val="900"/>
              </a:spcAft>
              <a:buChar char="•"/>
              <a:defRPr/>
            </a:lvl2pPr>
            <a:lvl3pPr marL="628650" indent="-171450">
              <a:lnSpc>
                <a:spcPct val="110000"/>
              </a:lnSpc>
              <a:spcBef>
                <a:spcPts val="0"/>
              </a:spcBef>
              <a:spcAft>
                <a:spcPts val="900"/>
              </a:spcAft>
              <a:buChar char="•"/>
              <a:defRPr/>
            </a:lvl3pPr>
            <a:lvl4pPr marL="857250" indent="-171450">
              <a:lnSpc>
                <a:spcPct val="110000"/>
              </a:lnSpc>
              <a:spcBef>
                <a:spcPts val="0"/>
              </a:spcBef>
              <a:spcAft>
                <a:spcPts val="900"/>
              </a:spcAft>
              <a:buChar char="•"/>
              <a:defRPr/>
            </a:lvl4pPr>
            <a:lvl5pPr marL="1085850" indent="-171450">
              <a:lnSpc>
                <a:spcPct val="110000"/>
              </a:lnSpc>
              <a:spcBef>
                <a:spcPts val="0"/>
              </a:spcBef>
              <a:spcAft>
                <a:spcPts val="900"/>
              </a:spcAft>
              <a:buChar char="•"/>
              <a:defRPr/>
            </a:lvl5pPr>
            <a:lvl6pPr marL="1314450" indent="-171450">
              <a:lnSpc>
                <a:spcPct val="110000"/>
              </a:lnSpc>
              <a:spcBef>
                <a:spcPts val="0"/>
              </a:spcBef>
              <a:spcAft>
                <a:spcPts val="900"/>
              </a:spcAft>
              <a:buChar char="•"/>
              <a:defRPr/>
            </a:lvl6pPr>
            <a:lvl7pPr marL="1543050" indent="-171450">
              <a:lnSpc>
                <a:spcPct val="110000"/>
              </a:lnSpc>
              <a:spcBef>
                <a:spcPts val="0"/>
              </a:spcBef>
              <a:spcAft>
                <a:spcPts val="900"/>
              </a:spcAft>
              <a:buChar char="•"/>
              <a:defRPr/>
            </a:lvl7pPr>
            <a:lvl8pPr marL="1771650" indent="-171450">
              <a:lnSpc>
                <a:spcPct val="110000"/>
              </a:lnSpc>
              <a:spcBef>
                <a:spcPts val="0"/>
              </a:spcBef>
              <a:spcAft>
                <a:spcPts val="900"/>
              </a:spcAft>
              <a:buChar char="•"/>
              <a:defRPr/>
            </a:lvl8pPr>
            <a:lvl9pPr marL="2000250" indent="-171450">
              <a:lnSpc>
                <a:spcPct val="110000"/>
              </a:lnSpc>
              <a:spcBef>
                <a:spcPts val="0"/>
              </a:spcBef>
              <a:spcAft>
                <a:spcPts val="9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1F5CB76-A04B-4080-9FFA-A6F9C658BD96}"/>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NanumGothic"/>
                <a:ea typeface="NanumGothic"/>
                <a:cs typeface="NanumGothic"/>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6684A56-35EC-4285-8E15-FB344AE4684B}"/>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NanumGothic"/>
                <a:ea typeface="NanumGothic"/>
                <a:cs typeface="NanumGothic"/>
              </a:defRPr>
            </a:defPPr>
            <a:lvl1pPr marL="171450" indent="-171450">
              <a:lnSpc>
                <a:spcPct val="110000"/>
              </a:lnSpc>
              <a:spcBef>
                <a:spcPts val="0"/>
              </a:spcBef>
              <a:spcAft>
                <a:spcPts val="900"/>
              </a:spcAft>
              <a:buChar char="•"/>
              <a:defRPr/>
            </a:lvl1pPr>
            <a:lvl2pPr marL="400050" indent="-171450">
              <a:lnSpc>
                <a:spcPct val="110000"/>
              </a:lnSpc>
              <a:spcBef>
                <a:spcPts val="0"/>
              </a:spcBef>
              <a:spcAft>
                <a:spcPts val="900"/>
              </a:spcAft>
              <a:buChar char="•"/>
              <a:defRPr/>
            </a:lvl2pPr>
            <a:lvl3pPr marL="628650" indent="-171450">
              <a:lnSpc>
                <a:spcPct val="110000"/>
              </a:lnSpc>
              <a:spcBef>
                <a:spcPts val="0"/>
              </a:spcBef>
              <a:spcAft>
                <a:spcPts val="900"/>
              </a:spcAft>
              <a:buChar char="•"/>
              <a:defRPr/>
            </a:lvl3pPr>
            <a:lvl4pPr marL="857250" indent="-171450">
              <a:lnSpc>
                <a:spcPct val="110000"/>
              </a:lnSpc>
              <a:spcBef>
                <a:spcPts val="0"/>
              </a:spcBef>
              <a:spcAft>
                <a:spcPts val="900"/>
              </a:spcAft>
              <a:buChar char="•"/>
              <a:defRPr/>
            </a:lvl4pPr>
            <a:lvl5pPr marL="1085850" indent="-171450">
              <a:lnSpc>
                <a:spcPct val="110000"/>
              </a:lnSpc>
              <a:spcBef>
                <a:spcPts val="0"/>
              </a:spcBef>
              <a:spcAft>
                <a:spcPts val="900"/>
              </a:spcAft>
              <a:buChar char="•"/>
              <a:defRPr/>
            </a:lvl5pPr>
            <a:lvl6pPr marL="1314450" indent="-171450">
              <a:lnSpc>
                <a:spcPct val="110000"/>
              </a:lnSpc>
              <a:spcBef>
                <a:spcPts val="0"/>
              </a:spcBef>
              <a:spcAft>
                <a:spcPts val="900"/>
              </a:spcAft>
              <a:buChar char="•"/>
              <a:defRPr/>
            </a:lvl6pPr>
            <a:lvl7pPr marL="1543050" indent="-171450">
              <a:lnSpc>
                <a:spcPct val="110000"/>
              </a:lnSpc>
              <a:spcBef>
                <a:spcPts val="0"/>
              </a:spcBef>
              <a:spcAft>
                <a:spcPts val="900"/>
              </a:spcAft>
              <a:buChar char="•"/>
              <a:defRPr/>
            </a:lvl7pPr>
            <a:lvl8pPr marL="1771650" indent="-171450">
              <a:lnSpc>
                <a:spcPct val="110000"/>
              </a:lnSpc>
              <a:spcBef>
                <a:spcPts val="0"/>
              </a:spcBef>
              <a:spcAft>
                <a:spcPts val="900"/>
              </a:spcAft>
              <a:buChar char="•"/>
              <a:defRPr/>
            </a:lvl8pPr>
            <a:lvl9pPr marL="2000250" indent="-171450">
              <a:lnSpc>
                <a:spcPct val="110000"/>
              </a:lnSpc>
              <a:spcBef>
                <a:spcPts val="0"/>
              </a:spcBef>
              <a:spcAft>
                <a:spcPts val="9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5290A50-4C39-4274-8225-4AA0E109FEBB}"/>
              </a:ext>
            </a:extLst>
          </p:cNvPr>
          <p:cNvSpPr>
            <a:spLocks xmlns:a="http://schemas.openxmlformats.org/drawingml/2006/main" noGrp="1"/>
          </p:cNvSpPr>
          <p:nvPr>
            <p:ph type="body" idx="2"/>
          </p:nvPr>
        </p:nvSpPr>
        <p:spPr>
          <a:xfrm xmlns:a="http://schemas.openxmlformats.org/drawingml/2006/main">
            <a:off x="48577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NanumGothic"/>
                <a:ea typeface="NanumGothic"/>
                <a:cs typeface="NanumGothic"/>
              </a:defRPr>
            </a:defPPr>
            <a:lvl1pPr marL="171450" indent="-171450">
              <a:lnSpc>
                <a:spcPct val="110000"/>
              </a:lnSpc>
              <a:spcBef>
                <a:spcPts val="0"/>
              </a:spcBef>
              <a:spcAft>
                <a:spcPts val="900"/>
              </a:spcAft>
              <a:buChar char="•"/>
              <a:defRPr/>
            </a:lvl1pPr>
            <a:lvl2pPr marL="400050" indent="-171450">
              <a:lnSpc>
                <a:spcPct val="110000"/>
              </a:lnSpc>
              <a:spcBef>
                <a:spcPts val="0"/>
              </a:spcBef>
              <a:spcAft>
                <a:spcPts val="900"/>
              </a:spcAft>
              <a:buChar char="•"/>
              <a:defRPr/>
            </a:lvl2pPr>
            <a:lvl3pPr marL="628650" indent="-171450">
              <a:lnSpc>
                <a:spcPct val="110000"/>
              </a:lnSpc>
              <a:spcBef>
                <a:spcPts val="0"/>
              </a:spcBef>
              <a:spcAft>
                <a:spcPts val="900"/>
              </a:spcAft>
              <a:buChar char="•"/>
              <a:defRPr/>
            </a:lvl3pPr>
            <a:lvl4pPr marL="857250" indent="-171450">
              <a:lnSpc>
                <a:spcPct val="110000"/>
              </a:lnSpc>
              <a:spcBef>
                <a:spcPts val="0"/>
              </a:spcBef>
              <a:spcAft>
                <a:spcPts val="900"/>
              </a:spcAft>
              <a:buChar char="•"/>
              <a:defRPr/>
            </a:lvl4pPr>
            <a:lvl5pPr marL="1085850" indent="-171450">
              <a:lnSpc>
                <a:spcPct val="110000"/>
              </a:lnSpc>
              <a:spcBef>
                <a:spcPts val="0"/>
              </a:spcBef>
              <a:spcAft>
                <a:spcPts val="900"/>
              </a:spcAft>
              <a:buChar char="•"/>
              <a:defRPr/>
            </a:lvl5pPr>
            <a:lvl6pPr marL="1314450" indent="-171450">
              <a:lnSpc>
                <a:spcPct val="110000"/>
              </a:lnSpc>
              <a:spcBef>
                <a:spcPts val="0"/>
              </a:spcBef>
              <a:spcAft>
                <a:spcPts val="900"/>
              </a:spcAft>
              <a:buChar char="•"/>
              <a:defRPr/>
            </a:lvl6pPr>
            <a:lvl7pPr marL="1543050" indent="-171450">
              <a:lnSpc>
                <a:spcPct val="110000"/>
              </a:lnSpc>
              <a:spcBef>
                <a:spcPts val="0"/>
              </a:spcBef>
              <a:spcAft>
                <a:spcPts val="900"/>
              </a:spcAft>
              <a:buChar char="•"/>
              <a:defRPr/>
            </a:lvl7pPr>
            <a:lvl8pPr marL="1771650" indent="-171450">
              <a:lnSpc>
                <a:spcPct val="110000"/>
              </a:lnSpc>
              <a:spcBef>
                <a:spcPts val="0"/>
              </a:spcBef>
              <a:spcAft>
                <a:spcPts val="900"/>
              </a:spcAft>
              <a:buChar char="•"/>
              <a:defRPr/>
            </a:lvl8pPr>
            <a:lvl9pPr marL="2000250" indent="-171450">
              <a:lnSpc>
                <a:spcPct val="110000"/>
              </a:lnSpc>
              <a:spcBef>
                <a:spcPts val="0"/>
              </a:spcBef>
              <a:spcAft>
                <a:spcPts val="9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0FBD4E5-794D-4C57-A554-3C7295455C50}"/>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NanumGothic"/>
                <a:ea typeface="NanumGothic"/>
                <a:cs typeface="NanumGothic"/>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B9DD189-3EB5-4ADB-AEC4-128CA24E0B36}"/>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NanumGothic"/>
                <a:ea typeface="NanumGothic"/>
                <a:cs typeface="NanumGothic"/>
              </a:defRPr>
            </a:defPPr>
            <a:lvl1pPr marL="171450" indent="-171450">
              <a:lnSpc>
                <a:spcPct val="110000"/>
              </a:lnSpc>
              <a:spcBef>
                <a:spcPts val="0"/>
              </a:spcBef>
              <a:spcAft>
                <a:spcPts val="900"/>
              </a:spcAft>
              <a:buChar char="•"/>
              <a:defRPr/>
            </a:lvl1pPr>
            <a:lvl2pPr marL="400050" indent="-171450">
              <a:lnSpc>
                <a:spcPct val="110000"/>
              </a:lnSpc>
              <a:spcBef>
                <a:spcPts val="0"/>
              </a:spcBef>
              <a:spcAft>
                <a:spcPts val="900"/>
              </a:spcAft>
              <a:buChar char="•"/>
              <a:defRPr/>
            </a:lvl2pPr>
            <a:lvl3pPr marL="628650" indent="-171450">
              <a:lnSpc>
                <a:spcPct val="110000"/>
              </a:lnSpc>
              <a:spcBef>
                <a:spcPts val="0"/>
              </a:spcBef>
              <a:spcAft>
                <a:spcPts val="900"/>
              </a:spcAft>
              <a:buChar char="•"/>
              <a:defRPr/>
            </a:lvl3pPr>
            <a:lvl4pPr marL="857250" indent="-171450">
              <a:lnSpc>
                <a:spcPct val="110000"/>
              </a:lnSpc>
              <a:spcBef>
                <a:spcPts val="0"/>
              </a:spcBef>
              <a:spcAft>
                <a:spcPts val="900"/>
              </a:spcAft>
              <a:buChar char="•"/>
              <a:defRPr/>
            </a:lvl4pPr>
            <a:lvl5pPr marL="1085850" indent="-171450">
              <a:lnSpc>
                <a:spcPct val="110000"/>
              </a:lnSpc>
              <a:spcBef>
                <a:spcPts val="0"/>
              </a:spcBef>
              <a:spcAft>
                <a:spcPts val="900"/>
              </a:spcAft>
              <a:buChar char="•"/>
              <a:defRPr/>
            </a:lvl5pPr>
            <a:lvl6pPr marL="1314450" indent="-171450">
              <a:lnSpc>
                <a:spcPct val="110000"/>
              </a:lnSpc>
              <a:spcBef>
                <a:spcPts val="0"/>
              </a:spcBef>
              <a:spcAft>
                <a:spcPts val="900"/>
              </a:spcAft>
              <a:buChar char="•"/>
              <a:defRPr/>
            </a:lvl6pPr>
            <a:lvl7pPr marL="1543050" indent="-171450">
              <a:lnSpc>
                <a:spcPct val="110000"/>
              </a:lnSpc>
              <a:spcBef>
                <a:spcPts val="0"/>
              </a:spcBef>
              <a:spcAft>
                <a:spcPts val="900"/>
              </a:spcAft>
              <a:buChar char="•"/>
              <a:defRPr/>
            </a:lvl7pPr>
            <a:lvl8pPr marL="1771650" indent="-171450">
              <a:lnSpc>
                <a:spcPct val="110000"/>
              </a:lnSpc>
              <a:spcBef>
                <a:spcPts val="0"/>
              </a:spcBef>
              <a:spcAft>
                <a:spcPts val="900"/>
              </a:spcAft>
              <a:buChar char="•"/>
              <a:defRPr/>
            </a:lvl8pPr>
            <a:lvl9pPr marL="2000250" indent="-171450">
              <a:lnSpc>
                <a:spcPct val="110000"/>
              </a:lnSpc>
              <a:spcBef>
                <a:spcPts val="0"/>
              </a:spcBef>
              <a:spcAft>
                <a:spcPts val="9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6f8ed508966416a" /><Relationship Type="http://schemas.openxmlformats.org/officeDocument/2006/relationships/slideLayout" Target="/ppt/slideLayouts/slideLayout1.xml" Id="Rfbcee58f4a0a4e03" /><Relationship Type="http://schemas.openxmlformats.org/officeDocument/2006/relationships/slideLayout" Target="/ppt/slideLayouts/slideLayout2.xml" Id="Rdd7cba3703114f32" /><Relationship Type="http://schemas.openxmlformats.org/officeDocument/2006/relationships/slideLayout" Target="/ppt/slideLayouts/slideLayout3.xml" Id="R9b7dfec4abcd4c7d" /><Relationship Type="http://schemas.openxmlformats.org/officeDocument/2006/relationships/slideLayout" Target="/ppt/slideLayouts/slideLayout4.xml" Id="R9ac924af0056480f" /><Relationship Type="http://schemas.openxmlformats.org/officeDocument/2006/relationships/slideLayout" Target="/ppt/slideLayouts/slideLayout5.xml" Id="Rf8d911adccd3476a" /><Relationship Type="http://schemas.openxmlformats.org/officeDocument/2006/relationships/slideLayout" Target="/ppt/slideLayouts/slideLayout6.xml" Id="Rf8024f9e5ee448c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bcee58f4a0a4e03"/>
    <p:sldLayoutId xmlns:r="http://schemas.openxmlformats.org/officeDocument/2006/relationships" id="2147483650" r:id="Rdd7cba3703114f32"/>
    <p:sldLayoutId xmlns:r="http://schemas.openxmlformats.org/officeDocument/2006/relationships" id="2147483651" r:id="R9b7dfec4abcd4c7d"/>
    <p:sldLayoutId xmlns:r="http://schemas.openxmlformats.org/officeDocument/2006/relationships" id="2147483652" r:id="R9ac924af0056480f"/>
    <p:sldLayoutId xmlns:r="http://schemas.openxmlformats.org/officeDocument/2006/relationships" id="2147483653" r:id="Rf8d911adccd3476a"/>
    <p:sldLayoutId xmlns:r="http://schemas.openxmlformats.org/officeDocument/2006/relationships" id="2147483654" r:id="Rf8024f9e5ee448c1"/>
  </p:sldLayoutIdLst>
  <p:txStyles>
    <p:titleStyle>
      <a:lvl1pPr xmlns:a="http://schemas.openxmlformats.org/drawingml/2006/main" algn="l">
        <a:lnSpc>
          <a:spcPct val="90000"/>
        </a:lnSpc>
        <a:spcBef>
          <a:spcPts val="0"/>
        </a:spcBef>
        <a:buNone/>
        <a:defRPr sz="4400">
          <a:solidFill>
            <a:schemeClr val="tx1"/>
          </a:solidFill>
          <a:latin typeface="NanumGothic"/>
          <a:ea typeface="NanumGothic"/>
          <a:cs typeface="NanumGothic"/>
        </a:defRPr>
      </a:lvl1pPr>
    </p:titleStyle>
    <p:bodyStyle>
      <a:lvl1pPr xmlns:a="http://schemas.openxmlformats.org/drawingml/2006/main" marL="228600" indent="-228600" algn="l">
        <a:lnSpc>
          <a:spcPct val="90000"/>
        </a:lnSpc>
        <a:spcBef>
          <a:spcPts val="1000"/>
        </a:spcBef>
        <a:buChar char="•"/>
        <a:defRPr sz="2800">
          <a:solidFill>
            <a:schemeClr val="tx1"/>
          </a:solidFill>
          <a:latin typeface="NanumGothic"/>
          <a:ea typeface="NanumGothic"/>
          <a:cs typeface="NanumGothic"/>
        </a:defRPr>
      </a:lvl1pPr>
      <a:lvl2pPr xmlns:a="http://schemas.openxmlformats.org/drawingml/2006/main" marL="685800" indent="-228600" algn="l">
        <a:lnSpc>
          <a:spcPct val="90000"/>
        </a:lnSpc>
        <a:spcBef>
          <a:spcPts val="500"/>
        </a:spcBef>
        <a:buChar char="•"/>
        <a:defRPr sz="2400">
          <a:solidFill>
            <a:schemeClr val="tx1"/>
          </a:solidFill>
          <a:latin typeface="NanumGothic"/>
          <a:ea typeface="NanumGothic"/>
          <a:cs typeface="NanumGothic"/>
        </a:defRPr>
      </a:lvl2pPr>
      <a:lvl3pPr xmlns:a="http://schemas.openxmlformats.org/drawingml/2006/main" marL="1143000" indent="-228600" algn="l">
        <a:lnSpc>
          <a:spcPct val="90000"/>
        </a:lnSpc>
        <a:spcBef>
          <a:spcPts val="500"/>
        </a:spcBef>
        <a:buChar char="•"/>
        <a:defRPr sz="2000">
          <a:solidFill>
            <a:schemeClr val="tx1"/>
          </a:solidFill>
          <a:latin typeface="NanumGothic"/>
          <a:ea typeface="NanumGothic"/>
          <a:cs typeface="NanumGothic"/>
        </a:defRPr>
      </a:lvl3pPr>
      <a:lvl4pPr xmlns:a="http://schemas.openxmlformats.org/drawingml/2006/main" marL="1600200" indent="-228600" algn="l">
        <a:lnSpc>
          <a:spcPct val="90000"/>
        </a:lnSpc>
        <a:spcBef>
          <a:spcPts val="500"/>
        </a:spcBef>
        <a:buChar char="•"/>
        <a:defRPr sz="1800">
          <a:solidFill>
            <a:schemeClr val="tx1"/>
          </a:solidFill>
          <a:latin typeface="NanumGothic"/>
          <a:ea typeface="NanumGothic"/>
          <a:cs typeface="NanumGothic"/>
        </a:defRPr>
      </a:lvl4pPr>
      <a:lvl5pPr xmlns:a="http://schemas.openxmlformats.org/drawingml/2006/main" marL="2057400" indent="-228600" algn="l">
        <a:lnSpc>
          <a:spcPct val="90000"/>
        </a:lnSpc>
        <a:spcBef>
          <a:spcPts val="500"/>
        </a:spcBef>
        <a:buChar char="•"/>
        <a:defRPr sz="1800">
          <a:solidFill>
            <a:schemeClr val="tx1"/>
          </a:solidFill>
          <a:latin typeface="NanumGothic"/>
          <a:ea typeface="NanumGothic"/>
          <a:cs typeface="NanumGothic"/>
        </a:defRPr>
      </a:lvl5pPr>
      <a:lvl6pPr xmlns:a="http://schemas.openxmlformats.org/drawingml/2006/main" marL="2514600" indent="-228600" algn="l">
        <a:lnSpc>
          <a:spcPct val="90000"/>
        </a:lnSpc>
        <a:spcBef>
          <a:spcPts val="500"/>
        </a:spcBef>
        <a:buChar char="•"/>
        <a:defRPr sz="1800">
          <a:solidFill>
            <a:schemeClr val="tx1"/>
          </a:solidFill>
          <a:latin typeface="NanumGothic"/>
          <a:ea typeface="NanumGothic"/>
          <a:cs typeface="NanumGothic"/>
        </a:defRPr>
      </a:lvl6pPr>
      <a:lvl7pPr xmlns:a="http://schemas.openxmlformats.org/drawingml/2006/main" marL="2971800" indent="-228600" algn="l">
        <a:lnSpc>
          <a:spcPct val="90000"/>
        </a:lnSpc>
        <a:spcBef>
          <a:spcPts val="500"/>
        </a:spcBef>
        <a:buChar char="•"/>
        <a:defRPr sz="1800">
          <a:solidFill>
            <a:schemeClr val="tx1"/>
          </a:solidFill>
          <a:latin typeface="NanumGothic"/>
          <a:ea typeface="NanumGothic"/>
          <a:cs typeface="NanumGothic"/>
        </a:defRPr>
      </a:lvl7pPr>
      <a:lvl8pPr xmlns:a="http://schemas.openxmlformats.org/drawingml/2006/main" marL="3429000" indent="-228600" algn="l">
        <a:lnSpc>
          <a:spcPct val="90000"/>
        </a:lnSpc>
        <a:spcBef>
          <a:spcPts val="500"/>
        </a:spcBef>
        <a:buChar char="•"/>
        <a:defRPr sz="1800">
          <a:solidFill>
            <a:schemeClr val="tx1"/>
          </a:solidFill>
          <a:latin typeface="NanumGothic"/>
          <a:ea typeface="NanumGothic"/>
          <a:cs typeface="NanumGothic"/>
        </a:defRPr>
      </a:lvl8pPr>
      <a:lvl9pPr xmlns:a="http://schemas.openxmlformats.org/drawingml/2006/main" marL="3886200" indent="-228600" algn="l">
        <a:lnSpc>
          <a:spcPct val="90000"/>
        </a:lnSpc>
        <a:spcBef>
          <a:spcPts val="500"/>
        </a:spcBef>
        <a:buChar char="•"/>
        <a:defRPr sz="1800">
          <a:solidFill>
            <a:schemeClr val="tx1"/>
          </a:solidFill>
          <a:latin typeface="NanumGothic"/>
          <a:ea typeface="NanumGothic"/>
          <a:cs typeface="NanumGothic"/>
        </a:defRPr>
      </a:lvl9pPr>
    </p:bodyStyle>
    <p:otherStyle>
      <a:lvl1pPr xmlns:a="http://schemas.openxmlformats.org/drawingml/2006/main" marL="0" algn="l">
        <a:buNone/>
        <a:defRPr sz="1800">
          <a:solidFill>
            <a:schemeClr val="tx1"/>
          </a:solidFill>
          <a:latin typeface="NanumGothic"/>
          <a:ea typeface="NanumGothic"/>
          <a:cs typeface="NanumGothic"/>
        </a:defRPr>
      </a:lvl1pPr>
      <a:lvl2pPr xmlns:a="http://schemas.openxmlformats.org/drawingml/2006/main" marL="457200" algn="l">
        <a:buNone/>
        <a:defRPr sz="1800">
          <a:solidFill>
            <a:schemeClr val="tx1"/>
          </a:solidFill>
          <a:latin typeface="NanumGothic"/>
          <a:ea typeface="NanumGothic"/>
          <a:cs typeface="NanumGothic"/>
        </a:defRPr>
      </a:lvl2pPr>
      <a:lvl3pPr xmlns:a="http://schemas.openxmlformats.org/drawingml/2006/main" marL="914400" algn="l">
        <a:buNone/>
        <a:defRPr sz="1800">
          <a:solidFill>
            <a:schemeClr val="tx1"/>
          </a:solidFill>
          <a:latin typeface="NanumGothic"/>
          <a:ea typeface="NanumGothic"/>
          <a:cs typeface="NanumGothic"/>
        </a:defRPr>
      </a:lvl3pPr>
      <a:lvl4pPr xmlns:a="http://schemas.openxmlformats.org/drawingml/2006/main" marL="1371600" algn="l">
        <a:buNone/>
        <a:defRPr sz="1800">
          <a:solidFill>
            <a:schemeClr val="tx1"/>
          </a:solidFill>
          <a:latin typeface="NanumGothic"/>
          <a:ea typeface="NanumGothic"/>
          <a:cs typeface="NanumGothic"/>
        </a:defRPr>
      </a:lvl4pPr>
      <a:lvl5pPr xmlns:a="http://schemas.openxmlformats.org/drawingml/2006/main" marL="1828800" algn="l">
        <a:buNone/>
        <a:defRPr sz="1800">
          <a:solidFill>
            <a:schemeClr val="tx1"/>
          </a:solidFill>
          <a:latin typeface="NanumGothic"/>
          <a:ea typeface="NanumGothic"/>
          <a:cs typeface="NanumGothic"/>
        </a:defRPr>
      </a:lvl5pPr>
      <a:lvl6pPr xmlns:a="http://schemas.openxmlformats.org/drawingml/2006/main" marL="2286000" algn="l">
        <a:buNone/>
        <a:defRPr sz="1800">
          <a:solidFill>
            <a:schemeClr val="tx1"/>
          </a:solidFill>
          <a:latin typeface="NanumGothic"/>
          <a:ea typeface="NanumGothic"/>
          <a:cs typeface="NanumGothic"/>
        </a:defRPr>
      </a:lvl6pPr>
      <a:lvl7pPr xmlns:a="http://schemas.openxmlformats.org/drawingml/2006/main" marL="2743200" algn="l">
        <a:buNone/>
        <a:defRPr sz="1800">
          <a:solidFill>
            <a:schemeClr val="tx1"/>
          </a:solidFill>
          <a:latin typeface="NanumGothic"/>
          <a:ea typeface="NanumGothic"/>
          <a:cs typeface="NanumGothic"/>
        </a:defRPr>
      </a:lvl7pPr>
      <a:lvl8pPr xmlns:a="http://schemas.openxmlformats.org/drawingml/2006/main" marL="3200400" algn="l">
        <a:buNone/>
        <a:defRPr sz="1800">
          <a:solidFill>
            <a:schemeClr val="tx1"/>
          </a:solidFill>
          <a:latin typeface="NanumGothic"/>
          <a:ea typeface="NanumGothic"/>
          <a:cs typeface="NanumGothic"/>
        </a:defRPr>
      </a:lvl8pPr>
      <a:lvl9pPr xmlns:a="http://schemas.openxmlformats.org/drawingml/2006/main" marL="3657600" algn="l">
        <a:buNone/>
        <a:defRPr sz="1800">
          <a:solidFill>
            <a:schemeClr val="tx1"/>
          </a:solidFill>
          <a:latin typeface="NanumGothic"/>
          <a:ea typeface="NanumGothic"/>
          <a:cs typeface="NanumGothic"/>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anumGothic"/>
        <a:ea typeface="NanumGothic"/>
        <a:cs typeface="NanumGothic"/>
      </a:majorFont>
      <a:minorFont>
        <a:latin typeface="NanumGothic"/>
        <a:ea typeface="NanumGothic"/>
        <a:cs typeface="NanumGothic"/>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c4f95bac2c64040" /><Relationship Type="http://schemas.openxmlformats.org/officeDocument/2006/relationships/notesSlide" Target="/ppt/notesSlides/notesSlide1.xml" Id="Rb48d272ddc4244b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8c9afef5f3548ff" /><Relationship Type="http://schemas.openxmlformats.org/officeDocument/2006/relationships/notesSlide" Target="/ppt/notesSlides/notesSlide2.xml" Id="Rff7f6178d8f44b9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a98a5bca5874db5" /><Relationship Type="http://schemas.openxmlformats.org/officeDocument/2006/relationships/notesSlide" Target="/ppt/notesSlides/notesSlide3.xml" Id="R738f01361cf7466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8f22675692640d7" /><Relationship Type="http://schemas.openxmlformats.org/officeDocument/2006/relationships/notesSlide" Target="/ppt/notesSlides/notesSlide4.xml" Id="R2709cb50e0a74e4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436e7215374455f" /><Relationship Type="http://schemas.openxmlformats.org/officeDocument/2006/relationships/notesSlide" Target="/ppt/notesSlides/notesSlide5.xml" Id="R9fc668bf37d9440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d031b0059514b09" /><Relationship Type="http://schemas.openxmlformats.org/officeDocument/2006/relationships/notesSlide" Target="/ppt/notesSlides/notesSlide6.xml" Id="R3bc0e448affc4bd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549d765c448439e" /><Relationship Type="http://schemas.openxmlformats.org/officeDocument/2006/relationships/notesSlide" Target="/ppt/notesSlides/notesSlide7.xml" Id="R57b781ec6e0048d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5cf7d0f5be442c8" /><Relationship Type="http://schemas.openxmlformats.org/officeDocument/2006/relationships/chart" Target="/ppt/slides/charts/chart1.xml" Id="Rc5bbfb0324cf48ee" /><Relationship Type="http://schemas.openxmlformats.org/officeDocument/2006/relationships/notesSlide" Target="/ppt/notesSlides/notesSlide8.xml" Id="R4406a0945454497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baa47d42e664a07" /><Relationship Type="http://schemas.openxmlformats.org/officeDocument/2006/relationships/notesSlide" Target="/ppt/notesSlides/notesSlide9.xml" Id="Rb4eb9df2f5ed488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ea5910cc3fe432c" /><Relationship Type="http://schemas.openxmlformats.org/officeDocument/2006/relationships/notesSlide" Target="/ppt/notesSlides/notesSlide10.xml" Id="Rd63febdfe68b4ce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251eadd364e491f" /><Relationship Type="http://schemas.openxmlformats.org/officeDocument/2006/relationships/notesSlide" Target="/ppt/notesSlides/notesSlide11.xml" Id="R65d10268622e4e4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52988c215be4266" /><Relationship Type="http://schemas.openxmlformats.org/officeDocument/2006/relationships/notesSlide" Target="/ppt/notesSlides/notesSlide12.xml" Id="Raea86c4e097345d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ee751ffd2414ff6" /><Relationship Type="http://schemas.openxmlformats.org/officeDocument/2006/relationships/notesSlide" Target="/ppt/notesSlides/notesSlide13.xml" Id="R0ed637ccae5a472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cb7fdc808ba47a9" /><Relationship Type="http://schemas.openxmlformats.org/officeDocument/2006/relationships/notesSlide" Target="/ppt/notesSlides/notesSlide14.xml" Id="R9d6cdfa4b966415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6d843db40a7425e" /><Relationship Type="http://schemas.openxmlformats.org/officeDocument/2006/relationships/notesSlide" Target="/ppt/notesSlides/notesSlide15.xml" Id="Rddda3a2fd2b34ba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989cb18020f4d0b" /><Relationship Type="http://schemas.openxmlformats.org/officeDocument/2006/relationships/notesSlide" Target="/ppt/notesSlides/notesSlide16.xml" Id="R209cfe65295844c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1e38ee7ac5554469" /><Relationship Type="http://schemas.openxmlformats.org/officeDocument/2006/relationships/notesSlide" Target="/ppt/notesSlides/notesSlide17.xml" Id="R99f00c0c76d8407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4798818ec6f4391" /><Relationship Type="http://schemas.openxmlformats.org/officeDocument/2006/relationships/notesSlide" Target="/ppt/notesSlides/notesSlide18.xml" Id="Rbba3327375af42a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9312db356f54451" /><Relationship Type="http://schemas.openxmlformats.org/officeDocument/2006/relationships/notesSlide" Target="/ppt/notesSlides/notesSlide19.xml" Id="R176186ad88974d6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bb7cdab094d48c9" /><Relationship Type="http://schemas.openxmlformats.org/officeDocument/2006/relationships/image" Target="/ppt/media/image.png" Id="Rf6a91a74acc84631" /><Relationship Type="http://schemas.openxmlformats.org/officeDocument/2006/relationships/notesSlide" Target="/ppt/notesSlides/notesSlide20.xml" Id="Reb9be76d97014d2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fd060b97823f4c1c" /><Relationship Type="http://schemas.openxmlformats.org/officeDocument/2006/relationships/image" Target="/ppt/media/image2.png" Id="R6b58e490c97144b9" /><Relationship Type="http://schemas.openxmlformats.org/officeDocument/2006/relationships/notesSlide" Target="/ppt/notesSlides/notesSlide21.xml" Id="R2e96933b2d4044e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e2d9b286b450414f" /><Relationship Type="http://schemas.openxmlformats.org/officeDocument/2006/relationships/image" Target="/ppt/media/image3.png" Id="R13b8db4726fa4980" /><Relationship Type="http://schemas.openxmlformats.org/officeDocument/2006/relationships/notesSlide" Target="/ppt/notesSlides/notesSlide22.xml" Id="R4660e097c132401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4ba38e8608604456" /><Relationship Type="http://schemas.openxmlformats.org/officeDocument/2006/relationships/image" Target="/ppt/media/image4.png" Id="R6af1fd01da934bfd" /><Relationship Type="http://schemas.openxmlformats.org/officeDocument/2006/relationships/notesSlide" Target="/ppt/notesSlides/notesSlide23.xml" Id="R85386dd80b9a4c0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fad3c3ef26fb4ee5" /><Relationship Type="http://schemas.openxmlformats.org/officeDocument/2006/relationships/image" Target="/ppt/media/image5.png" Id="Rf5b9d157a65445e5" /><Relationship Type="http://schemas.openxmlformats.org/officeDocument/2006/relationships/notesSlide" Target="/ppt/notesSlides/notesSlide24.xml" Id="Recc5eabb3246471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9af9a2c2f34c460a" /><Relationship Type="http://schemas.openxmlformats.org/officeDocument/2006/relationships/image" Target="/ppt/media/image6.png" Id="R29fa6965cc204292" /><Relationship Type="http://schemas.openxmlformats.org/officeDocument/2006/relationships/notesSlide" Target="/ppt/notesSlides/notesSlide25.xml" Id="R202829f4f811465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7bcc83398b1944d3" /><Relationship Type="http://schemas.openxmlformats.org/officeDocument/2006/relationships/image" Target="/ppt/media/image7.png" Id="R77e3043a55844d25" /><Relationship Type="http://schemas.openxmlformats.org/officeDocument/2006/relationships/notesSlide" Target="/ppt/notesSlides/notesSlide26.xml" Id="R75339dd3a8ea4cf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27c343f65fd3424b" /><Relationship Type="http://schemas.openxmlformats.org/officeDocument/2006/relationships/image" Target="/ppt/media/image8.png" Id="R84552a72e8db4ce8" /><Relationship Type="http://schemas.openxmlformats.org/officeDocument/2006/relationships/notesSlide" Target="/ppt/notesSlides/notesSlide27.xml" Id="R8566c036d7bb402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c88017ea9ac14324" /><Relationship Type="http://schemas.openxmlformats.org/officeDocument/2006/relationships/image" Target="/ppt/media/image9.png" Id="R3cd97c6876ec4b75" /><Relationship Type="http://schemas.openxmlformats.org/officeDocument/2006/relationships/notesSlide" Target="/ppt/notesSlides/notesSlide28.xml" Id="R5745a9811b964e7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e7bce075fdaa4246" /><Relationship Type="http://schemas.openxmlformats.org/officeDocument/2006/relationships/image" Target="/ppt/media/image.jpeg" Id="Rd88881b5c3a94605" /><Relationship Type="http://schemas.openxmlformats.org/officeDocument/2006/relationships/notesSlide" Target="/ppt/notesSlides/notesSlide29.xml" Id="R529a3727233d467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1e5f89ea455a49dc" /><Relationship Type="http://schemas.openxmlformats.org/officeDocument/2006/relationships/notesSlide" Target="/ppt/notesSlides/notesSlide30.xml" Id="R05749f612aad47d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9e362bb7857346aa" /><Relationship Type="http://schemas.openxmlformats.org/officeDocument/2006/relationships/notesSlide" Target="/ppt/notesSlides/notesSlide31.xml" Id="R43bd7eb7c8904b4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d30d5bf03ed54e4c" /><Relationship Type="http://schemas.openxmlformats.org/officeDocument/2006/relationships/notesSlide" Target="/ppt/notesSlides/notesSlide32.xml" Id="Re4400bdb2ea147b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502e775788774ba4" /><Relationship Type="http://schemas.openxmlformats.org/officeDocument/2006/relationships/notesSlide" Target="/ppt/notesSlides/notesSlide33.xml" Id="R00781dd4bf0d4c02"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c7f6d8ef31ae4def" /><Relationship Type="http://schemas.openxmlformats.org/officeDocument/2006/relationships/notesSlide" Target="/ppt/notesSlides/notesSlide34.xml" Id="R4d7bf4067c7c484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86cad605b63c407c" /><Relationship Type="http://schemas.openxmlformats.org/officeDocument/2006/relationships/notesSlide" Target="/ppt/notesSlides/notesSlide35.xml" Id="Rd29535dc0fce49e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6311a7c217aa45e8" /><Relationship Type="http://schemas.openxmlformats.org/officeDocument/2006/relationships/notesSlide" Target="/ppt/notesSlides/notesSlide36.xml" Id="R8b7e7dd1649e4eb2"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e665a80c0a5c4946" /><Relationship Type="http://schemas.openxmlformats.org/officeDocument/2006/relationships/image" Target="/ppt/media/image10.png" Id="R0279f453e2c14b18" /><Relationship Type="http://schemas.openxmlformats.org/officeDocument/2006/relationships/image" Target="/ppt/media/image11.png" Id="Rebf4b72585ac4f5c" /><Relationship Type="http://schemas.openxmlformats.org/officeDocument/2006/relationships/notesSlide" Target="/ppt/notesSlides/notesSlide37.xml" Id="R0a080d11ccf848be"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7d79480c3b354a85" /><Relationship Type="http://schemas.openxmlformats.org/officeDocument/2006/relationships/notesSlide" Target="/ppt/notesSlides/notesSlide38.xml" Id="Rfc69377d07b34206"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488bb98081ff44ea" /><Relationship Type="http://schemas.openxmlformats.org/officeDocument/2006/relationships/image" Target="/ppt/media/image12.png" Id="Rfccd6566453d4ef6" /><Relationship Type="http://schemas.openxmlformats.org/officeDocument/2006/relationships/image" Target="/ppt/media/image2.jpeg" Id="Rb5851b8adac94a6a" /><Relationship Type="http://schemas.openxmlformats.org/officeDocument/2006/relationships/image" Target="/ppt/media/image13.png" Id="R69300877bc8e4c34" /><Relationship Type="http://schemas.openxmlformats.org/officeDocument/2006/relationships/image" Target="/ppt/media/image14.png" Id="R8bbcc601cb6a4788" /><Relationship Type="http://schemas.openxmlformats.org/officeDocument/2006/relationships/image" Target="/ppt/media/image15.png" Id="Rdd7ecfdd9926499a" /><Relationship Type="http://schemas.openxmlformats.org/officeDocument/2006/relationships/image" Target="/ppt/media/image3.jpeg" Id="R2b20d24bd505457c" /><Relationship Type="http://schemas.openxmlformats.org/officeDocument/2006/relationships/notesSlide" Target="/ppt/notesSlides/notesSlide39.xml" Id="Rd4f8c2812910484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ko-KR"/>
  <c:chart>
    <c:plotArea>
      <c:barChart>
        <c:barDir val="col"/>
        <c:grouping val="clustered"/>
        <c:varyColors val="0"/>
        <c:ser>
          <c:idx val="0"/>
          <c:order val="0"/>
          <c:tx>
            <c:v>기존 모델</c:v>
          </c:tx>
          <c:spPr>
            <a:solidFill xmlns:a="http://schemas.openxmlformats.org/drawingml/2006/main">
              <a:srgbClr val="8EA6A3"/>
            </a:solidFill>
          </c:spPr>
          <c:cat>
            <c:strRef>
              <c:f>'Chart Data'!$A$2:$A$3</c:f>
              <c:strCache>
                <c:ptCount val="2"/>
                <c:pt idx="0">
                  <c:v>교체된 후보</c:v>
                </c:pt>
                <c:pt idx="1">
                  <c:v>유지된 후보</c:v>
                </c:pt>
              </c:strCache>
            </c:strRef>
          </c:cat>
          <c:val>
            <c:numRef>
              <c:f>'Chart Data'!$B$2:$B$3</c:f>
              <c:numCache>
                <c:formatCode>General</c:formatCode>
                <c:ptCount val="2"/>
                <c:pt idx="0">
                  <c:v>100</c:v>
                </c:pt>
                <c:pt idx="1">
                  <c:v>100</c:v>
                </c:pt>
              </c:numCache>
            </c:numRef>
          </c:val>
        </c:ser>
        <c:ser>
          <c:idx val="1"/>
          <c:order val="1"/>
          <c:tx>
            <c:v>후보 모델</c:v>
          </c:tx>
          <c:spPr>
            <a:solidFill xmlns:a="http://schemas.openxmlformats.org/drawingml/2006/main">
              <a:srgbClr val="007D68"/>
            </a:solidFill>
          </c:spPr>
          <c:cat>
            <c:strRef>
              <c:f>'Chart Data'!$C$2:$C$3</c:f>
              <c:strCache>
                <c:ptCount val="2"/>
                <c:pt idx="0">
                  <c:v>교체된 후보</c:v>
                </c:pt>
                <c:pt idx="1">
                  <c:v>유지된 후보</c:v>
                </c:pt>
              </c:strCache>
            </c:strRef>
          </c:cat>
          <c:val>
            <c:numRef>
              <c:f>'Chart Data'!$D$2:$D$3</c:f>
              <c:numCache>
                <c:formatCode>General</c:formatCode>
                <c:ptCount val="2"/>
                <c:pt idx="0">
                  <c:v>90.73</c:v>
                </c:pt>
                <c:pt idx="1">
                  <c:v>97.49</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200" lang="ko-KR">
                  <a:latin typeface="NanumGothic"/>
                  <a:ea typeface="NanumGothic"/>
                  <a:cs typeface="NanumGothic"/>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lang="ko-KR">
                <a:solidFill>
                  <a:srgbClr val="666666"/>
                </a:solidFill>
                <a:latin typeface="NanumGothic"/>
                <a:ea typeface="NanumGothic"/>
                <a:cs typeface="NanumGothic"/>
              </a:defRPr>
            </a:pPr>
          </a:p>
        </c:txPr>
        <c:crossAx val="48672768"/>
      </c:catAx>
      <c:valAx>
        <c:axId val="48672768"/>
        <c:scaling>
          <c:orientation val="minMax"/>
          <c:max val="120"/>
          <c:min val="0"/>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lang="ko-KR">
                <a:solidFill>
                  <a:srgbClr val="666666"/>
                </a:solidFill>
                <a:latin typeface="NanumGothic"/>
                <a:ea typeface="NanumGothic"/>
                <a:cs typeface="NanumGothic"/>
              </a:defRPr>
            </a:pPr>
          </a:p>
        </c:txPr>
        <c:crossAx val="48650112"/>
        <c:crossBetween val="between"/>
        <c:majorUnit val="20"/>
      </c:valAx>
      <c:spPr>
        <a:solidFill xmlns:a="http://schemas.openxmlformats.org/drawingml/2006/main">
          <a:srgbClr val="FAFBF9"/>
        </a:solidFill>
      </c:spPr>
    </c:plotArea>
    <c:legend>
      <c:legendPos val="b"/>
      <c:overlay val="0"/>
      <c:txPr>
        <a:bodyPr xmlns:a="http://schemas.openxmlformats.org/drawingml/2006/main" anchorCtr="1"/>
        <a:lstStyle xmlns:a="http://schemas.openxmlformats.org/drawingml/2006/main"/>
        <a:p xmlns:a="http://schemas.openxmlformats.org/drawingml/2006/main">
          <a:pPr>
            <a:defRPr sz="1200" lang="ko-KR">
              <a:latin typeface="NanumGothic"/>
              <a:ea typeface="NanumGothic"/>
              <a:cs typeface="NanumGothic"/>
            </a:defRPr>
          </a:pPr>
        </a:p>
      </c:txPr>
    </c:legend>
    <c:plotVisOnly val="1"/>
  </c:chart>
  <c:spPr>
    <a:solidFill xmlns:a="http://schemas.openxmlformats.org/drawingml/2006/main">
      <a:srgbClr val="FAFBF9"/>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3CF38D8-F40B-469F-8A16-3AC8304DD040}"/>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SKALA 모델 서빙 · AIOps 조별 미니프로젝트</a:t>
            </a:r>
          </a:p>
        </p:txBody>
      </p:sp>
      <p:sp>
        <p:nvSpPr>
          <p:cNvPr id="2" name="">
            <a:extLst xmlns:a="http://schemas.openxmlformats.org/drawingml/2006/main">
              <a:ext uri="{FF2B5EF4-FFF2-40B4-BE49-F238E27FC236}">
                <a16:creationId xmlns:a16="http://schemas.microsoft.com/office/drawing/2014/main" id="{7FC7FBB7-9DA6-43F1-8FDF-5E036F730353}"/>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GroundWatch</a:t>
            </a:r>
          </a:p>
        </p:txBody>
      </p:sp>
      <p:sp>
        <p:nvSpPr>
          <p:cNvPr id="3" name="">
            <a:extLst xmlns:a="http://schemas.openxmlformats.org/drawingml/2006/main">
              <a:ext uri="{FF2B5EF4-FFF2-40B4-BE49-F238E27FC236}">
                <a16:creationId xmlns:a16="http://schemas.microsoft.com/office/drawing/2014/main" id="{593060C8-ACE3-4336-A7B1-9E9F5ED2EF41}"/>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652A71FF-9D4E-4E81-A7D1-3BD3210A3D9B}"/>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1</a:t>
            </a:r>
          </a:p>
        </p:txBody>
      </p:sp>
      <p:sp>
        <p:nvSpPr>
          <p:cNvPr id="5" name="">
            <a:extLst xmlns:a="http://schemas.openxmlformats.org/drawingml/2006/main">
              <a:ext uri="{FF2B5EF4-FFF2-40B4-BE49-F238E27FC236}">
                <a16:creationId xmlns:a16="http://schemas.microsoft.com/office/drawing/2014/main" id="{1AB690EB-9B77-4A28-A4FB-36B8FCB20908}"/>
              </a:ext>
            </a:extLst>
          </p:cNvPr>
          <p:cNvSpPr>
            <a:spLocks xmlns:a="http://schemas.openxmlformats.org/drawingml/2006/main" noGrp="1"/>
          </p:cNvSpPr>
          <p:nvPr/>
        </p:nvSpPr>
        <p:spPr>
          <a:xfrm xmlns:a="http://schemas.openxmlformats.org/drawingml/2006/main">
            <a:off x="571500" y="1666875"/>
            <a:ext cx="7620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007D68"/>
                </a:solidFill>
                <a:latin typeface="NanumGothic"/>
                <a:ea typeface="NanumGothic"/>
                <a:cs typeface="NanumGothic"/>
              </a:defRPr>
            </a:defPPr>
          </a:lstStyle>
          <a:p xmlns:a="http://schemas.openxmlformats.org/drawingml/2006/main">
            <a:pPr>
              <a:buNone/>
              <a:defRPr sz="2850" b="1">
                <a:solidFill>
                  <a:srgbClr val="007D68"/>
                </a:solidFill>
                <a:latin typeface="NanumGothic"/>
                <a:ea typeface="NanumGothic"/>
                <a:cs typeface="NanumGothic"/>
              </a:defRPr>
            </a:pPr>
            <a:r>
              <a:rPr sz="2850" b="1">
                <a:solidFill>
                  <a:srgbClr val="007D68"/>
                </a:solidFill>
                <a:latin typeface="NanumGothic"/>
                <a:ea typeface="NanumGothic"/>
                <a:cs typeface="NanumGothic"/>
              </a:rPr>
              <a:t>서울 구별 지하수 관측과</a:t>
            </a:r>
          </a:p>
          <a:p xmlns:a="http://schemas.openxmlformats.org/drawingml/2006/main">
            <a:pPr>
              <a:buNone/>
              <a:defRPr sz="2850" b="1">
                <a:solidFill>
                  <a:srgbClr val="007D68"/>
                </a:solidFill>
                <a:latin typeface="NanumGothic"/>
                <a:ea typeface="NanumGothic"/>
                <a:cs typeface="NanumGothic"/>
              </a:defRPr>
            </a:pPr>
            <a:r>
              <a:rPr sz="2850" b="1">
                <a:solidFill>
                  <a:srgbClr val="007D68"/>
                </a:solidFill>
                <a:latin typeface="NanumGothic"/>
                <a:ea typeface="NanumGothic"/>
                <a:cs typeface="NanumGothic"/>
              </a:rPr>
              <a:t>모델 품질 감시 AIOps</a:t>
            </a:r>
          </a:p>
        </p:txBody>
      </p:sp>
      <p:sp>
        <p:nvSpPr>
          <p:cNvPr id="6" name="">
            <a:extLst xmlns:a="http://schemas.openxmlformats.org/drawingml/2006/main">
              <a:ext uri="{FF2B5EF4-FFF2-40B4-BE49-F238E27FC236}">
                <a16:creationId xmlns:a16="http://schemas.microsoft.com/office/drawing/2014/main" id="{C3A6B6E1-AA01-4FE7-9520-87807774B243}"/>
              </a:ext>
            </a:extLst>
          </p:cNvPr>
          <p:cNvSpPr>
            <a:spLocks xmlns:a="http://schemas.openxmlformats.org/drawingml/2006/main" noGrp="1"/>
          </p:cNvSpPr>
          <p:nvPr/>
        </p:nvSpPr>
        <p:spPr>
          <a:xfrm xmlns:a="http://schemas.openxmlformats.org/drawingml/2006/main">
            <a:off x="571500" y="2990850"/>
            <a:ext cx="7905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222A2D"/>
                </a:solidFill>
                <a:latin typeface="NanumGothic"/>
                <a:ea typeface="NanumGothic"/>
                <a:cs typeface="NanumGothic"/>
              </a:defRPr>
            </a:defPPr>
          </a:lstStyle>
          <a:p xmlns:a="http://schemas.openxmlformats.org/drawingml/2006/main">
            <a:pPr>
              <a:buNone/>
              <a:defRPr sz="1725" b="0">
                <a:solidFill>
                  <a:srgbClr val="222A2D"/>
                </a:solidFill>
                <a:latin typeface="NanumGothic"/>
                <a:ea typeface="NanumGothic"/>
                <a:cs typeface="NanumGothic"/>
              </a:defRPr>
            </a:pPr>
            <a:r>
              <a:rPr sz="1725" b="0">
                <a:solidFill>
                  <a:srgbClr val="222A2D"/>
                </a:solidFill>
                <a:latin typeface="NanumGothic"/>
                <a:ea typeface="NanumGothic"/>
                <a:cs typeface="NanumGothic"/>
              </a:rPr>
              <a:t>서울 25개 구 대표 관측소와 전국 추가 실측을 연결하고</a:t>
            </a:r>
          </a:p>
          <a:p xmlns:a="http://schemas.openxmlformats.org/drawingml/2006/main">
            <a:pPr>
              <a:buNone/>
              <a:defRPr sz="1725" b="0">
                <a:solidFill>
                  <a:srgbClr val="222A2D"/>
                </a:solidFill>
                <a:latin typeface="NanumGothic"/>
                <a:ea typeface="NanumGothic"/>
                <a:cs typeface="NanumGothic"/>
              </a:defRPr>
            </a:pPr>
            <a:r>
              <a:rPr sz="1725" b="0">
                <a:solidFill>
                  <a:srgbClr val="222A2D"/>
                </a:solidFill>
                <a:latin typeface="NanumGothic"/>
                <a:ea typeface="NanumGothic"/>
                <a:cs typeface="NanumGothic"/>
              </a:rPr>
              <a:t>오차 감지부터 재학습·검증·교체까지 관리합니다</a:t>
            </a:r>
          </a:p>
        </p:txBody>
      </p:sp>
      <p:sp>
        <p:nvSpPr>
          <p:cNvPr id="7" name="">
            <a:extLst xmlns:a="http://schemas.openxmlformats.org/drawingml/2006/main">
              <a:ext uri="{FF2B5EF4-FFF2-40B4-BE49-F238E27FC236}">
                <a16:creationId xmlns:a16="http://schemas.microsoft.com/office/drawing/2014/main" id="{7FA956D4-2A0D-4A1D-B7B8-E2B03490990D}"/>
              </a:ext>
            </a:extLst>
          </p:cNvPr>
          <p:cNvSpPr>
            <a:spLocks xmlns:a="http://schemas.openxmlformats.org/drawingml/2006/main" noGrp="1"/>
          </p:cNvSpPr>
          <p:nvPr/>
        </p:nvSpPr>
        <p:spPr>
          <a:xfrm xmlns:a="http://schemas.openxmlformats.org/drawingml/2006/main">
            <a:off x="571500" y="4152900"/>
            <a:ext cx="800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C686B"/>
                </a:solidFill>
                <a:latin typeface="NanumGothic"/>
                <a:ea typeface="NanumGothic"/>
                <a:cs typeface="NanumGothic"/>
              </a:defRPr>
            </a:defPPr>
          </a:lstStyle>
          <a:p xmlns:a="http://schemas.openxmlformats.org/drawingml/2006/main">
            <a:pPr>
              <a:buNone/>
              <a:defRPr sz="1200" b="0">
                <a:solidFill>
                  <a:srgbClr val="5C686B"/>
                </a:solidFill>
                <a:latin typeface="NanumGothic"/>
                <a:ea typeface="NanumGothic"/>
                <a:cs typeface="NanumGothic"/>
              </a:defRPr>
            </a:pPr>
            <a:r>
              <a:rPr sz="1200" b="0">
                <a:solidFill>
                  <a:srgbClr val="5C686B"/>
                </a:solidFill>
                <a:latin typeface="NanumGothic"/>
                <a:ea typeface="NanumGothic"/>
                <a:cs typeface="NanumGothic"/>
              </a:rPr>
              <a:t>2026.10.09 최종 수정   SKALA 4기 광주3반 5조   발표 한형준</a:t>
            </a:r>
          </a:p>
        </p:txBody>
      </p:sp>
    </p:spTree>
    <p:extLst>
      <p:ext uri="{BB962C8B-B14F-4D97-AF65-F5344CB8AC3E}">
        <p14:creationId xmlns:p14="http://schemas.microsoft.com/office/powerpoint/2010/main" val="755622975"/>
      </p:ext>
    </p:extLst>
  </p:cSld>
</p:sld>
</file>

<file path=ppt/slides/slide2.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E1BC296-876E-4F04-8299-BFD370854E44}"/>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① 이해관계자 가치</a:t>
            </a:r>
          </a:p>
        </p:txBody>
      </p:sp>
      <p:sp>
        <p:nvSpPr>
          <p:cNvPr id="2" name="">
            <a:extLst xmlns:a="http://schemas.openxmlformats.org/drawingml/2006/main">
              <a:ext uri="{FF2B5EF4-FFF2-40B4-BE49-F238E27FC236}">
                <a16:creationId xmlns:a16="http://schemas.microsoft.com/office/drawing/2014/main" id="{DE1257DB-F206-4037-BCE7-CF19388A53DF}"/>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예측을 확인하는 담당자와 품질을 지키는 운영자</a:t>
            </a:r>
          </a:p>
        </p:txBody>
      </p:sp>
      <p:sp>
        <p:nvSpPr>
          <p:cNvPr id="3" name="">
            <a:extLst xmlns:a="http://schemas.openxmlformats.org/drawingml/2006/main">
              <a:ext uri="{FF2B5EF4-FFF2-40B4-BE49-F238E27FC236}">
                <a16:creationId xmlns:a16="http://schemas.microsoft.com/office/drawing/2014/main" id="{BA91F848-9E17-4911-AFB4-EB59CD52D9C3}"/>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7A3AA26F-BAD7-462E-81FF-D47F32F60A73}"/>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2</a:t>
            </a:r>
          </a:p>
        </p:txBody>
      </p:sp>
      <p:sp>
        <p:nvSpPr>
          <p:cNvPr id="5" name="">
            <a:extLst xmlns:a="http://schemas.openxmlformats.org/drawingml/2006/main">
              <a:ext uri="{FF2B5EF4-FFF2-40B4-BE49-F238E27FC236}">
                <a16:creationId xmlns:a16="http://schemas.microsoft.com/office/drawing/2014/main" id="{6CFD5F5F-741F-412E-91A7-BE46664757D2}"/>
              </a:ext>
            </a:extLst>
          </p:cNvPr>
          <p:cNvSpPr>
            <a:spLocks xmlns:a="http://schemas.openxmlformats.org/drawingml/2006/main" noGrp="1"/>
          </p:cNvSpPr>
          <p:nvPr/>
        </p:nvSpPr>
        <p:spPr>
          <a:xfrm xmlns:a="http://schemas.openxmlformats.org/drawingml/2006/main">
            <a:off x="571500" y="1647825"/>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007D68"/>
                </a:solidFill>
                <a:latin typeface="NanumGothic"/>
                <a:ea typeface="NanumGothic"/>
                <a:cs typeface="NanumGothic"/>
              </a:defRPr>
            </a:defPPr>
          </a:lstStyle>
          <a:p xmlns:a="http://schemas.openxmlformats.org/drawingml/2006/main">
            <a:pPr>
              <a:buNone/>
              <a:defRPr sz="1725" b="1">
                <a:solidFill>
                  <a:srgbClr val="007D68"/>
                </a:solidFill>
                <a:latin typeface="NanumGothic"/>
                <a:ea typeface="NanumGothic"/>
                <a:cs typeface="NanumGothic"/>
              </a:defRPr>
            </a:pPr>
            <a:r>
              <a:rPr sz="1725" b="1">
                <a:solidFill>
                  <a:srgbClr val="007D68"/>
                </a:solidFill>
                <a:latin typeface="NanumGothic"/>
                <a:ea typeface="NanumGothic"/>
                <a:cs typeface="NanumGothic"/>
              </a:rPr>
              <a:t>기업 업무 담당자</a:t>
            </a:r>
          </a:p>
        </p:txBody>
      </p:sp>
      <p:sp>
        <p:nvSpPr>
          <p:cNvPr id="6" name="">
            <a:extLst xmlns:a="http://schemas.openxmlformats.org/drawingml/2006/main">
              <a:ext uri="{FF2B5EF4-FFF2-40B4-BE49-F238E27FC236}">
                <a16:creationId xmlns:a16="http://schemas.microsoft.com/office/drawing/2014/main" id="{5DF62057-3C62-4CC1-B2A9-093BDADA87A0}"/>
              </a:ext>
            </a:extLst>
          </p:cNvPr>
          <p:cNvSpPr>
            <a:spLocks xmlns:a="http://schemas.openxmlformats.org/drawingml/2006/main" noGrp="1"/>
          </p:cNvSpPr>
          <p:nvPr/>
        </p:nvSpPr>
        <p:spPr>
          <a:xfrm xmlns:a="http://schemas.openxmlformats.org/drawingml/2006/main">
            <a:off x="571500" y="2066925"/>
            <a:ext cx="3714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22A2D"/>
                </a:solidFill>
                <a:latin typeface="NanumGothic"/>
                <a:ea typeface="NanumGothic"/>
                <a:cs typeface="NanumGothic"/>
              </a:defRPr>
            </a:defPPr>
          </a:lstStyle>
          <a:p xmlns:a="http://schemas.openxmlformats.org/drawingml/2006/main">
            <a:pPr>
              <a:buNone/>
              <a:defRPr sz="1500" b="0">
                <a:solidFill>
                  <a:srgbClr val="222A2D"/>
                </a:solidFill>
                <a:latin typeface="NanumGothic"/>
                <a:ea typeface="NanumGothic"/>
                <a:cs typeface="NanumGothic"/>
              </a:defRPr>
            </a:pPr>
            <a:r>
              <a:rPr sz="1500" b="0">
                <a:solidFill>
                  <a:srgbClr val="222A2D"/>
                </a:solidFill>
                <a:latin typeface="NanumGothic"/>
                <a:ea typeface="NanumGothic"/>
                <a:cs typeface="NanumGothic"/>
              </a:rPr>
              <a:t>관측소별 수위와 강수를 함께 확인합니다.</a:t>
            </a:r>
          </a:p>
          <a:p xmlns:a="http://schemas.openxmlformats.org/drawingml/2006/main">
            <a:pPr>
              <a:buNone/>
              <a:defRPr sz="1500" b="0">
                <a:solidFill>
                  <a:srgbClr val="222A2D"/>
                </a:solidFill>
                <a:latin typeface="NanumGothic"/>
                <a:ea typeface="NanumGothic"/>
                <a:cs typeface="NanumGothic"/>
              </a:defRPr>
            </a:pPr>
            <a:r>
              <a:rPr sz="1500" b="0">
                <a:solidFill>
                  <a:srgbClr val="222A2D"/>
                </a:solidFill>
                <a:latin typeface="NanumGothic"/>
                <a:ea typeface="NanumGothic"/>
                <a:cs typeface="NanumGothic"/>
              </a:rPr>
              <a:t>자료 날짜와 예측 준비 상태를 구분합니다.</a:t>
            </a:r>
          </a:p>
          <a:p xmlns:a="http://schemas.openxmlformats.org/drawingml/2006/main">
            <a:pPr>
              <a:buNone/>
              <a:defRPr sz="1500" b="0">
                <a:solidFill>
                  <a:srgbClr val="222A2D"/>
                </a:solidFill>
                <a:latin typeface="NanumGothic"/>
                <a:ea typeface="NanumGothic"/>
                <a:cs typeface="NanumGothic"/>
              </a:defRPr>
            </a:pPr>
            <a:r>
              <a:rPr sz="1500" b="0">
                <a:solidFill>
                  <a:srgbClr val="222A2D"/>
                </a:solidFill>
                <a:latin typeface="NanumGothic"/>
                <a:ea typeface="NanumGothic"/>
                <a:cs typeface="NanumGothic"/>
              </a:rPr>
              <a:t>사용 모델과 오차 상태를 알아야 합니다.</a:t>
            </a:r>
          </a:p>
        </p:txBody>
      </p:sp>
      <p:sp>
        <p:nvSpPr>
          <p:cNvPr id="7" name="">
            <a:extLst xmlns:a="http://schemas.openxmlformats.org/drawingml/2006/main">
              <a:ext uri="{FF2B5EF4-FFF2-40B4-BE49-F238E27FC236}">
                <a16:creationId xmlns:a16="http://schemas.microsoft.com/office/drawing/2014/main" id="{6001091B-E738-4CAC-BD81-452D191735D4}"/>
              </a:ext>
            </a:extLst>
          </p:cNvPr>
          <p:cNvSpPr>
            <a:spLocks xmlns:a="http://schemas.openxmlformats.org/drawingml/2006/main" noGrp="1"/>
          </p:cNvSpPr>
          <p:nvPr/>
        </p:nvSpPr>
        <p:spPr>
          <a:xfrm xmlns:a="http://schemas.openxmlformats.org/drawingml/2006/main">
            <a:off x="4810125" y="1647825"/>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007D68"/>
                </a:solidFill>
                <a:latin typeface="NanumGothic"/>
                <a:ea typeface="NanumGothic"/>
                <a:cs typeface="NanumGothic"/>
              </a:defRPr>
            </a:defPPr>
          </a:lstStyle>
          <a:p xmlns:a="http://schemas.openxmlformats.org/drawingml/2006/main">
            <a:pPr>
              <a:buNone/>
              <a:defRPr sz="1725" b="1">
                <a:solidFill>
                  <a:srgbClr val="007D68"/>
                </a:solidFill>
                <a:latin typeface="NanumGothic"/>
                <a:ea typeface="NanumGothic"/>
                <a:cs typeface="NanumGothic"/>
              </a:defRPr>
            </a:pPr>
            <a:r>
              <a:rPr sz="1725" b="1">
                <a:solidFill>
                  <a:srgbClr val="007D68"/>
                </a:solidFill>
                <a:latin typeface="NanumGothic"/>
                <a:ea typeface="NanumGothic"/>
                <a:cs typeface="NanumGothic"/>
              </a:rPr>
              <a:t>서비스 운영자</a:t>
            </a:r>
          </a:p>
        </p:txBody>
      </p:sp>
      <p:sp>
        <p:nvSpPr>
          <p:cNvPr id="8" name="">
            <a:extLst xmlns:a="http://schemas.openxmlformats.org/drawingml/2006/main">
              <a:ext uri="{FF2B5EF4-FFF2-40B4-BE49-F238E27FC236}">
                <a16:creationId xmlns:a16="http://schemas.microsoft.com/office/drawing/2014/main" id="{50778ED0-E76A-4806-A10B-94009281E515}"/>
              </a:ext>
            </a:extLst>
          </p:cNvPr>
          <p:cNvSpPr>
            <a:spLocks xmlns:a="http://schemas.openxmlformats.org/drawingml/2006/main" noGrp="1"/>
          </p:cNvSpPr>
          <p:nvPr/>
        </p:nvSpPr>
        <p:spPr>
          <a:xfrm xmlns:a="http://schemas.openxmlformats.org/drawingml/2006/main">
            <a:off x="4810125" y="2066925"/>
            <a:ext cx="3714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22A2D"/>
                </a:solidFill>
                <a:latin typeface="NanumGothic"/>
                <a:ea typeface="NanumGothic"/>
                <a:cs typeface="NanumGothic"/>
              </a:defRPr>
            </a:defPPr>
          </a:lstStyle>
          <a:p xmlns:a="http://schemas.openxmlformats.org/drawingml/2006/main">
            <a:pPr>
              <a:buNone/>
              <a:defRPr sz="1500" b="0">
                <a:solidFill>
                  <a:srgbClr val="222A2D"/>
                </a:solidFill>
                <a:latin typeface="NanumGothic"/>
                <a:ea typeface="NanumGothic"/>
                <a:cs typeface="NanumGothic"/>
              </a:defRPr>
            </a:pPr>
            <a:r>
              <a:rPr sz="1500" b="0">
                <a:solidFill>
                  <a:srgbClr val="222A2D"/>
                </a:solidFill>
                <a:latin typeface="NanumGothic"/>
                <a:ea typeface="NanumGothic"/>
                <a:cs typeface="NanumGothic"/>
              </a:rPr>
              <a:t>서버 정상과 모델 준비를 구분해야 합니다.</a:t>
            </a:r>
          </a:p>
          <a:p xmlns:a="http://schemas.openxmlformats.org/drawingml/2006/main">
            <a:pPr>
              <a:buNone/>
              <a:defRPr sz="1500" b="0">
                <a:solidFill>
                  <a:srgbClr val="222A2D"/>
                </a:solidFill>
                <a:latin typeface="NanumGothic"/>
                <a:ea typeface="NanumGothic"/>
                <a:cs typeface="NanumGothic"/>
              </a:defRPr>
            </a:pPr>
            <a:r>
              <a:rPr sz="1500" b="0">
                <a:solidFill>
                  <a:srgbClr val="222A2D"/>
                </a:solidFill>
                <a:latin typeface="NanumGothic"/>
                <a:ea typeface="NanumGothic"/>
                <a:cs typeface="NanumGothic"/>
              </a:rPr>
              <a:t>오차가 커진 모델을 찾아 대응해야 합니다.</a:t>
            </a:r>
          </a:p>
          <a:p xmlns:a="http://schemas.openxmlformats.org/drawingml/2006/main">
            <a:pPr>
              <a:buNone/>
              <a:defRPr sz="1500" b="0">
                <a:solidFill>
                  <a:srgbClr val="222A2D"/>
                </a:solidFill>
                <a:latin typeface="NanumGothic"/>
                <a:ea typeface="NanumGothic"/>
                <a:cs typeface="NanumGothic"/>
              </a:defRPr>
            </a:pPr>
            <a:r>
              <a:rPr sz="1500" b="0">
                <a:solidFill>
                  <a:srgbClr val="222A2D"/>
                </a:solidFill>
                <a:latin typeface="NanumGothic"/>
                <a:ea typeface="NanumGothic"/>
                <a:cs typeface="NanumGothic"/>
              </a:rPr>
              <a:t>새 모델을 바꾼 근거와 이력이 필요합니다.</a:t>
            </a:r>
          </a:p>
        </p:txBody>
      </p:sp>
      <p:sp>
        <p:nvSpPr>
          <p:cNvPr id="9" name="">
            <a:extLst xmlns:a="http://schemas.openxmlformats.org/drawingml/2006/main">
              <a:ext uri="{FF2B5EF4-FFF2-40B4-BE49-F238E27FC236}">
                <a16:creationId xmlns:a16="http://schemas.microsoft.com/office/drawing/2014/main" id="{3DCD9171-086B-492F-8F88-F142707D18C3}"/>
              </a:ext>
            </a:extLst>
          </p:cNvPr>
          <p:cNvSpPr>
            <a:spLocks xmlns:a="http://schemas.openxmlformats.org/drawingml/2006/main" noGrp="1"/>
          </p:cNvSpPr>
          <p:nvPr/>
        </p:nvSpPr>
        <p:spPr>
          <a:xfrm xmlns:a="http://schemas.openxmlformats.org/drawingml/2006/main">
            <a:off x="571500" y="3838575"/>
            <a:ext cx="800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007D68"/>
                </a:solidFill>
                <a:latin typeface="NanumGothic"/>
                <a:ea typeface="NanumGothic"/>
                <a:cs typeface="NanumGothic"/>
              </a:defRPr>
            </a:defPPr>
          </a:lstStyle>
          <a:p xmlns:a="http://schemas.openxmlformats.org/drawingml/2006/main">
            <a:pPr>
              <a:buNone/>
              <a:defRPr sz="1800" b="1">
                <a:solidFill>
                  <a:srgbClr val="007D68"/>
                </a:solidFill>
                <a:latin typeface="NanumGothic"/>
                <a:ea typeface="NanumGothic"/>
                <a:cs typeface="NanumGothic"/>
              </a:defRPr>
            </a:pPr>
            <a:r>
              <a:rPr sz="1800" b="1">
                <a:solidFill>
                  <a:srgbClr val="007D68"/>
                </a:solidFill>
                <a:latin typeface="NanumGothic"/>
                <a:ea typeface="NanumGothic"/>
                <a:cs typeface="NanumGothic"/>
              </a:rPr>
              <a:t>B2B 제안 고객: 지하수 관측·시설 유지관리 기업</a:t>
            </a:r>
          </a:p>
        </p:txBody>
      </p:sp>
      <p:sp>
        <p:nvSpPr>
          <p:cNvPr id="11" name="">
            <a:extLst xmlns:a="http://schemas.openxmlformats.org/drawingml/2006/main">
              <a:ext uri="{FF2B5EF4-FFF2-40B4-BE49-F238E27FC236}">
                <a16:creationId xmlns:a16="http://schemas.microsoft.com/office/drawing/2014/main" id="{BBEEE54C-00B8-4598-8325-E37DD03BBBF1}"/>
              </a:ext>
            </a:extLst>
          </p:cNvPr>
          <p:cNvSpPr>
            <a:spLocks xmlns:a="http://schemas.openxmlformats.org/drawingml/2006/main" noGrp="1"/>
          </p:cNvSpPr>
          <p:nvPr/>
        </p:nvSpPr>
        <p:spPr>
          <a:xfrm xmlns:a="http://schemas.openxmlformats.org/drawingml/2006/main">
            <a:off x="571500" y="4295775"/>
            <a:ext cx="800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C686B"/>
                </a:solidFill>
                <a:latin typeface="NanumGothic"/>
                <a:ea typeface="NanumGothic"/>
                <a:cs typeface="NanumGothic"/>
              </a:defRPr>
            </a:defPPr>
          </a:lstStyle>
          <a:p xmlns:a="http://schemas.openxmlformats.org/drawingml/2006/main">
            <a:pPr>
              <a:buNone/>
              <a:defRPr sz="1200" b="0">
                <a:solidFill>
                  <a:srgbClr val="5C686B"/>
                </a:solidFill>
                <a:latin typeface="NanumGothic"/>
                <a:ea typeface="NanumGothic"/>
                <a:cs typeface="NanumGothic"/>
              </a:defRPr>
            </a:pPr>
            <a:r>
              <a:rPr sz="1200" b="0">
                <a:solidFill>
                  <a:srgbClr val="5C686B"/>
                </a:solidFill>
                <a:latin typeface="NanumGothic"/>
                <a:ea typeface="NanumGothic"/>
                <a:cs typeface="NanumGothic"/>
              </a:rPr>
              <a:t>공공기관은 협업 대상 · 실제 도입·매출·현장 효과는 미검증</a:t>
            </a:r>
          </a:p>
        </p:txBody>
      </p:sp>
    </p:spTree>
    <p:extLst>
      <p:ext uri="{BB962C8B-B14F-4D97-AF65-F5344CB8AC3E}">
        <p14:creationId xmlns:p14="http://schemas.microsoft.com/office/powerpoint/2010/main" val="95166090"/>
      </p:ext>
    </p:extLst>
  </p:cSld>
</p:sld>
</file>

<file path=ppt/slides/slide3.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0C944C1-3548-4657-9922-CFDEE90424EC}"/>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① 이해관계자 가치</a:t>
            </a:r>
          </a:p>
        </p:txBody>
      </p:sp>
      <p:sp>
        <p:nvSpPr>
          <p:cNvPr id="2" name="">
            <a:extLst xmlns:a="http://schemas.openxmlformats.org/drawingml/2006/main">
              <a:ext uri="{FF2B5EF4-FFF2-40B4-BE49-F238E27FC236}">
                <a16:creationId xmlns:a16="http://schemas.microsoft.com/office/drawing/2014/main" id="{3A1BC6C5-E92D-48D3-B352-73A8A104EA95}"/>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장애·지연·품질 저하가 판단에 미치는 영향</a:t>
            </a:r>
          </a:p>
        </p:txBody>
      </p:sp>
      <p:sp>
        <p:nvSpPr>
          <p:cNvPr id="3" name="">
            <a:extLst xmlns:a="http://schemas.openxmlformats.org/drawingml/2006/main">
              <a:ext uri="{FF2B5EF4-FFF2-40B4-BE49-F238E27FC236}">
                <a16:creationId xmlns:a16="http://schemas.microsoft.com/office/drawing/2014/main" id="{DA3D5ADC-446D-4534-A6BD-9575E1C16BEE}"/>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44D1C2E8-687D-4A5F-A0A8-4DB7DE62D421}"/>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3</a:t>
            </a:r>
          </a:p>
        </p:txBody>
      </p:sp>
      <p:graphicFrame>
        <p:nvGraphicFramePr>
          <p:cNvPr id="5" name="">
            <a:extLst xmlns:a="http://schemas.openxmlformats.org/drawingml/2006/main">
              <a:ext uri="{FF2B5EF4-FFF2-40B4-BE49-F238E27FC236}">
                <a16:creationId xmlns:a16="http://schemas.microsoft.com/office/drawing/2014/main" id="{0C63551A-179C-436F-B284-8AF4118B1EAE}"/>
              </a:ext>
            </a:extLst>
          </p:cNvPr>
          <p:cNvGraphicFramePr/>
          <p:nvPr/>
        </p:nvGraphicFramePr>
        <p:xfrm>
          <a:off xmlns:a="http://schemas.openxmlformats.org/drawingml/2006/main" x="571500" y="1571625"/>
          <a:ext xmlns:a="http://schemas.openxmlformats.org/drawingml/2006/main" cx="8001000" cy="2647950"/>
        </p:xfrm>
        <a:graphic xmlns:a="http://schemas.openxmlformats.org/drawingml/2006/main">
          <a:graphicData uri="http://schemas.openxmlformats.org/drawingml/2006/table">
            <a:tbl>
              <a:tblPr/>
              <a:tblGrid>
                <a:gridCol w="1666875"/>
                <a:gridCol w="3095625"/>
                <a:gridCol w="3238500"/>
              </a:tblGrid>
              <a:tr h="529590">
                <a:tc>
                  <a:txBody>
                    <a:bodyPr/>
                    <a:lstStyle/>
                    <a:p>
                      <a:r>
                        <a:rPr sz="1425" b="1">
                          <a:solidFill>
                            <a:srgbClr val="007D68"/>
                          </a:solidFill>
                          <a:latin typeface="NanumGothic"/>
                          <a:ea typeface="NanumGothic"/>
                          <a:cs typeface="NanumGothic"/>
                        </a:rPr>
                        <a:t>상황</a:t>
                      </a:r>
                    </a:p>
                  </a:txBody>
                  <a:tcPr marL="91440" marR="91440" marT="45720" marB="45720">
                    <a:solidFill>
                      <a:srgbClr val="E7EFEB"/>
                    </a:solidFill>
                  </a:tcPr>
                </a:tc>
                <a:tc>
                  <a:txBody>
                    <a:bodyPr/>
                    <a:lstStyle/>
                    <a:p>
                      <a:r>
                        <a:rPr sz="1425" b="1">
                          <a:solidFill>
                            <a:srgbClr val="007D68"/>
                          </a:solidFill>
                          <a:latin typeface="NanumGothic"/>
                          <a:ea typeface="NanumGothic"/>
                          <a:cs typeface="NanumGothic"/>
                        </a:rPr>
                        <a:t>담당자의 불편</a:t>
                      </a:r>
                    </a:p>
                  </a:txBody>
                  <a:tcPr marL="91440" marR="91440" marT="45720" marB="45720">
                    <a:solidFill>
                      <a:srgbClr val="E7EFEB"/>
                    </a:solidFill>
                  </a:tcPr>
                </a:tc>
                <a:tc>
                  <a:txBody>
                    <a:bodyPr/>
                    <a:lstStyle/>
                    <a:p>
                      <a:r>
                        <a:rPr sz="1425" b="1">
                          <a:solidFill>
                            <a:srgbClr val="007D68"/>
                          </a:solidFill>
                          <a:latin typeface="NanumGothic"/>
                          <a:ea typeface="NanumGothic"/>
                          <a:cs typeface="NanumGothic"/>
                        </a:rPr>
                        <a:t>필요한 운영 기능</a:t>
                      </a:r>
                    </a:p>
                  </a:txBody>
                  <a:tcPr marL="91440" marR="91440" marT="45720" marB="45720">
                    <a:solidFill>
                      <a:srgbClr val="E7EFEB"/>
                    </a:solidFill>
                  </a:tcPr>
                </a:tc>
              </a:tr>
              <a:tr h="529590">
                <a:tc>
                  <a:txBody>
                    <a:bodyPr/>
                    <a:lstStyle/>
                    <a:p>
                      <a:r>
                        <a:rPr sz="1425" b="0">
                          <a:solidFill>
                            <a:srgbClr val="222A2D"/>
                          </a:solidFill>
                          <a:latin typeface="NanumGothic"/>
                          <a:ea typeface="NanumGothic"/>
                          <a:cs typeface="NanumGothic"/>
                        </a:rPr>
                        <a:t>서빙 중단</a:t>
                      </a:r>
                    </a:p>
                  </a:txBody>
                  <a:tcPr marL="91440" marR="91440" marT="45720" marB="45720">
                    <a:solidFill>
                      <a:srgbClr val="FAFBF9"/>
                    </a:solidFill>
                  </a:tcPr>
                </a:tc>
                <a:tc>
                  <a:txBody>
                    <a:bodyPr/>
                    <a:lstStyle/>
                    <a:p>
                      <a:r>
                        <a:rPr sz="1425" b="0">
                          <a:solidFill>
                            <a:srgbClr val="222A2D"/>
                          </a:solidFill>
                          <a:latin typeface="NanumGothic"/>
                          <a:ea typeface="NanumGothic"/>
                          <a:cs typeface="NanumGothic"/>
                        </a:rPr>
                        <a:t>예측을 조회할 수 없음</a:t>
                      </a:r>
                    </a:p>
                  </a:txBody>
                  <a:tcPr marL="91440" marR="91440" marT="45720" marB="45720">
                    <a:solidFill>
                      <a:srgbClr val="FAFBF9"/>
                    </a:solidFill>
                  </a:tcPr>
                </a:tc>
                <a:tc>
                  <a:txBody>
                    <a:bodyPr/>
                    <a:lstStyle/>
                    <a:p>
                      <a:r>
                        <a:rPr sz="1425" b="0">
                          <a:solidFill>
                            <a:srgbClr val="222A2D"/>
                          </a:solidFill>
                          <a:latin typeface="NanumGothic"/>
                          <a:ea typeface="NanumGothic"/>
                          <a:cs typeface="NanumGothic"/>
                        </a:rPr>
                        <a:t>생존·준비 상태 분리, 실패 사유</a:t>
                      </a:r>
                    </a:p>
                  </a:txBody>
                  <a:tcPr marL="91440" marR="91440" marT="45720" marB="45720">
                    <a:solidFill>
                      <a:srgbClr val="FAFBF9"/>
                    </a:solidFill>
                  </a:tcPr>
                </a:tc>
              </a:tr>
              <a:tr h="529590">
                <a:tc>
                  <a:txBody>
                    <a:bodyPr/>
                    <a:lstStyle/>
                    <a:p>
                      <a:r>
                        <a:rPr sz="1425" b="0">
                          <a:solidFill>
                            <a:srgbClr val="222A2D"/>
                          </a:solidFill>
                          <a:latin typeface="NanumGothic"/>
                          <a:ea typeface="NanumGothic"/>
                          <a:cs typeface="NanumGothic"/>
                        </a:rPr>
                        <a:t>응답 지연</a:t>
                      </a:r>
                    </a:p>
                  </a:txBody>
                  <a:tcPr marL="91440" marR="91440" marT="45720" marB="45720">
                    <a:solidFill>
                      <a:srgbClr val="F2F6F3"/>
                    </a:solidFill>
                  </a:tcPr>
                </a:tc>
                <a:tc>
                  <a:txBody>
                    <a:bodyPr/>
                    <a:lstStyle/>
                    <a:p>
                      <a:r>
                        <a:rPr sz="1425" b="0">
                          <a:solidFill>
                            <a:srgbClr val="222A2D"/>
                          </a:solidFill>
                          <a:latin typeface="NanumGothic"/>
                          <a:ea typeface="NanumGothic"/>
                          <a:cs typeface="NanumGothic"/>
                        </a:rPr>
                        <a:t>조회와 비교 업무가 늦어짐</a:t>
                      </a:r>
                    </a:p>
                  </a:txBody>
                  <a:tcPr marL="91440" marR="91440" marT="45720" marB="45720">
                    <a:solidFill>
                      <a:srgbClr val="F2F6F3"/>
                    </a:solidFill>
                  </a:tcPr>
                </a:tc>
                <a:tc>
                  <a:txBody>
                    <a:bodyPr/>
                    <a:lstStyle/>
                    <a:p>
                      <a:r>
                        <a:rPr sz="1425" b="0">
                          <a:solidFill>
                            <a:srgbClr val="222A2D"/>
                          </a:solidFill>
                          <a:latin typeface="NanumGothic"/>
                          <a:ea typeface="NanumGothic"/>
                          <a:cs typeface="NanumGothic"/>
                        </a:rPr>
                        <a:t>p95·5xx 비율, 요청 로그</a:t>
                      </a:r>
                    </a:p>
                  </a:txBody>
                  <a:tcPr marL="91440" marR="91440" marT="45720" marB="45720">
                    <a:solidFill>
                      <a:srgbClr val="F2F6F3"/>
                    </a:solidFill>
                  </a:tcPr>
                </a:tc>
              </a:tr>
              <a:tr h="529590">
                <a:tc>
                  <a:txBody>
                    <a:bodyPr/>
                    <a:lstStyle/>
                    <a:p>
                      <a:r>
                        <a:rPr sz="1425" b="0">
                          <a:solidFill>
                            <a:srgbClr val="222A2D"/>
                          </a:solidFill>
                          <a:latin typeface="NanumGothic"/>
                          <a:ea typeface="NanumGothic"/>
                          <a:cs typeface="NanumGothic"/>
                        </a:rPr>
                        <a:t>모델 품질 저하</a:t>
                      </a:r>
                    </a:p>
                  </a:txBody>
                  <a:tcPr marL="91440" marR="91440" marT="45720" marB="45720">
                    <a:solidFill>
                      <a:srgbClr val="FAFBF9"/>
                    </a:solidFill>
                  </a:tcPr>
                </a:tc>
                <a:tc>
                  <a:txBody>
                    <a:bodyPr/>
                    <a:lstStyle/>
                    <a:p>
                      <a:r>
                        <a:rPr sz="1425" b="0">
                          <a:solidFill>
                            <a:srgbClr val="222A2D"/>
                          </a:solidFill>
                          <a:latin typeface="NanumGothic"/>
                          <a:ea typeface="NanumGothic"/>
                          <a:cs typeface="NanumGothic"/>
                        </a:rPr>
                        <a:t>오차가 커진 예측을 계속 사용</a:t>
                      </a:r>
                    </a:p>
                  </a:txBody>
                  <a:tcPr marL="91440" marR="91440" marT="45720" marB="45720">
                    <a:solidFill>
                      <a:srgbClr val="FAFBF9"/>
                    </a:solidFill>
                  </a:tcPr>
                </a:tc>
                <a:tc>
                  <a:txBody>
                    <a:bodyPr/>
                    <a:lstStyle/>
                    <a:p>
                      <a:r>
                        <a:rPr sz="1425" b="0">
                          <a:solidFill>
                            <a:srgbClr val="222A2D"/>
                          </a:solidFill>
                          <a:latin typeface="NanumGothic"/>
                          <a:ea typeface="NanumGothic"/>
                          <a:cs typeface="NanumGothic"/>
                        </a:rPr>
                        <a:t>정답 기반 감시와 후보 재평가</a:t>
                      </a:r>
                    </a:p>
                  </a:txBody>
                  <a:tcPr marL="91440" marR="91440" marT="45720" marB="45720">
                    <a:solidFill>
                      <a:srgbClr val="FAFBF9"/>
                    </a:solidFill>
                  </a:tcPr>
                </a:tc>
              </a:tr>
              <a:tr h="529590">
                <a:tc>
                  <a:txBody>
                    <a:bodyPr/>
                    <a:lstStyle/>
                    <a:p>
                      <a:r>
                        <a:rPr sz="1425" b="0">
                          <a:solidFill>
                            <a:srgbClr val="222A2D"/>
                          </a:solidFill>
                          <a:latin typeface="NanumGothic"/>
                          <a:ea typeface="NanumGothic"/>
                          <a:cs typeface="NanumGothic"/>
                        </a:rPr>
                        <a:t>입력 날짜 공백·부족</a:t>
                      </a:r>
                    </a:p>
                  </a:txBody>
                  <a:tcPr marL="91440" marR="91440" marT="45720" marB="45720">
                    <a:solidFill>
                      <a:srgbClr val="F2F6F3"/>
                    </a:solidFill>
                  </a:tcPr>
                </a:tc>
                <a:tc>
                  <a:txBody>
                    <a:bodyPr/>
                    <a:lstStyle/>
                    <a:p>
                      <a:r>
                        <a:rPr sz="1425" b="0">
                          <a:solidFill>
                            <a:srgbClr val="222A2D"/>
                          </a:solidFill>
                          <a:latin typeface="NanumGothic"/>
                          <a:ea typeface="NanumGothic"/>
                          <a:cs typeface="NanumGothic"/>
                        </a:rPr>
                        <a:t>예측 근거 또는 정답이 불충분</a:t>
                      </a:r>
                    </a:p>
                  </a:txBody>
                  <a:tcPr marL="91440" marR="91440" marT="45720" marB="45720">
                    <a:solidFill>
                      <a:srgbClr val="F2F6F3"/>
                    </a:solidFill>
                  </a:tcPr>
                </a:tc>
                <a:tc>
                  <a:txBody>
                    <a:bodyPr/>
                    <a:lstStyle/>
                    <a:p>
                      <a:r>
                        <a:rPr sz="1425" b="0">
                          <a:solidFill>
                            <a:srgbClr val="222A2D"/>
                          </a:solidFill>
                          <a:latin typeface="NanumGothic"/>
                          <a:ea typeface="NanumGothic"/>
                          <a:cs typeface="NanumGothic"/>
                        </a:rPr>
                        <a:t>20일 입력 검증, 평가 대기</a:t>
                      </a:r>
                    </a:p>
                  </a:txBody>
                  <a:tcPr marL="91440" marR="91440" marT="45720" marB="45720">
                    <a:solidFill>
                      <a:srgbClr val="F2F6F3"/>
                    </a:solidFill>
                  </a:tcPr>
                </a:tc>
              </a:tr>
            </a:tbl>
          </a:graphicData>
        </a:graphic>
      </p:graphicFrame>
    </p:spTree>
    <p:extLst>
      <p:ext uri="{BB962C8B-B14F-4D97-AF65-F5344CB8AC3E}">
        <p14:creationId xmlns:p14="http://schemas.microsoft.com/office/powerpoint/2010/main" val="1853929611"/>
      </p:ext>
    </p:extLst>
  </p:cSld>
</p:sld>
</file>

<file path=ppt/slides/slide4.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EE30AC9-D159-4712-BD71-B8543207AD4F}"/>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① 이해관계자 가치</a:t>
            </a:r>
          </a:p>
        </p:txBody>
      </p:sp>
      <p:sp>
        <p:nvSpPr>
          <p:cNvPr id="2" name="">
            <a:extLst xmlns:a="http://schemas.openxmlformats.org/drawingml/2006/main">
              <a:ext uri="{FF2B5EF4-FFF2-40B4-BE49-F238E27FC236}">
                <a16:creationId xmlns:a16="http://schemas.microsoft.com/office/drawing/2014/main" id="{63F495E4-5E05-4043-94C7-C4770ED0CF83}"/>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수업 파이프라인의 GroundWatch 도메인 매핑</a:t>
            </a:r>
          </a:p>
        </p:txBody>
      </p:sp>
      <p:sp>
        <p:nvSpPr>
          <p:cNvPr id="3" name="">
            <a:extLst xmlns:a="http://schemas.openxmlformats.org/drawingml/2006/main">
              <a:ext uri="{FF2B5EF4-FFF2-40B4-BE49-F238E27FC236}">
                <a16:creationId xmlns:a16="http://schemas.microsoft.com/office/drawing/2014/main" id="{84BC635F-6CAF-4BC6-8F3D-2C39A21BF09A}"/>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411CBD41-134B-4BDF-A445-A6E3D6764630}"/>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4</a:t>
            </a:r>
          </a:p>
        </p:txBody>
      </p:sp>
      <p:graphicFrame>
        <p:nvGraphicFramePr>
          <p:cNvPr id="5" name="">
            <a:extLst xmlns:a="http://schemas.openxmlformats.org/drawingml/2006/main">
              <a:ext uri="{FF2B5EF4-FFF2-40B4-BE49-F238E27FC236}">
                <a16:creationId xmlns:a16="http://schemas.microsoft.com/office/drawing/2014/main" id="{1D8EDBBD-8487-418E-911A-678C94B5BBBB}"/>
              </a:ext>
            </a:extLst>
          </p:cNvPr>
          <p:cNvGraphicFramePr/>
          <p:nvPr/>
        </p:nvGraphicFramePr>
        <p:xfrm>
          <a:off xmlns:a="http://schemas.openxmlformats.org/drawingml/2006/main" x="571500" y="1457325"/>
          <a:ext xmlns:a="http://schemas.openxmlformats.org/drawingml/2006/main" cx="8001000" cy="3028950"/>
        </p:xfrm>
        <a:graphic xmlns:a="http://schemas.openxmlformats.org/drawingml/2006/main">
          <a:graphicData uri="http://schemas.openxmlformats.org/drawingml/2006/table">
            <a:tbl>
              <a:tblPr/>
              <a:tblGrid>
                <a:gridCol w="1428750"/>
                <a:gridCol w="2476500"/>
                <a:gridCol w="4095750"/>
              </a:tblGrid>
              <a:tr h="336550">
                <a:tc>
                  <a:txBody>
                    <a:bodyPr/>
                    <a:lstStyle/>
                    <a:p>
                      <a:r>
                        <a:rPr sz="1200" b="1">
                          <a:solidFill>
                            <a:srgbClr val="007D68"/>
                          </a:solidFill>
                          <a:latin typeface="NanumGothic"/>
                          <a:ea typeface="NanumGothic"/>
                          <a:cs typeface="NanumGothic"/>
                        </a:rPr>
                        <a:t>항목</a:t>
                      </a:r>
                    </a:p>
                  </a:txBody>
                  <a:tcPr marL="91440" marR="91440" marT="45720" marB="45720">
                    <a:solidFill>
                      <a:srgbClr val="E7EFEB"/>
                    </a:solidFill>
                  </a:tcPr>
                </a:tc>
                <a:tc>
                  <a:txBody>
                    <a:bodyPr/>
                    <a:lstStyle/>
                    <a:p>
                      <a:r>
                        <a:rPr sz="1200" b="1">
                          <a:solidFill>
                            <a:srgbClr val="007D68"/>
                          </a:solidFill>
                          <a:latin typeface="NanumGothic"/>
                          <a:ea typeface="NanumGothic"/>
                          <a:cs typeface="NanumGothic"/>
                        </a:rPr>
                        <a:t>HAIC 템플릿</a:t>
                      </a:r>
                    </a:p>
                  </a:txBody>
                  <a:tcPr marL="91440" marR="91440" marT="45720" marB="45720">
                    <a:solidFill>
                      <a:srgbClr val="E7EFEB"/>
                    </a:solidFill>
                  </a:tcPr>
                </a:tc>
                <a:tc>
                  <a:txBody>
                    <a:bodyPr/>
                    <a:lstStyle/>
                    <a:p>
                      <a:r>
                        <a:rPr sz="1200" b="1">
                          <a:solidFill>
                            <a:srgbClr val="007D68"/>
                          </a:solidFill>
                          <a:latin typeface="NanumGothic"/>
                          <a:ea typeface="NanumGothic"/>
                          <a:cs typeface="NanumGothic"/>
                        </a:rPr>
                        <a:t>GroundWatch</a:t>
                      </a:r>
                    </a:p>
                  </a:txBody>
                  <a:tcPr marL="91440" marR="91440" marT="45720" marB="45720">
                    <a:solidFill>
                      <a:srgbClr val="E7EFEB"/>
                    </a:solidFill>
                  </a:tcPr>
                </a:tc>
              </a:tr>
              <a:tr h="336550">
                <a:tc>
                  <a:txBody>
                    <a:bodyPr/>
                    <a:lstStyle/>
                    <a:p>
                      <a:r>
                        <a:rPr sz="1200" b="0">
                          <a:solidFill>
                            <a:srgbClr val="222A2D"/>
                          </a:solidFill>
                          <a:latin typeface="NanumGothic"/>
                          <a:ea typeface="NanumGothic"/>
                          <a:cs typeface="NanumGothic"/>
                        </a:rPr>
                        <a:t>예측 대상</a:t>
                      </a:r>
                    </a:p>
                  </a:txBody>
                  <a:tcPr marL="91440" marR="91440" marT="45720" marB="45720">
                    <a:solidFill>
                      <a:srgbClr val="FAFBF9"/>
                    </a:solidFill>
                  </a:tcPr>
                </a:tc>
                <a:tc>
                  <a:txBody>
                    <a:bodyPr/>
                    <a:lstStyle/>
                    <a:p>
                      <a:r>
                        <a:rPr sz="1200" b="0">
                          <a:solidFill>
                            <a:srgbClr val="222A2D"/>
                          </a:solidFill>
                          <a:latin typeface="NanumGothic"/>
                          <a:ea typeface="NanumGothic"/>
                          <a:cs typeface="NanumGothic"/>
                        </a:rPr>
                        <a:t>다음 날 종가</a:t>
                      </a:r>
                    </a:p>
                  </a:txBody>
                  <a:tcPr marL="91440" marR="91440" marT="45720" marB="45720">
                    <a:solidFill>
                      <a:srgbClr val="FAFBF9"/>
                    </a:solidFill>
                  </a:tcPr>
                </a:tc>
                <a:tc>
                  <a:txBody>
                    <a:bodyPr/>
                    <a:lstStyle/>
                    <a:p>
                      <a:r>
                        <a:rPr sz="1200" b="0">
                          <a:solidFill>
                            <a:srgbClr val="222A2D"/>
                          </a:solidFill>
                          <a:latin typeface="NanumGothic"/>
                          <a:ea typeface="NanumGothic"/>
                          <a:cs typeface="NanumGothic"/>
                        </a:rPr>
                        <a:t>관측소별 다음 날 지하수위</a:t>
                      </a:r>
                    </a:p>
                  </a:txBody>
                  <a:tcPr marL="91440" marR="91440" marT="45720" marB="45720">
                    <a:solidFill>
                      <a:srgbClr val="FAFBF9"/>
                    </a:solidFill>
                  </a:tcPr>
                </a:tc>
              </a:tr>
              <a:tr h="336550">
                <a:tc>
                  <a:txBody>
                    <a:bodyPr/>
                    <a:lstStyle/>
                    <a:p>
                      <a:r>
                        <a:rPr sz="1200" b="0">
                          <a:solidFill>
                            <a:srgbClr val="222A2D"/>
                          </a:solidFill>
                          <a:latin typeface="NanumGothic"/>
                          <a:ea typeface="NanumGothic"/>
                          <a:cs typeface="NanumGothic"/>
                        </a:rPr>
                        <a:t>입력</a:t>
                      </a:r>
                    </a:p>
                  </a:txBody>
                  <a:tcPr marL="91440" marR="91440" marT="45720" marB="45720">
                    <a:solidFill>
                      <a:srgbClr val="F2F6F3"/>
                    </a:solidFill>
                  </a:tcPr>
                </a:tc>
                <a:tc>
                  <a:txBody>
                    <a:bodyPr/>
                    <a:lstStyle/>
                    <a:p>
                      <a:r>
                        <a:rPr sz="1200" b="0">
                          <a:solidFill>
                            <a:srgbClr val="222A2D"/>
                          </a:solidFill>
                          <a:latin typeface="NanumGothic"/>
                          <a:ea typeface="NanumGothic"/>
                          <a:cs typeface="NanumGothic"/>
                        </a:rPr>
                        <a:t>20거래일 종가·거래량</a:t>
                      </a:r>
                    </a:p>
                  </a:txBody>
                  <a:tcPr marL="91440" marR="91440" marT="45720" marB="45720">
                    <a:solidFill>
                      <a:srgbClr val="F2F6F3"/>
                    </a:solidFill>
                  </a:tcPr>
                </a:tc>
                <a:tc>
                  <a:txBody>
                    <a:bodyPr/>
                    <a:lstStyle/>
                    <a:p>
                      <a:r>
                        <a:rPr sz="1200" b="0">
                          <a:solidFill>
                            <a:srgbClr val="222A2D"/>
                          </a:solidFill>
                          <a:latin typeface="NanumGothic"/>
                          <a:ea typeface="NanumGothic"/>
                          <a:cs typeface="NanumGothic"/>
                        </a:rPr>
                        <a:t>연속 20일 수위·강수 (20, 2)</a:t>
                      </a:r>
                    </a:p>
                  </a:txBody>
                  <a:tcPr marL="91440" marR="91440" marT="45720" marB="45720">
                    <a:solidFill>
                      <a:srgbClr val="F2F6F3"/>
                    </a:solidFill>
                  </a:tcPr>
                </a:tc>
              </a:tr>
              <a:tr h="336550">
                <a:tc>
                  <a:txBody>
                    <a:bodyPr/>
                    <a:lstStyle/>
                    <a:p>
                      <a:r>
                        <a:rPr sz="1200" b="0">
                          <a:solidFill>
                            <a:srgbClr val="222A2D"/>
                          </a:solidFill>
                          <a:latin typeface="NanumGothic"/>
                          <a:ea typeface="NanumGothic"/>
                          <a:cs typeface="NanumGothic"/>
                        </a:rPr>
                        <a:t>데이터 공급</a:t>
                      </a:r>
                    </a:p>
                  </a:txBody>
                  <a:tcPr marL="91440" marR="91440" marT="45720" marB="45720">
                    <a:solidFill>
                      <a:srgbClr val="FAFBF9"/>
                    </a:solidFill>
                  </a:tcPr>
                </a:tc>
                <a:tc>
                  <a:txBody>
                    <a:bodyPr/>
                    <a:lstStyle/>
                    <a:p>
                      <a:r>
                        <a:rPr sz="1200" b="0">
                          <a:solidFill>
                            <a:srgbClr val="222A2D"/>
                          </a:solidFill>
                          <a:latin typeface="NanumGothic"/>
                          <a:ea typeface="NanumGothic"/>
                          <a:cs typeface="NanumGothic"/>
                        </a:rPr>
                        <a:t>대시보드 CSV 업로드</a:t>
                      </a:r>
                    </a:p>
                  </a:txBody>
                  <a:tcPr marL="91440" marR="91440" marT="45720" marB="45720">
                    <a:solidFill>
                      <a:srgbClr val="FAFBF9"/>
                    </a:solidFill>
                  </a:tcPr>
                </a:tc>
                <a:tc>
                  <a:txBody>
                    <a:bodyPr/>
                    <a:lstStyle/>
                    <a:p>
                      <a:r>
                        <a:rPr sz="1200" b="0">
                          <a:solidFill>
                            <a:srgbClr val="222A2D"/>
                          </a:solidFill>
                          <a:latin typeface="NanumGothic"/>
                          <a:ea typeface="NanumGothic"/>
                          <a:cs typeface="NanumGothic"/>
                        </a:rPr>
                        <a:t>원관측 CSV·manifest, 별도 합성 확장</a:t>
                      </a:r>
                    </a:p>
                  </a:txBody>
                  <a:tcPr marL="91440" marR="91440" marT="45720" marB="45720">
                    <a:solidFill>
                      <a:srgbClr val="FAFBF9"/>
                    </a:solidFill>
                  </a:tcPr>
                </a:tc>
              </a:tr>
              <a:tr h="336550">
                <a:tc>
                  <a:txBody>
                    <a:bodyPr/>
                    <a:lstStyle/>
                    <a:p>
                      <a:r>
                        <a:rPr sz="1200" b="0">
                          <a:solidFill>
                            <a:srgbClr val="222A2D"/>
                          </a:solidFill>
                          <a:latin typeface="NanumGothic"/>
                          <a:ea typeface="NanumGothic"/>
                          <a:cs typeface="NanumGothic"/>
                        </a:rPr>
                        <a:t>배포 게이트</a:t>
                      </a:r>
                    </a:p>
                  </a:txBody>
                  <a:tcPr marL="91440" marR="91440" marT="45720" marB="45720">
                    <a:solidFill>
                      <a:srgbClr val="F2F6F3"/>
                    </a:solidFill>
                  </a:tcPr>
                </a:tc>
                <a:tc>
                  <a:txBody>
                    <a:bodyPr/>
                    <a:lstStyle/>
                    <a:p>
                      <a:r>
                        <a:rPr sz="1200" b="0">
                          <a:solidFill>
                            <a:srgbClr val="222A2D"/>
                          </a:solidFill>
                          <a:latin typeface="NanumGothic"/>
                          <a:ea typeface="NanumGothic"/>
                          <a:cs typeface="NanumGothic"/>
                        </a:rPr>
                        <a:t>RMSE ≤ 4달러</a:t>
                      </a:r>
                    </a:p>
                  </a:txBody>
                  <a:tcPr marL="91440" marR="91440" marT="45720" marB="45720">
                    <a:solidFill>
                      <a:srgbClr val="F2F6F3"/>
                    </a:solidFill>
                  </a:tcPr>
                </a:tc>
                <a:tc>
                  <a:txBody>
                    <a:bodyPr/>
                    <a:lstStyle/>
                    <a:p>
                      <a:r>
                        <a:rPr sz="1200" b="0">
                          <a:solidFill>
                            <a:srgbClr val="222A2D"/>
                          </a:solidFill>
                          <a:latin typeface="NanumGothic"/>
                          <a:ea typeface="NanumGothic"/>
                          <a:cs typeface="NanumGothic"/>
                        </a:rPr>
                        <a:t>초기 persistence × 1.10, 교체 5% 개선</a:t>
                      </a:r>
                    </a:p>
                  </a:txBody>
                  <a:tcPr marL="91440" marR="91440" marT="45720" marB="45720">
                    <a:solidFill>
                      <a:srgbClr val="F2F6F3"/>
                    </a:solidFill>
                  </a:tcPr>
                </a:tc>
              </a:tr>
              <a:tr h="336550">
                <a:tc>
                  <a:txBody>
                    <a:bodyPr/>
                    <a:lstStyle/>
                    <a:p>
                      <a:r>
                        <a:rPr sz="1200" b="0">
                          <a:solidFill>
                            <a:srgbClr val="222A2D"/>
                          </a:solidFill>
                          <a:latin typeface="NanumGothic"/>
                          <a:ea typeface="NanumGothic"/>
                          <a:cs typeface="NanumGothic"/>
                        </a:rPr>
                        <a:t>드리프트 신호</a:t>
                      </a:r>
                    </a:p>
                  </a:txBody>
                  <a:tcPr marL="91440" marR="91440" marT="45720" marB="45720">
                    <a:solidFill>
                      <a:srgbClr val="FAFBF9"/>
                    </a:solidFill>
                  </a:tcPr>
                </a:tc>
                <a:tc>
                  <a:txBody>
                    <a:bodyPr/>
                    <a:lstStyle/>
                    <a:p>
                      <a:r>
                        <a:rPr sz="1200" b="0">
                          <a:solidFill>
                            <a:srgbClr val="222A2D"/>
                          </a:solidFill>
                          <a:latin typeface="NanumGothic"/>
                          <a:ea typeface="NanumGothic"/>
                          <a:cs typeface="NanumGothic"/>
                        </a:rPr>
                        <a:t>변동성 3배 시연</a:t>
                      </a:r>
                    </a:p>
                  </a:txBody>
                  <a:tcPr marL="91440" marR="91440" marT="45720" marB="45720">
                    <a:solidFill>
                      <a:srgbClr val="FAFBF9"/>
                    </a:solidFill>
                  </a:tcPr>
                </a:tc>
                <a:tc>
                  <a:txBody>
                    <a:bodyPr/>
                    <a:lstStyle/>
                    <a:p>
                      <a:r>
                        <a:rPr sz="1200" b="0">
                          <a:solidFill>
                            <a:srgbClr val="222A2D"/>
                          </a:solidFill>
                          <a:latin typeface="NanumGothic"/>
                          <a:ea typeface="NanumGothic"/>
                          <a:cs typeface="NanumGothic"/>
                        </a:rPr>
                        <a:t>21일 예측 오차의 반복 임계 초과</a:t>
                      </a:r>
                    </a:p>
                  </a:txBody>
                  <a:tcPr marL="91440" marR="91440" marT="45720" marB="45720">
                    <a:solidFill>
                      <a:srgbClr val="FAFBF9"/>
                    </a:solidFill>
                  </a:tcPr>
                </a:tc>
              </a:tr>
              <a:tr h="336550">
                <a:tc>
                  <a:txBody>
                    <a:bodyPr/>
                    <a:lstStyle/>
                    <a:p>
                      <a:r>
                        <a:rPr sz="1200" b="0">
                          <a:solidFill>
                            <a:srgbClr val="222A2D"/>
                          </a:solidFill>
                          <a:latin typeface="NanumGothic"/>
                          <a:ea typeface="NanumGothic"/>
                          <a:cs typeface="NanumGothic"/>
                        </a:rPr>
                        <a:t>재학습</a:t>
                      </a:r>
                    </a:p>
                  </a:txBody>
                  <a:tcPr marL="91440" marR="91440" marT="45720" marB="45720">
                    <a:solidFill>
                      <a:srgbClr val="F2F6F3"/>
                    </a:solidFill>
                  </a:tcPr>
                </a:tc>
                <a:tc>
                  <a:txBody>
                    <a:bodyPr/>
                    <a:lstStyle/>
                    <a:p>
                      <a:r>
                        <a:rPr sz="1200" b="0">
                          <a:solidFill>
                            <a:srgbClr val="222A2D"/>
                          </a:solidFill>
                          <a:latin typeface="NanumGothic"/>
                          <a:ea typeface="NanumGothic"/>
                          <a:cs typeface="NanumGothic"/>
                        </a:rPr>
                        <a:t>최근 21거래일 fine-tuning</a:t>
                      </a:r>
                    </a:p>
                  </a:txBody>
                  <a:tcPr marL="91440" marR="91440" marT="45720" marB="45720">
                    <a:solidFill>
                      <a:srgbClr val="F2F6F3"/>
                    </a:solidFill>
                  </a:tcPr>
                </a:tc>
                <a:tc>
                  <a:txBody>
                    <a:bodyPr/>
                    <a:lstStyle/>
                    <a:p>
                      <a:r>
                        <a:rPr sz="1200" b="0">
                          <a:solidFill>
                            <a:srgbClr val="222A2D"/>
                          </a:solidFill>
                          <a:latin typeface="NanumGothic"/>
                          <a:ea typeface="NanumGothic"/>
                          <a:cs typeface="NanumGothic"/>
                        </a:rPr>
                        <a:t>41일 입력·21개 정답, 새 정답 30일 평가</a:t>
                      </a:r>
                    </a:p>
                  </a:txBody>
                  <a:tcPr marL="91440" marR="91440" marT="45720" marB="45720">
                    <a:solidFill>
                      <a:srgbClr val="F2F6F3"/>
                    </a:solidFill>
                  </a:tcPr>
                </a:tc>
              </a:tr>
              <a:tr h="336550">
                <a:tc>
                  <a:txBody>
                    <a:bodyPr/>
                    <a:lstStyle/>
                    <a:p>
                      <a:r>
                        <a:rPr sz="1200" b="0">
                          <a:solidFill>
                            <a:srgbClr val="222A2D"/>
                          </a:solidFill>
                          <a:latin typeface="NanumGothic"/>
                          <a:ea typeface="NanumGothic"/>
                          <a:cs typeface="NanumGothic"/>
                        </a:rPr>
                        <a:t>알림</a:t>
                      </a:r>
                    </a:p>
                  </a:txBody>
                  <a:tcPr marL="91440" marR="91440" marT="45720" marB="45720">
                    <a:solidFill>
                      <a:srgbClr val="FAFBF9"/>
                    </a:solidFill>
                  </a:tcPr>
                </a:tc>
                <a:tc>
                  <a:txBody>
                    <a:bodyPr/>
                    <a:lstStyle/>
                    <a:p>
                      <a:r>
                        <a:rPr sz="1200" b="0">
                          <a:solidFill>
                            <a:srgbClr val="222A2D"/>
                          </a:solidFill>
                          <a:latin typeface="NanumGothic"/>
                          <a:ea typeface="NanumGothic"/>
                          <a:cs typeface="NanumGothic"/>
                        </a:rPr>
                        <a:t>aiops.log WARN</a:t>
                      </a:r>
                    </a:p>
                  </a:txBody>
                  <a:tcPr marL="91440" marR="91440" marT="45720" marB="45720">
                    <a:solidFill>
                      <a:srgbClr val="FAFBF9"/>
                    </a:solidFill>
                  </a:tcPr>
                </a:tc>
                <a:tc>
                  <a:txBody>
                    <a:bodyPr/>
                    <a:lstStyle/>
                    <a:p>
                      <a:r>
                        <a:rPr sz="1200" b="0">
                          <a:solidFill>
                            <a:srgbClr val="222A2D"/>
                          </a:solidFill>
                          <a:latin typeface="NanumGothic"/>
                          <a:ea typeface="NanumGothic"/>
                          <a:cs typeface="NanumGothic"/>
                        </a:rPr>
                        <a:t>SQLite 품질 이벤트와 운영 화면</a:t>
                      </a:r>
                    </a:p>
                  </a:txBody>
                  <a:tcPr marL="91440" marR="91440" marT="45720" marB="45720">
                    <a:solidFill>
                      <a:srgbClr val="FAFBF9"/>
                    </a:solidFill>
                  </a:tcPr>
                </a:tc>
              </a:tr>
              <a:tr h="336550">
                <a:tc>
                  <a:txBody>
                    <a:bodyPr/>
                    <a:lstStyle/>
                    <a:p>
                      <a:r>
                        <a:rPr sz="1200" b="0">
                          <a:solidFill>
                            <a:srgbClr val="222A2D"/>
                          </a:solidFill>
                          <a:latin typeface="NanumGothic"/>
                          <a:ea typeface="NanumGothic"/>
                          <a:cs typeface="NanumGothic"/>
                        </a:rPr>
                        <a:t>이해관계자</a:t>
                      </a:r>
                    </a:p>
                  </a:txBody>
                  <a:tcPr marL="91440" marR="91440" marT="45720" marB="45720">
                    <a:solidFill>
                      <a:srgbClr val="F2F6F3"/>
                    </a:solidFill>
                  </a:tcPr>
                </a:tc>
                <a:tc>
                  <a:txBody>
                    <a:bodyPr/>
                    <a:lstStyle/>
                    <a:p>
                      <a:r>
                        <a:rPr sz="1200" b="0">
                          <a:solidFill>
                            <a:srgbClr val="222A2D"/>
                          </a:solidFill>
                          <a:latin typeface="NanumGothic"/>
                          <a:ea typeface="NanumGothic"/>
                          <a:cs typeface="NanumGothic"/>
                        </a:rPr>
                        <a:t>투자 분석가·운영자</a:t>
                      </a:r>
                    </a:p>
                  </a:txBody>
                  <a:tcPr marL="91440" marR="91440" marT="45720" marB="45720">
                    <a:solidFill>
                      <a:srgbClr val="F2F6F3"/>
                    </a:solidFill>
                  </a:tcPr>
                </a:tc>
                <a:tc>
                  <a:txBody>
                    <a:bodyPr/>
                    <a:lstStyle/>
                    <a:p>
                      <a:r>
                        <a:rPr sz="1200" b="0">
                          <a:solidFill>
                            <a:srgbClr val="222A2D"/>
                          </a:solidFill>
                          <a:latin typeface="NanumGothic"/>
                          <a:ea typeface="NanumGothic"/>
                          <a:cs typeface="NanumGothic"/>
                        </a:rPr>
                        <a:t>관측·시설 유지관리 기업 운영자</a:t>
                      </a:r>
                    </a:p>
                  </a:txBody>
                  <a:tcPr marL="91440" marR="91440" marT="45720" marB="45720">
                    <a:solidFill>
                      <a:srgbClr val="F2F6F3"/>
                    </a:solidFill>
                  </a:tcPr>
                </a:tc>
              </a:tr>
            </a:tbl>
          </a:graphicData>
        </a:graphic>
      </p:graphicFrame>
    </p:spTree>
    <p:extLst>
      <p:ext uri="{BB962C8B-B14F-4D97-AF65-F5344CB8AC3E}">
        <p14:creationId xmlns:p14="http://schemas.microsoft.com/office/powerpoint/2010/main" val="247876811"/>
      </p:ext>
    </p:extLst>
  </p:cSld>
</p:sld>
</file>

<file path=ppt/slides/slide5.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92593D6-B742-49C5-85C3-529917508361}"/>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① 이해관계자 가치</a:t>
            </a:r>
          </a:p>
        </p:txBody>
      </p:sp>
      <p:sp>
        <p:nvSpPr>
          <p:cNvPr id="2" name="">
            <a:extLst xmlns:a="http://schemas.openxmlformats.org/drawingml/2006/main">
              <a:ext uri="{FF2B5EF4-FFF2-40B4-BE49-F238E27FC236}">
                <a16:creationId xmlns:a16="http://schemas.microsoft.com/office/drawing/2014/main" id="{3EBBC3E4-B4C3-4C74-ADB4-DBEA4B3F1F84}"/>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예측 품질과 현장 안전 판단의 경계</a:t>
            </a:r>
          </a:p>
        </p:txBody>
      </p:sp>
      <p:sp>
        <p:nvSpPr>
          <p:cNvPr id="3" name="">
            <a:extLst xmlns:a="http://schemas.openxmlformats.org/drawingml/2006/main">
              <a:ext uri="{FF2B5EF4-FFF2-40B4-BE49-F238E27FC236}">
                <a16:creationId xmlns:a16="http://schemas.microsoft.com/office/drawing/2014/main" id="{503AD4A8-D3F8-4E5E-B0CB-7965005AC268}"/>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9D32DFF5-3D09-4039-A19B-3EB78DED549C}"/>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5</a:t>
            </a:r>
          </a:p>
        </p:txBody>
      </p:sp>
      <p:sp>
        <p:nvSpPr>
          <p:cNvPr id="5" name="">
            <a:extLst xmlns:a="http://schemas.openxmlformats.org/drawingml/2006/main">
              <a:ext uri="{FF2B5EF4-FFF2-40B4-BE49-F238E27FC236}">
                <a16:creationId xmlns:a16="http://schemas.microsoft.com/office/drawing/2014/main" id="{ED1A8996-18B7-49E6-94C4-4EFAF88DE774}"/>
              </a:ext>
            </a:extLst>
          </p:cNvPr>
          <p:cNvSpPr>
            <a:spLocks xmlns:a="http://schemas.openxmlformats.org/drawingml/2006/main" noGrp="1"/>
          </p:cNvSpPr>
          <p:nvPr/>
        </p:nvSpPr>
        <p:spPr>
          <a:xfrm xmlns:a="http://schemas.openxmlformats.org/drawingml/2006/main">
            <a:off x="571500" y="1657350"/>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007D68"/>
                </a:solidFill>
                <a:latin typeface="NanumGothic"/>
                <a:ea typeface="NanumGothic"/>
                <a:cs typeface="NanumGothic"/>
              </a:defRPr>
            </a:defPPr>
          </a:lstStyle>
          <a:p xmlns:a="http://schemas.openxmlformats.org/drawingml/2006/main">
            <a:pPr>
              <a:buNone/>
              <a:defRPr sz="1725" b="1">
                <a:solidFill>
                  <a:srgbClr val="007D68"/>
                </a:solidFill>
                <a:latin typeface="NanumGothic"/>
                <a:ea typeface="NanumGothic"/>
                <a:cs typeface="NanumGothic"/>
              </a:defRPr>
            </a:pPr>
            <a:r>
              <a:rPr sz="1725" b="1">
                <a:solidFill>
                  <a:srgbClr val="007D68"/>
                </a:solidFill>
                <a:latin typeface="NanumGothic"/>
                <a:ea typeface="NanumGothic"/>
                <a:cs typeface="NanumGothic"/>
              </a:rPr>
              <a:t>현재 제공하는 결과</a:t>
            </a:r>
          </a:p>
        </p:txBody>
      </p:sp>
      <p:sp>
        <p:nvSpPr>
          <p:cNvPr id="6" name="">
            <a:extLst xmlns:a="http://schemas.openxmlformats.org/drawingml/2006/main">
              <a:ext uri="{FF2B5EF4-FFF2-40B4-BE49-F238E27FC236}">
                <a16:creationId xmlns:a16="http://schemas.microsoft.com/office/drawing/2014/main" id="{3C8FC803-A0B6-4AA1-93B8-175DF7AD8BCF}"/>
              </a:ext>
            </a:extLst>
          </p:cNvPr>
          <p:cNvSpPr>
            <a:spLocks xmlns:a="http://schemas.openxmlformats.org/drawingml/2006/main" noGrp="1"/>
          </p:cNvSpPr>
          <p:nvPr/>
        </p:nvSpPr>
        <p:spPr>
          <a:xfrm xmlns:a="http://schemas.openxmlformats.org/drawingml/2006/main">
            <a:off x="571500" y="2076450"/>
            <a:ext cx="3714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22A2D"/>
                </a:solidFill>
                <a:latin typeface="NanumGothic"/>
                <a:ea typeface="NanumGothic"/>
                <a:cs typeface="NanumGothic"/>
              </a:defRPr>
            </a:defPPr>
          </a:lstStyle>
          <a:p xmlns:a="http://schemas.openxmlformats.org/drawingml/2006/main">
            <a:pPr>
              <a:buNone/>
              <a:defRPr sz="1500" b="0">
                <a:solidFill>
                  <a:srgbClr val="222A2D"/>
                </a:solidFill>
                <a:latin typeface="NanumGothic"/>
                <a:ea typeface="NanumGothic"/>
                <a:cs typeface="NanumGothic"/>
              </a:defRPr>
            </a:pPr>
            <a:r>
              <a:rPr sz="1500" b="0">
                <a:solidFill>
                  <a:srgbClr val="222A2D"/>
                </a:solidFill>
                <a:latin typeface="NanumGothic"/>
                <a:ea typeface="NanumGothic"/>
                <a:cs typeface="NanumGothic"/>
              </a:rPr>
              <a:t>관측소별 다음 날 수위 예측</a:t>
            </a:r>
          </a:p>
          <a:p xmlns:a="http://schemas.openxmlformats.org/drawingml/2006/main">
            <a:pPr>
              <a:buNone/>
              <a:defRPr sz="1500" b="0">
                <a:solidFill>
                  <a:srgbClr val="222A2D"/>
                </a:solidFill>
                <a:latin typeface="NanumGothic"/>
                <a:ea typeface="NanumGothic"/>
                <a:cs typeface="NanumGothic"/>
              </a:defRPr>
            </a:pPr>
            <a:r>
              <a:rPr sz="1500" b="0">
                <a:solidFill>
                  <a:srgbClr val="222A2D"/>
                </a:solidFill>
                <a:latin typeface="NanumGothic"/>
                <a:ea typeface="NanumGothic"/>
                <a:cs typeface="NanumGothic"/>
              </a:rPr>
              <a:t>같은 날짜의 실제 입력·저장 예측 비교</a:t>
            </a:r>
          </a:p>
          <a:p xmlns:a="http://schemas.openxmlformats.org/drawingml/2006/main">
            <a:pPr>
              <a:buNone/>
              <a:defRPr sz="1500" b="0">
                <a:solidFill>
                  <a:srgbClr val="222A2D"/>
                </a:solidFill>
                <a:latin typeface="NanumGothic"/>
                <a:ea typeface="NanumGothic"/>
                <a:cs typeface="NanumGothic"/>
              </a:defRPr>
            </a:pPr>
            <a:r>
              <a:rPr sz="1500" b="0">
                <a:solidFill>
                  <a:srgbClr val="222A2D"/>
                </a:solidFill>
                <a:latin typeface="NanumGothic"/>
                <a:ea typeface="NanumGothic"/>
                <a:cs typeface="NanumGothic"/>
              </a:rPr>
              <a:t>모델 버전, 오차, 재학습·평가 이력</a:t>
            </a:r>
          </a:p>
        </p:txBody>
      </p:sp>
      <p:sp>
        <p:nvSpPr>
          <p:cNvPr id="7" name="">
            <a:extLst xmlns:a="http://schemas.openxmlformats.org/drawingml/2006/main">
              <a:ext uri="{FF2B5EF4-FFF2-40B4-BE49-F238E27FC236}">
                <a16:creationId xmlns:a16="http://schemas.microsoft.com/office/drawing/2014/main" id="{384B8DDC-25A4-4D65-8DDA-34765B5F35FF}"/>
              </a:ext>
            </a:extLst>
          </p:cNvPr>
          <p:cNvSpPr>
            <a:spLocks xmlns:a="http://schemas.openxmlformats.org/drawingml/2006/main" noGrp="1"/>
          </p:cNvSpPr>
          <p:nvPr/>
        </p:nvSpPr>
        <p:spPr>
          <a:xfrm xmlns:a="http://schemas.openxmlformats.org/drawingml/2006/main">
            <a:off x="4810125" y="1657350"/>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007D68"/>
                </a:solidFill>
                <a:latin typeface="NanumGothic"/>
                <a:ea typeface="NanumGothic"/>
                <a:cs typeface="NanumGothic"/>
              </a:defRPr>
            </a:defPPr>
          </a:lstStyle>
          <a:p xmlns:a="http://schemas.openxmlformats.org/drawingml/2006/main">
            <a:pPr>
              <a:buNone/>
              <a:defRPr sz="1725" b="1">
                <a:solidFill>
                  <a:srgbClr val="007D68"/>
                </a:solidFill>
                <a:latin typeface="NanumGothic"/>
                <a:ea typeface="NanumGothic"/>
                <a:cs typeface="NanumGothic"/>
              </a:defRPr>
            </a:pPr>
            <a:r>
              <a:rPr sz="1725" b="1">
                <a:solidFill>
                  <a:srgbClr val="007D68"/>
                </a:solidFill>
                <a:latin typeface="NanumGothic"/>
                <a:ea typeface="NanumGothic"/>
                <a:cs typeface="NanumGothic"/>
              </a:rPr>
              <a:t>현장 검증 과제</a:t>
            </a:r>
          </a:p>
        </p:txBody>
      </p:sp>
      <p:sp>
        <p:nvSpPr>
          <p:cNvPr id="8" name="">
            <a:extLst xmlns:a="http://schemas.openxmlformats.org/drawingml/2006/main">
              <a:ext uri="{FF2B5EF4-FFF2-40B4-BE49-F238E27FC236}">
                <a16:creationId xmlns:a16="http://schemas.microsoft.com/office/drawing/2014/main" id="{96882041-405C-431F-8755-0ABF200751DF}"/>
              </a:ext>
            </a:extLst>
          </p:cNvPr>
          <p:cNvSpPr>
            <a:spLocks xmlns:a="http://schemas.openxmlformats.org/drawingml/2006/main" noGrp="1"/>
          </p:cNvSpPr>
          <p:nvPr/>
        </p:nvSpPr>
        <p:spPr>
          <a:xfrm xmlns:a="http://schemas.openxmlformats.org/drawingml/2006/main">
            <a:off x="4810125" y="2076450"/>
            <a:ext cx="3714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22A2D"/>
                </a:solidFill>
                <a:latin typeface="NanumGothic"/>
                <a:ea typeface="NanumGothic"/>
                <a:cs typeface="NanumGothic"/>
              </a:defRPr>
            </a:defPPr>
          </a:lstStyle>
          <a:p xmlns:a="http://schemas.openxmlformats.org/drawingml/2006/main">
            <a:pPr>
              <a:buNone/>
              <a:defRPr sz="1500" b="0">
                <a:solidFill>
                  <a:srgbClr val="222A2D"/>
                </a:solidFill>
                <a:latin typeface="NanumGothic"/>
                <a:ea typeface="NanumGothic"/>
                <a:cs typeface="NanumGothic"/>
              </a:defRPr>
            </a:pPr>
            <a:r>
              <a:rPr sz="1500" b="0">
                <a:solidFill>
                  <a:srgbClr val="222A2D"/>
                </a:solidFill>
                <a:latin typeface="NanumGothic"/>
                <a:ea typeface="NanumGothic"/>
                <a:cs typeface="NanumGothic"/>
              </a:rPr>
              <a:t>관측소·단위와 현장 적합성</a:t>
            </a:r>
          </a:p>
          <a:p xmlns:a="http://schemas.openxmlformats.org/drawingml/2006/main">
            <a:pPr>
              <a:buNone/>
              <a:defRPr sz="1500" b="0">
                <a:solidFill>
                  <a:srgbClr val="222A2D"/>
                </a:solidFill>
                <a:latin typeface="NanumGothic"/>
                <a:ea typeface="NanumGothic"/>
                <a:cs typeface="NanumGothic"/>
              </a:defRPr>
            </a:pPr>
            <a:r>
              <a:rPr sz="1500" b="0">
                <a:solidFill>
                  <a:srgbClr val="222A2D"/>
                </a:solidFill>
                <a:latin typeface="NanumGothic"/>
                <a:ea typeface="NanumGothic"/>
                <a:cs typeface="NanumGothic"/>
              </a:rPr>
              <a:t>현장 원인과 수위 변화의 관계</a:t>
            </a:r>
          </a:p>
          <a:p xmlns:a="http://schemas.openxmlformats.org/drawingml/2006/main">
            <a:pPr>
              <a:buNone/>
              <a:defRPr sz="1500" b="0">
                <a:solidFill>
                  <a:srgbClr val="222A2D"/>
                </a:solidFill>
                <a:latin typeface="NanumGothic"/>
                <a:ea typeface="NanumGothic"/>
                <a:cs typeface="NanumGothic"/>
              </a:defRPr>
            </a:pPr>
            <a:r>
              <a:rPr sz="1500" b="0">
                <a:solidFill>
                  <a:srgbClr val="222A2D"/>
                </a:solidFill>
                <a:latin typeface="NanumGothic"/>
                <a:ea typeface="NanumGothic"/>
                <a:cs typeface="NanumGothic"/>
              </a:rPr>
              <a:t>업무 시간·비용 절감 효과</a:t>
            </a:r>
          </a:p>
        </p:txBody>
      </p:sp>
      <p:sp>
        <p:nvSpPr>
          <p:cNvPr id="9" name="">
            <a:extLst xmlns:a="http://schemas.openxmlformats.org/drawingml/2006/main">
              <a:ext uri="{FF2B5EF4-FFF2-40B4-BE49-F238E27FC236}">
                <a16:creationId xmlns:a16="http://schemas.microsoft.com/office/drawing/2014/main" id="{90417646-B000-43C9-B91D-A872417874AE}"/>
              </a:ext>
            </a:extLst>
          </p:cNvPr>
          <p:cNvSpPr>
            <a:spLocks xmlns:a="http://schemas.openxmlformats.org/drawingml/2006/main" noGrp="1"/>
          </p:cNvSpPr>
          <p:nvPr/>
        </p:nvSpPr>
        <p:spPr>
          <a:xfrm xmlns:a="http://schemas.openxmlformats.org/drawingml/2006/main">
            <a:off x="571500" y="3838575"/>
            <a:ext cx="800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007D68"/>
                </a:solidFill>
                <a:latin typeface="NanumGothic"/>
                <a:ea typeface="NanumGothic"/>
                <a:cs typeface="NanumGothic"/>
              </a:defRPr>
            </a:defPPr>
          </a:lstStyle>
          <a:p xmlns:a="http://schemas.openxmlformats.org/drawingml/2006/main">
            <a:pPr>
              <a:buNone/>
              <a:defRPr sz="1875" b="1">
                <a:solidFill>
                  <a:srgbClr val="007D68"/>
                </a:solidFill>
                <a:latin typeface="NanumGothic"/>
                <a:ea typeface="NanumGothic"/>
                <a:cs typeface="NanumGothic"/>
              </a:defRPr>
            </a:pPr>
            <a:r>
              <a:rPr sz="1875" b="1">
                <a:solidFill>
                  <a:srgbClr val="007D68"/>
                </a:solidFill>
                <a:latin typeface="NanumGothic"/>
                <a:ea typeface="NanumGothic"/>
                <a:cs typeface="NanumGothic"/>
              </a:rPr>
              <a:t>전국 실측 평가와 서울 합성 교체 시연은 근거를 분리합니다</a:t>
            </a:r>
          </a:p>
        </p:txBody>
      </p:sp>
    </p:spTree>
    <p:extLst>
      <p:ext uri="{BB962C8B-B14F-4D97-AF65-F5344CB8AC3E}">
        <p14:creationId xmlns:p14="http://schemas.microsoft.com/office/powerpoint/2010/main" val="1675812102"/>
      </p:ext>
    </p:extLst>
  </p:cSld>
</p:sld>
</file>

<file path=ppt/slides/slide6.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2A084A3-8ECE-4DE1-B5FE-9CCAD487235A}"/>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② AI 솔루션과 운영 목표</a:t>
            </a:r>
          </a:p>
        </p:txBody>
      </p:sp>
      <p:sp>
        <p:nvSpPr>
          <p:cNvPr id="2" name="">
            <a:extLst xmlns:a="http://schemas.openxmlformats.org/drawingml/2006/main">
              <a:ext uri="{FF2B5EF4-FFF2-40B4-BE49-F238E27FC236}">
                <a16:creationId xmlns:a16="http://schemas.microsoft.com/office/drawing/2014/main" id="{D1143293-267B-45FF-BC14-2DBF40C9F4B7}"/>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다음 날 수위 예측을 품질 감시까지 연결</a:t>
            </a:r>
          </a:p>
        </p:txBody>
      </p:sp>
      <p:sp>
        <p:nvSpPr>
          <p:cNvPr id="3" name="">
            <a:extLst xmlns:a="http://schemas.openxmlformats.org/drawingml/2006/main">
              <a:ext uri="{FF2B5EF4-FFF2-40B4-BE49-F238E27FC236}">
                <a16:creationId xmlns:a16="http://schemas.microsoft.com/office/drawing/2014/main" id="{F2FE8E77-022B-4149-A8F3-9A5ABF001A10}"/>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05C8D957-B6D5-4186-BF76-E385DEAA3550}"/>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6</a:t>
            </a:r>
          </a:p>
        </p:txBody>
      </p:sp>
      <p:sp>
        <p:nvSpPr>
          <p:cNvPr id="5" name="">
            <a:extLst xmlns:a="http://schemas.openxmlformats.org/drawingml/2006/main">
              <a:ext uri="{FF2B5EF4-FFF2-40B4-BE49-F238E27FC236}">
                <a16:creationId xmlns:a16="http://schemas.microsoft.com/office/drawing/2014/main" id="{B142BA3E-3D5C-492B-90A5-4A27251F1320}"/>
              </a:ext>
            </a:extLst>
          </p:cNvPr>
          <p:cNvSpPr>
            <a:spLocks xmlns:a="http://schemas.openxmlformats.org/drawingml/2006/main" noGrp="1"/>
          </p:cNvSpPr>
          <p:nvPr/>
        </p:nvSpPr>
        <p:spPr>
          <a:xfrm xmlns:a="http://schemas.openxmlformats.org/drawingml/2006/main">
            <a:off x="571500" y="1733550"/>
            <a:ext cx="1809750" cy="857250"/>
          </a:xfrm>
          <a:prstGeom xmlns:a="http://schemas.openxmlformats.org/drawingml/2006/main" prst="rect">
            <a:avLst/>
          </a:prstGeom>
          <a:solidFill xmlns:a="http://schemas.openxmlformats.org/drawingml/2006/main">
            <a:srgbClr val="FFFFFF"/>
          </a:solidFill>
          <a:ln xmlns:a="http://schemas.openxmlformats.org/drawingml/2006/main" w="11430">
            <a:solidFill>
              <a:srgbClr val="CED8D5"/>
            </a:solidFill>
          </a:ln>
        </p:spPr>
        <p:txBody>
          <a:bodyPr xmlns:a="http://schemas.openxmlformats.org/drawingml/2006/main" anchor="ctr"/>
          <a:lstStyle xmlns:a="http://schemas.openxmlformats.org/drawingml/2006/main">
            <a:defPPr algn="ctr">
              <a:defRPr sz="1350" b="1">
                <a:solidFill>
                  <a:srgbClr val="222A2D"/>
                </a:solidFill>
                <a:latin typeface="NanumGothic"/>
                <a:ea typeface="NanumGothic"/>
                <a:cs typeface="NanumGothic"/>
              </a:defRPr>
            </a:defPPr>
          </a:lstStyle>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최근 20일</a:t>
            </a:r>
          </a:p>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수위·강수</a:t>
            </a:r>
          </a:p>
        </p:txBody>
      </p:sp>
      <p:sp>
        <p:nvSpPr>
          <p:cNvPr id="6" name="">
            <a:extLst xmlns:a="http://schemas.openxmlformats.org/drawingml/2006/main">
              <a:ext uri="{FF2B5EF4-FFF2-40B4-BE49-F238E27FC236}">
                <a16:creationId xmlns:a16="http://schemas.microsoft.com/office/drawing/2014/main" id="{18A68870-6623-4663-A8B7-0F14626EB75D}"/>
              </a:ext>
            </a:extLst>
          </p:cNvPr>
          <p:cNvSpPr>
            <a:spLocks xmlns:a="http://schemas.openxmlformats.org/drawingml/2006/main" noGrp="1"/>
          </p:cNvSpPr>
          <p:nvPr/>
        </p:nvSpPr>
        <p:spPr>
          <a:xfrm xmlns:a="http://schemas.openxmlformats.org/drawingml/2006/main">
            <a:off x="3000375" y="1733550"/>
            <a:ext cx="2619375" cy="857250"/>
          </a:xfrm>
          <a:prstGeom xmlns:a="http://schemas.openxmlformats.org/drawingml/2006/main" prst="rect">
            <a:avLst/>
          </a:prstGeom>
          <a:solidFill xmlns:a="http://schemas.openxmlformats.org/drawingml/2006/main">
            <a:srgbClr val="E5F0EB"/>
          </a:solidFill>
          <a:ln xmlns:a="http://schemas.openxmlformats.org/drawingml/2006/main" w="11430">
            <a:solidFill>
              <a:srgbClr val="007D68"/>
            </a:solidFill>
          </a:ln>
        </p:spPr>
        <p:txBody>
          <a:bodyPr xmlns:a="http://schemas.openxmlformats.org/drawingml/2006/main" anchor="ctr"/>
          <a:lstStyle xmlns:a="http://schemas.openxmlformats.org/drawingml/2006/main">
            <a:defPPr algn="ctr">
              <a:defRPr sz="1350" b="1">
                <a:solidFill>
                  <a:srgbClr val="007D68"/>
                </a:solidFill>
                <a:latin typeface="NanumGothic"/>
                <a:ea typeface="NanumGothic"/>
                <a:cs typeface="NanumGothic"/>
              </a:defRPr>
            </a:defPPr>
          </a:lstStyle>
          <a:p xmlns:a="http://schemas.openxmlformats.org/drawingml/2006/main">
            <a:pPr algn="ctr">
              <a:buNone/>
              <a:defRPr sz="1350" b="1">
                <a:solidFill>
                  <a:srgbClr val="007D68"/>
                </a:solidFill>
                <a:latin typeface="NanumGothic"/>
                <a:ea typeface="NanumGothic"/>
                <a:cs typeface="NanumGothic"/>
              </a:defRPr>
            </a:pPr>
            <a:r>
              <a:rPr sz="1350" b="1">
                <a:solidFill>
                  <a:srgbClr val="007D68"/>
                </a:solidFill>
                <a:latin typeface="NanumGothic"/>
                <a:ea typeface="NanumGothic"/>
                <a:cs typeface="NanumGothic"/>
              </a:rPr>
              <a:t>관측소별 residual LSTM</a:t>
            </a:r>
          </a:p>
          <a:p xmlns:a="http://schemas.openxmlformats.org/drawingml/2006/main">
            <a:pPr algn="ctr">
              <a:buNone/>
              <a:defRPr sz="1350" b="1">
                <a:solidFill>
                  <a:srgbClr val="007D68"/>
                </a:solidFill>
                <a:latin typeface="NanumGothic"/>
                <a:ea typeface="NanumGothic"/>
                <a:cs typeface="NanumGothic"/>
              </a:defRPr>
            </a:pPr>
            <a:r>
              <a:rPr sz="1350" b="1">
                <a:solidFill>
                  <a:srgbClr val="007D68"/>
                </a:solidFill>
                <a:latin typeface="NanumGothic"/>
                <a:ea typeface="NanumGothic"/>
                <a:cs typeface="NanumGothic"/>
              </a:rPr>
              <a:t>다음 날 수위</a:t>
            </a:r>
          </a:p>
        </p:txBody>
      </p:sp>
      <p:sp>
        <p:nvSpPr>
          <p:cNvPr id="7" name="">
            <a:extLst xmlns:a="http://schemas.openxmlformats.org/drawingml/2006/main">
              <a:ext uri="{FF2B5EF4-FFF2-40B4-BE49-F238E27FC236}">
                <a16:creationId xmlns:a16="http://schemas.microsoft.com/office/drawing/2014/main" id="{E975EA02-DFF2-4BD5-A5AB-02067767F1AA}"/>
              </a:ext>
            </a:extLst>
          </p:cNvPr>
          <p:cNvSpPr>
            <a:spLocks xmlns:a="http://schemas.openxmlformats.org/drawingml/2006/main" noGrp="1"/>
          </p:cNvSpPr>
          <p:nvPr/>
        </p:nvSpPr>
        <p:spPr>
          <a:xfrm xmlns:a="http://schemas.openxmlformats.org/drawingml/2006/main">
            <a:off x="6191250" y="1733550"/>
            <a:ext cx="2381250" cy="857250"/>
          </a:xfrm>
          <a:prstGeom xmlns:a="http://schemas.openxmlformats.org/drawingml/2006/main" prst="rect">
            <a:avLst/>
          </a:prstGeom>
          <a:solidFill xmlns:a="http://schemas.openxmlformats.org/drawingml/2006/main">
            <a:srgbClr val="FFFFFF"/>
          </a:solidFill>
          <a:ln xmlns:a="http://schemas.openxmlformats.org/drawingml/2006/main" w="11430">
            <a:solidFill>
              <a:srgbClr val="CED8D5"/>
            </a:solidFill>
          </a:ln>
        </p:spPr>
        <p:txBody>
          <a:bodyPr xmlns:a="http://schemas.openxmlformats.org/drawingml/2006/main" anchor="ctr"/>
          <a:lstStyle xmlns:a="http://schemas.openxmlformats.org/drawingml/2006/main">
            <a:defPPr algn="ctr">
              <a:defRPr sz="1350" b="1">
                <a:solidFill>
                  <a:srgbClr val="222A2D"/>
                </a:solidFill>
                <a:latin typeface="NanumGothic"/>
                <a:ea typeface="NanumGothic"/>
                <a:cs typeface="NanumGothic"/>
              </a:defRPr>
            </a:defPPr>
          </a:lstStyle>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운영 대시보드</a:t>
            </a:r>
          </a:p>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예측과 모델 버전</a:t>
            </a:r>
          </a:p>
        </p:txBody>
      </p:sp>
      <p:cxnSp>
        <p:nvCxnSpPr>
          <p:cNvPr id="8" name="">
            <a:extLst xmlns:a="http://schemas.openxmlformats.org/drawingml/2006/main">
              <a:ext uri="{FF2B5EF4-FFF2-40B4-BE49-F238E27FC236}">
                <a16:creationId xmlns:a16="http://schemas.microsoft.com/office/drawing/2014/main" id="{4E159A14-1B76-4407-94B6-A076324E4C1D}"/>
              </a:ext>
            </a:extLst>
          </p:cNvPr>
          <p:cNvCxnSpPr>
            <a:stCxn xmlns:a="http://schemas.openxmlformats.org/drawingml/2006/main" id="5" idx="3"/>
            <a:endCxn xmlns:a="http://schemas.openxmlformats.org/drawingml/2006/main" id="6" idx="1"/>
          </p:cNvCxnSpPr>
          <p:nvPr/>
        </p:nvCxnSpPr>
        <p:spPr>
          <a:xfrm xmlns:a="http://schemas.openxmlformats.org/drawingml/2006/main">
            <a:off x="2381250" y="2162175"/>
            <a:ext cx="619125" cy="0"/>
          </a:xfrm>
          <a:prstGeom xmlns:a="http://schemas.openxmlformats.org/drawingml/2006/main" prst="straightConnector1">
            <a:avLst/>
          </a:prstGeom>
          <a:ln xmlns:a="http://schemas.openxmlformats.org/drawingml/2006/main" w="16193">
            <a:solidFill>
              <a:srgbClr val="007D68"/>
            </a:solidFill>
            <a:prstDash val="solid"/>
            <a:tailEnd type="triangle" w="med" len="med"/>
          </a:ln>
        </p:spPr>
      </p:cxnSp>
      <p:cxnSp>
        <p:nvCxnSpPr>
          <p:cNvPr id="9" name="">
            <a:extLst xmlns:a="http://schemas.openxmlformats.org/drawingml/2006/main">
              <a:ext uri="{FF2B5EF4-FFF2-40B4-BE49-F238E27FC236}">
                <a16:creationId xmlns:a16="http://schemas.microsoft.com/office/drawing/2014/main" id="{010C9AA6-B14B-4159-90B0-D5D43D1D6BC7}"/>
              </a:ext>
            </a:extLst>
          </p:cNvPr>
          <p:cNvCxnSpPr>
            <a:stCxn xmlns:a="http://schemas.openxmlformats.org/drawingml/2006/main" id="6" idx="3"/>
            <a:endCxn xmlns:a="http://schemas.openxmlformats.org/drawingml/2006/main" id="7" idx="1"/>
          </p:cNvCxnSpPr>
          <p:nvPr/>
        </p:nvCxnSpPr>
        <p:spPr>
          <a:xfrm xmlns:a="http://schemas.openxmlformats.org/drawingml/2006/main">
            <a:off x="5619750" y="2162175"/>
            <a:ext cx="571500" cy="0"/>
          </a:xfrm>
          <a:prstGeom xmlns:a="http://schemas.openxmlformats.org/drawingml/2006/main" prst="straightConnector1">
            <a:avLst/>
          </a:prstGeom>
          <a:ln xmlns:a="http://schemas.openxmlformats.org/drawingml/2006/main" w="16193">
            <a:solidFill>
              <a:srgbClr val="007D68"/>
            </a:solidFill>
            <a:prstDash val="solid"/>
            <a:tailEnd type="triangle" w="med" len="med"/>
          </a:ln>
        </p:spPr>
      </p:cxnSp>
      <p:sp>
        <p:nvSpPr>
          <p:cNvPr id="10" name="">
            <a:extLst xmlns:a="http://schemas.openxmlformats.org/drawingml/2006/main">
              <a:ext uri="{FF2B5EF4-FFF2-40B4-BE49-F238E27FC236}">
                <a16:creationId xmlns:a16="http://schemas.microsoft.com/office/drawing/2014/main" id="{AA2F38AE-E2C6-492D-A025-17940D771729}"/>
              </a:ext>
            </a:extLst>
          </p:cNvPr>
          <p:cNvSpPr>
            <a:spLocks xmlns:a="http://schemas.openxmlformats.org/drawingml/2006/main" noGrp="1"/>
          </p:cNvSpPr>
          <p:nvPr/>
        </p:nvSpPr>
        <p:spPr>
          <a:xfrm xmlns:a="http://schemas.openxmlformats.org/drawingml/2006/main">
            <a:off x="571500" y="2952750"/>
            <a:ext cx="800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22A2D"/>
                </a:solidFill>
                <a:latin typeface="NanumGothic"/>
                <a:ea typeface="NanumGothic"/>
                <a:cs typeface="NanumGothic"/>
              </a:defRPr>
            </a:defPPr>
          </a:lstStyle>
          <a:p xmlns:a="http://schemas.openxmlformats.org/drawingml/2006/main">
            <a:pPr>
              <a:buNone/>
              <a:defRPr sz="1800" b="0">
                <a:solidFill>
                  <a:srgbClr val="222A2D"/>
                </a:solidFill>
                <a:latin typeface="NanumGothic"/>
                <a:ea typeface="NanumGothic"/>
                <a:cs typeface="NanumGothic"/>
              </a:defRPr>
            </a:pPr>
            <a:r>
              <a:rPr sz="1800" b="0">
                <a:solidFill>
                  <a:srgbClr val="222A2D"/>
                </a:solidFill>
                <a:latin typeface="NanumGothic"/>
                <a:ea typeface="NanumGothic"/>
                <a:cs typeface="NanumGothic"/>
              </a:rPr>
              <a:t>마지막 입력 수위 + LSTM 예측 변화량</a:t>
            </a:r>
          </a:p>
        </p:txBody>
      </p:sp>
      <p:sp>
        <p:nvSpPr>
          <p:cNvPr id="11" name="">
            <a:extLst xmlns:a="http://schemas.openxmlformats.org/drawingml/2006/main">
              <a:ext uri="{FF2B5EF4-FFF2-40B4-BE49-F238E27FC236}">
                <a16:creationId xmlns:a16="http://schemas.microsoft.com/office/drawing/2014/main" id="{39ED2C0E-9B89-410F-867B-FAF5EB622AEB}"/>
              </a:ext>
            </a:extLst>
          </p:cNvPr>
          <p:cNvSpPr>
            <a:spLocks xmlns:a="http://schemas.openxmlformats.org/drawingml/2006/main" noGrp="1"/>
          </p:cNvSpPr>
          <p:nvPr/>
        </p:nvSpPr>
        <p:spPr>
          <a:xfrm xmlns:a="http://schemas.openxmlformats.org/drawingml/2006/main">
            <a:off x="571500" y="3962400"/>
            <a:ext cx="800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007D68"/>
                </a:solidFill>
                <a:latin typeface="NanumGothic"/>
                <a:ea typeface="NanumGothic"/>
                <a:cs typeface="NanumGothic"/>
              </a:defRPr>
            </a:defPPr>
          </a:lstStyle>
          <a:p xmlns:a="http://schemas.openxmlformats.org/drawingml/2006/main">
            <a:pPr>
              <a:buNone/>
              <a:defRPr sz="1500" b="1">
                <a:solidFill>
                  <a:srgbClr val="007D68"/>
                </a:solidFill>
                <a:latin typeface="NanumGothic"/>
                <a:ea typeface="NanumGothic"/>
                <a:cs typeface="NanumGothic"/>
              </a:defRPr>
            </a:pPr>
            <a:r>
              <a:rPr sz="1500" b="1">
                <a:solidFill>
                  <a:srgbClr val="007D68"/>
                </a:solidFill>
                <a:latin typeface="NanumGothic"/>
                <a:ea typeface="NanumGothic"/>
                <a:cs typeface="NanumGothic"/>
              </a:rPr>
              <a:t>학습 구간만 scaler를 학습하고, 관측소별 모델·버전·자료 출처를 분리합니다</a:t>
            </a:r>
          </a:p>
        </p:txBody>
      </p:sp>
    </p:spTree>
    <p:extLst>
      <p:ext uri="{BB962C8B-B14F-4D97-AF65-F5344CB8AC3E}">
        <p14:creationId xmlns:p14="http://schemas.microsoft.com/office/powerpoint/2010/main" val="1218349898"/>
      </p:ext>
    </p:extLst>
  </p:cSld>
</p:sld>
</file>

<file path=ppt/slides/slide7.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0E17282-4127-45C5-8B8C-27CFE0594AFA}"/>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② AI 솔루션과 운영 목표</a:t>
            </a:r>
          </a:p>
        </p:txBody>
      </p:sp>
      <p:sp>
        <p:nvSpPr>
          <p:cNvPr id="2" name="">
            <a:extLst xmlns:a="http://schemas.openxmlformats.org/drawingml/2006/main">
              <a:ext uri="{FF2B5EF4-FFF2-40B4-BE49-F238E27FC236}">
                <a16:creationId xmlns:a16="http://schemas.microsoft.com/office/drawing/2014/main" id="{C74080A1-F1CB-4428-91F7-7A3CD1FE399A}"/>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운영 목표와 기존 시연 측정</a:t>
            </a:r>
          </a:p>
        </p:txBody>
      </p:sp>
      <p:sp>
        <p:nvSpPr>
          <p:cNvPr id="3" name="">
            <a:extLst xmlns:a="http://schemas.openxmlformats.org/drawingml/2006/main">
              <a:ext uri="{FF2B5EF4-FFF2-40B4-BE49-F238E27FC236}">
                <a16:creationId xmlns:a16="http://schemas.microsoft.com/office/drawing/2014/main" id="{3076ED12-43E6-4A1A-87C0-B50F8F2103BE}"/>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측정: 2026-10-08 · 최근 300초 · 107요청</a:t>
            </a:r>
          </a:p>
        </p:txBody>
      </p:sp>
      <p:sp>
        <p:nvSpPr>
          <p:cNvPr id="4" name="">
            <a:extLst xmlns:a="http://schemas.openxmlformats.org/drawingml/2006/main">
              <a:ext uri="{FF2B5EF4-FFF2-40B4-BE49-F238E27FC236}">
                <a16:creationId xmlns:a16="http://schemas.microsoft.com/office/drawing/2014/main" id="{D41D95AF-F2A8-4F16-8EE2-A1516D6713A1}"/>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7</a:t>
            </a:r>
          </a:p>
        </p:txBody>
      </p:sp>
      <p:graphicFrame>
        <p:nvGraphicFramePr>
          <p:cNvPr id="5" name="">
            <a:extLst xmlns:a="http://schemas.openxmlformats.org/drawingml/2006/main">
              <a:ext uri="{FF2B5EF4-FFF2-40B4-BE49-F238E27FC236}">
                <a16:creationId xmlns:a16="http://schemas.microsoft.com/office/drawing/2014/main" id="{1E31D041-DEB0-4014-9485-71304081EBD8}"/>
              </a:ext>
            </a:extLst>
          </p:cNvPr>
          <p:cNvGraphicFramePr/>
          <p:nvPr/>
        </p:nvGraphicFramePr>
        <p:xfrm>
          <a:off xmlns:a="http://schemas.openxmlformats.org/drawingml/2006/main" x="571500" y="1543050"/>
          <a:ext xmlns:a="http://schemas.openxmlformats.org/drawingml/2006/main" cx="8001000" cy="2705100"/>
        </p:xfrm>
        <a:graphic xmlns:a="http://schemas.openxmlformats.org/drawingml/2006/main">
          <a:graphicData uri="http://schemas.openxmlformats.org/drawingml/2006/table">
            <a:tbl>
              <a:tblPr/>
              <a:tblGrid>
                <a:gridCol w="1666875"/>
                <a:gridCol w="3095625"/>
                <a:gridCol w="3238500"/>
              </a:tblGrid>
              <a:tr h="541020">
                <a:tc>
                  <a:txBody>
                    <a:bodyPr/>
                    <a:lstStyle/>
                    <a:p>
                      <a:r>
                        <a:rPr sz="1350" b="1">
                          <a:solidFill>
                            <a:srgbClr val="007D68"/>
                          </a:solidFill>
                          <a:latin typeface="NanumGothic"/>
                          <a:ea typeface="NanumGothic"/>
                          <a:cs typeface="NanumGothic"/>
                        </a:rPr>
                        <a:t>요구사항</a:t>
                      </a:r>
                    </a:p>
                  </a:txBody>
                  <a:tcPr marL="91440" marR="91440" marT="45720" marB="45720">
                    <a:solidFill>
                      <a:srgbClr val="E7EFEB"/>
                    </a:solidFill>
                  </a:tcPr>
                </a:tc>
                <a:tc>
                  <a:txBody>
                    <a:bodyPr/>
                    <a:lstStyle/>
                    <a:p>
                      <a:r>
                        <a:rPr sz="1350" b="1">
                          <a:solidFill>
                            <a:srgbClr val="007D68"/>
                          </a:solidFill>
                          <a:latin typeface="NanumGothic"/>
                          <a:ea typeface="NanumGothic"/>
                          <a:cs typeface="NanumGothic"/>
                        </a:rPr>
                        <a:t>목표·기준</a:t>
                      </a:r>
                    </a:p>
                  </a:txBody>
                  <a:tcPr marL="91440" marR="91440" marT="45720" marB="45720">
                    <a:solidFill>
                      <a:srgbClr val="E7EFEB"/>
                    </a:solidFill>
                  </a:tcPr>
                </a:tc>
                <a:tc>
                  <a:txBody>
                    <a:bodyPr/>
                    <a:lstStyle/>
                    <a:p>
                      <a:r>
                        <a:rPr sz="1350" b="1">
                          <a:solidFill>
                            <a:srgbClr val="007D68"/>
                          </a:solidFill>
                          <a:latin typeface="NanumGothic"/>
                          <a:ea typeface="NanumGothic"/>
                          <a:cs typeface="NanumGothic"/>
                        </a:rPr>
                        <a:t>확인한 값</a:t>
                      </a:r>
                    </a:p>
                  </a:txBody>
                  <a:tcPr marL="91440" marR="91440" marT="45720" marB="45720">
                    <a:solidFill>
                      <a:srgbClr val="E7EFEB"/>
                    </a:solidFill>
                  </a:tcPr>
                </a:tc>
              </a:tr>
              <a:tr h="541020">
                <a:tc>
                  <a:txBody>
                    <a:bodyPr/>
                    <a:lstStyle/>
                    <a:p>
                      <a:r>
                        <a:rPr sz="1350" b="0">
                          <a:solidFill>
                            <a:srgbClr val="222A2D"/>
                          </a:solidFill>
                          <a:latin typeface="NanumGothic"/>
                          <a:ea typeface="NanumGothic"/>
                          <a:cs typeface="NanumGothic"/>
                        </a:rPr>
                        <a:t>응답시간</a:t>
                      </a:r>
                    </a:p>
                  </a:txBody>
                  <a:tcPr marL="91440" marR="91440" marT="45720" marB="45720">
                    <a:solidFill>
                      <a:srgbClr val="FAFBF9"/>
                    </a:solidFill>
                  </a:tcPr>
                </a:tc>
                <a:tc>
                  <a:txBody>
                    <a:bodyPr/>
                    <a:lstStyle/>
                    <a:p>
                      <a:r>
                        <a:rPr sz="1350" b="0">
                          <a:solidFill>
                            <a:srgbClr val="222A2D"/>
                          </a:solidFill>
                          <a:latin typeface="NanumGothic"/>
                          <a:ea typeface="NanumGothic"/>
                          <a:cs typeface="NanumGothic"/>
                        </a:rPr>
                        <a:t>요청 p95 ≤ 1초</a:t>
                      </a:r>
                    </a:p>
                  </a:txBody>
                  <a:tcPr marL="91440" marR="91440" marT="45720" marB="45720">
                    <a:solidFill>
                      <a:srgbClr val="FAFBF9"/>
                    </a:solidFill>
                  </a:tcPr>
                </a:tc>
                <a:tc>
                  <a:txBody>
                    <a:bodyPr/>
                    <a:lstStyle/>
                    <a:p>
                      <a:r>
                        <a:rPr sz="1350" b="0">
                          <a:solidFill>
                            <a:srgbClr val="222A2D"/>
                          </a:solidFill>
                          <a:latin typeface="NanumGothic"/>
                          <a:ea typeface="NanumGothic"/>
                          <a:cs typeface="NanumGothic"/>
                        </a:rPr>
                        <a:t>0.6538초 (107요청, 300초)</a:t>
                      </a:r>
                    </a:p>
                  </a:txBody>
                  <a:tcPr marL="91440" marR="91440" marT="45720" marB="45720">
                    <a:solidFill>
                      <a:srgbClr val="FAFBF9"/>
                    </a:solidFill>
                  </a:tcPr>
                </a:tc>
              </a:tr>
              <a:tr h="541020">
                <a:tc>
                  <a:txBody>
                    <a:bodyPr/>
                    <a:lstStyle/>
                    <a:p>
                      <a:r>
                        <a:rPr sz="1350" b="0">
                          <a:solidFill>
                            <a:srgbClr val="222A2D"/>
                          </a:solidFill>
                          <a:latin typeface="NanumGothic"/>
                          <a:ea typeface="NanumGothic"/>
                          <a:cs typeface="NanumGothic"/>
                        </a:rPr>
                        <a:t>서버 오류</a:t>
                      </a:r>
                    </a:p>
                  </a:txBody>
                  <a:tcPr marL="91440" marR="91440" marT="45720" marB="45720">
                    <a:solidFill>
                      <a:srgbClr val="F2F6F3"/>
                    </a:solidFill>
                  </a:tcPr>
                </a:tc>
                <a:tc>
                  <a:txBody>
                    <a:bodyPr/>
                    <a:lstStyle/>
                    <a:p>
                      <a:r>
                        <a:rPr sz="1350" b="0">
                          <a:solidFill>
                            <a:srgbClr val="222A2D"/>
                          </a:solidFill>
                          <a:latin typeface="NanumGothic"/>
                          <a:ea typeface="NanumGothic"/>
                          <a:cs typeface="NanumGothic"/>
                        </a:rPr>
                        <a:t>HTTP 5xx 비율 &lt; 1%</a:t>
                      </a:r>
                    </a:p>
                  </a:txBody>
                  <a:tcPr marL="91440" marR="91440" marT="45720" marB="45720">
                    <a:solidFill>
                      <a:srgbClr val="F2F6F3"/>
                    </a:solidFill>
                  </a:tcPr>
                </a:tc>
                <a:tc>
                  <a:txBody>
                    <a:bodyPr/>
                    <a:lstStyle/>
                    <a:p>
                      <a:r>
                        <a:rPr sz="1350" b="0">
                          <a:solidFill>
                            <a:srgbClr val="222A2D"/>
                          </a:solidFill>
                          <a:latin typeface="NanumGothic"/>
                          <a:ea typeface="NanumGothic"/>
                          <a:cs typeface="NanumGothic"/>
                        </a:rPr>
                        <a:t>0 / 107 = 0%</a:t>
                      </a:r>
                    </a:p>
                  </a:txBody>
                  <a:tcPr marL="91440" marR="91440" marT="45720" marB="45720">
                    <a:solidFill>
                      <a:srgbClr val="F2F6F3"/>
                    </a:solidFill>
                  </a:tcPr>
                </a:tc>
              </a:tr>
              <a:tr h="541020">
                <a:tc>
                  <a:txBody>
                    <a:bodyPr/>
                    <a:lstStyle/>
                    <a:p>
                      <a:r>
                        <a:rPr sz="1350" b="0">
                          <a:solidFill>
                            <a:srgbClr val="222A2D"/>
                          </a:solidFill>
                          <a:latin typeface="NanumGothic"/>
                          <a:ea typeface="NanumGothic"/>
                          <a:cs typeface="NanumGothic"/>
                        </a:rPr>
                        <a:t>예측 준비</a:t>
                      </a:r>
                    </a:p>
                  </a:txBody>
                  <a:tcPr marL="91440" marR="91440" marT="45720" marB="45720">
                    <a:solidFill>
                      <a:srgbClr val="FAFBF9"/>
                    </a:solidFill>
                  </a:tcPr>
                </a:tc>
                <a:tc>
                  <a:txBody>
                    <a:bodyPr/>
                    <a:lstStyle/>
                    <a:p>
                      <a:r>
                        <a:rPr sz="1350" b="0">
                          <a:solidFill>
                            <a:srgbClr val="222A2D"/>
                          </a:solidFill>
                          <a:latin typeface="NanumGothic"/>
                          <a:ea typeface="NanumGothic"/>
                          <a:cs typeface="NanumGothic"/>
                        </a:rPr>
                        <a:t>선택 날짜의 25개 관측소 준비</a:t>
                      </a:r>
                    </a:p>
                  </a:txBody>
                  <a:tcPr marL="91440" marR="91440" marT="45720" marB="45720">
                    <a:solidFill>
                      <a:srgbClr val="FAFBF9"/>
                    </a:solidFill>
                  </a:tcPr>
                </a:tc>
                <a:tc>
                  <a:txBody>
                    <a:bodyPr/>
                    <a:lstStyle/>
                    <a:p>
                      <a:r>
                        <a:rPr sz="1350" b="0">
                          <a:solidFill>
                            <a:srgbClr val="222A2D"/>
                          </a:solidFill>
                          <a:latin typeface="NanumGothic"/>
                          <a:ea typeface="NanumGothic"/>
                          <a:cs typeface="NanumGothic"/>
                        </a:rPr>
                        <a:t>25 / 25 (합성 포함)</a:t>
                      </a:r>
                    </a:p>
                  </a:txBody>
                  <a:tcPr marL="91440" marR="91440" marT="45720" marB="45720">
                    <a:solidFill>
                      <a:srgbClr val="FAFBF9"/>
                    </a:solidFill>
                  </a:tcPr>
                </a:tc>
              </a:tr>
              <a:tr h="541020">
                <a:tc>
                  <a:txBody>
                    <a:bodyPr/>
                    <a:lstStyle/>
                    <a:p>
                      <a:r>
                        <a:rPr sz="1350" b="0">
                          <a:solidFill>
                            <a:srgbClr val="222A2D"/>
                          </a:solidFill>
                          <a:latin typeface="NanumGothic"/>
                          <a:ea typeface="NanumGothic"/>
                          <a:cs typeface="NanumGothic"/>
                        </a:rPr>
                        <a:t>초기 모델 품질</a:t>
                      </a:r>
                    </a:p>
                  </a:txBody>
                  <a:tcPr marL="91440" marR="91440" marT="45720" marB="45720">
                    <a:solidFill>
                      <a:srgbClr val="F2F6F3"/>
                    </a:solidFill>
                  </a:tcPr>
                </a:tc>
                <a:tc>
                  <a:txBody>
                    <a:bodyPr/>
                    <a:lstStyle/>
                    <a:p>
                      <a:r>
                        <a:rPr sz="1350" b="0">
                          <a:solidFill>
                            <a:srgbClr val="222A2D"/>
                          </a:solidFill>
                          <a:latin typeface="NanumGothic"/>
                          <a:ea typeface="NanumGothic"/>
                          <a:cs typeface="NanumGothic"/>
                        </a:rPr>
                        <a:t>검증 RMSE ≤ persistence × 1.10</a:t>
                      </a:r>
                    </a:p>
                  </a:txBody>
                  <a:tcPr marL="91440" marR="91440" marT="45720" marB="45720">
                    <a:solidFill>
                      <a:srgbClr val="F2F6F3"/>
                    </a:solidFill>
                  </a:tcPr>
                </a:tc>
                <a:tc>
                  <a:txBody>
                    <a:bodyPr/>
                    <a:lstStyle/>
                    <a:p>
                      <a:r>
                        <a:rPr sz="1350" b="0">
                          <a:solidFill>
                            <a:srgbClr val="222A2D"/>
                          </a:solidFill>
                          <a:latin typeface="NanumGothic"/>
                          <a:ea typeface="NanumGothic"/>
                          <a:cs typeface="NanumGothic"/>
                        </a:rPr>
                        <a:t>0.032519 ≤ 0.037465 gl.-m</a:t>
                      </a:r>
                    </a:p>
                  </a:txBody>
                  <a:tcPr marL="91440" marR="91440" marT="45720" marB="45720">
                    <a:solidFill>
                      <a:srgbClr val="F2F6F3"/>
                    </a:solidFill>
                  </a:tcPr>
                </a:tc>
              </a:tr>
            </a:tbl>
          </a:graphicData>
        </a:graphic>
      </p:graphicFrame>
    </p:spTree>
    <p:extLst>
      <p:ext uri="{BB962C8B-B14F-4D97-AF65-F5344CB8AC3E}">
        <p14:creationId xmlns:p14="http://schemas.microsoft.com/office/powerpoint/2010/main" val="1580351465"/>
      </p:ext>
    </p:extLst>
  </p:cSld>
</p:sld>
</file>

<file path=ppt/slides/slide8.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DF8E19A-49D8-493E-9F78-28484FF15ED1}"/>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② AI 솔루션과 운영 목표</a:t>
            </a:r>
          </a:p>
        </p:txBody>
      </p:sp>
      <p:sp>
        <p:nvSpPr>
          <p:cNvPr id="2" name="">
            <a:extLst xmlns:a="http://schemas.openxmlformats.org/drawingml/2006/main">
              <a:ext uri="{FF2B5EF4-FFF2-40B4-BE49-F238E27FC236}">
                <a16:creationId xmlns:a16="http://schemas.microsoft.com/office/drawing/2014/main" id="{7AC9023D-5C44-459D-BBAB-06288D549152}"/>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합성 교체 시연: 조건을 통과한 후보만 교체</a:t>
            </a:r>
          </a:p>
        </p:txBody>
      </p:sp>
      <p:sp>
        <p:nvSpPr>
          <p:cNvPr id="3" name="">
            <a:extLst xmlns:a="http://schemas.openxmlformats.org/drawingml/2006/main">
              <a:ext uri="{FF2B5EF4-FFF2-40B4-BE49-F238E27FC236}">
                <a16:creationId xmlns:a16="http://schemas.microsoft.com/office/drawing/2014/main" id="{00C423BC-D92B-4C68-8E27-7B67936BF864}"/>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합성 시연 · 각 기존 오차 = 100</a:t>
            </a:r>
          </a:p>
        </p:txBody>
      </p:sp>
      <p:sp>
        <p:nvSpPr>
          <p:cNvPr id="4" name="">
            <a:extLst xmlns:a="http://schemas.openxmlformats.org/drawingml/2006/main">
              <a:ext uri="{FF2B5EF4-FFF2-40B4-BE49-F238E27FC236}">
                <a16:creationId xmlns:a16="http://schemas.microsoft.com/office/drawing/2014/main" id="{EA00B2D9-B5B8-4019-B273-4CC0F29E7F15}"/>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8</a:t>
            </a:r>
          </a:p>
        </p:txBody>
      </p:sp>
      <p:graphicFrame>
        <p:nvGraphicFramePr>
          <p:cNvPr id="5" name="Chart">
            <a:extLst xmlns:a="http://schemas.openxmlformats.org/drawingml/2006/main">
              <a:ext uri="{FF2B5EF4-FFF2-40B4-BE49-F238E27FC236}">
                <a16:creationId xmlns:a16="http://schemas.microsoft.com/office/drawing/2014/main" id="{540ED081-3FA5-4CB0-AB8C-EF80857AA09F}"/>
              </a:ext>
            </a:extLst>
          </p:cNvPr>
          <p:cNvGraphicFramePr/>
          <p:nvPr/>
        </p:nvGraphicFramePr>
        <p:xfrm>
          <a:off xmlns:a="http://schemas.openxmlformats.org/drawingml/2006/main" x="571500" y="1504950"/>
          <a:ext xmlns:a="http://schemas.openxmlformats.org/drawingml/2006/main" cx="5238750" cy="2762250"/>
        </p:xfrm>
        <a:graphic xmlns:a="http://schemas.openxmlformats.org/drawingml/2006/main">
          <a:graphicData uri="http://schemas.openxmlformats.org/drawingml/2006/chart">
            <c:chart xmlns:r="http://schemas.openxmlformats.org/officeDocument/2006/relationships" xmlns:c="http://schemas.openxmlformats.org/drawingml/2006/chart" r:id="Rc5bbfb0324cf48ee"/>
          </a:graphicData>
        </a:graphic>
      </p:graphicFrame>
      <p:sp>
        <p:nvSpPr>
          <p:cNvPr id="6" name="">
            <a:extLst xmlns:a="http://schemas.openxmlformats.org/drawingml/2006/main">
              <a:ext uri="{FF2B5EF4-FFF2-40B4-BE49-F238E27FC236}">
                <a16:creationId xmlns:a16="http://schemas.microsoft.com/office/drawing/2014/main" id="{8D646261-121E-49D2-B267-4859FFF8A6A1}"/>
              </a:ext>
            </a:extLst>
          </p:cNvPr>
          <p:cNvSpPr>
            <a:spLocks xmlns:a="http://schemas.openxmlformats.org/drawingml/2006/main" noGrp="1"/>
          </p:cNvSpPr>
          <p:nvPr/>
        </p:nvSpPr>
        <p:spPr>
          <a:xfrm xmlns:a="http://schemas.openxmlformats.org/drawingml/2006/main">
            <a:off x="6115050" y="1619250"/>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007D68"/>
                </a:solidFill>
                <a:latin typeface="NanumGothic"/>
                <a:ea typeface="NanumGothic"/>
                <a:cs typeface="NanumGothic"/>
              </a:defRPr>
            </a:defPPr>
          </a:lstStyle>
          <a:p xmlns:a="http://schemas.openxmlformats.org/drawingml/2006/main">
            <a:pPr>
              <a:buNone/>
              <a:defRPr sz="2400" b="1">
                <a:solidFill>
                  <a:srgbClr val="007D68"/>
                </a:solidFill>
                <a:latin typeface="NanumGothic"/>
                <a:ea typeface="NanumGothic"/>
                <a:cs typeface="NanumGothic"/>
              </a:defRPr>
            </a:pPr>
            <a:r>
              <a:rPr sz="2400" b="1">
                <a:solidFill>
                  <a:srgbClr val="007D68"/>
                </a:solidFill>
                <a:latin typeface="NanumGothic"/>
                <a:ea typeface="NanumGothic"/>
                <a:cs typeface="NanumGothic"/>
              </a:rPr>
              <a:t>9.27% 감소</a:t>
            </a:r>
          </a:p>
        </p:txBody>
      </p:sp>
      <p:sp>
        <p:nvSpPr>
          <p:cNvPr id="7" name="">
            <a:extLst xmlns:a="http://schemas.openxmlformats.org/drawingml/2006/main">
              <a:ext uri="{FF2B5EF4-FFF2-40B4-BE49-F238E27FC236}">
                <a16:creationId xmlns:a16="http://schemas.microsoft.com/office/drawing/2014/main" id="{1BEB3EB9-BCAF-4C63-BD22-1E706B4F250F}"/>
              </a:ext>
            </a:extLst>
          </p:cNvPr>
          <p:cNvSpPr>
            <a:spLocks xmlns:a="http://schemas.openxmlformats.org/drawingml/2006/main" noGrp="1"/>
          </p:cNvSpPr>
          <p:nvPr/>
        </p:nvSpPr>
        <p:spPr>
          <a:xfrm xmlns:a="http://schemas.openxmlformats.org/drawingml/2006/main">
            <a:off x="6115050" y="2143125"/>
            <a:ext cx="24574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222A2D"/>
                </a:solidFill>
                <a:latin typeface="NanumGothic"/>
                <a:ea typeface="NanumGothic"/>
                <a:cs typeface="NanumGothic"/>
              </a:defRPr>
            </a:defPPr>
          </a:lstStyle>
          <a:p xmlns:a="http://schemas.openxmlformats.org/drawingml/2006/main">
            <a:pPr>
              <a:buNone/>
              <a:defRPr sz="1425" b="0">
                <a:solidFill>
                  <a:srgbClr val="222A2D"/>
                </a:solidFill>
                <a:latin typeface="NanumGothic"/>
                <a:ea typeface="NanumGothic"/>
                <a:cs typeface="NanumGothic"/>
              </a:defRPr>
            </a:pPr>
            <a:r>
              <a:rPr sz="1425" b="0">
                <a:solidFill>
                  <a:srgbClr val="222A2D"/>
                </a:solidFill>
                <a:latin typeface="NanumGothic"/>
                <a:ea typeface="NanumGothic"/>
                <a:cs typeface="NanumGothic"/>
              </a:rPr>
              <a:t>0.0232006 → 0.0210489</a:t>
            </a:r>
          </a:p>
          <a:p xmlns:a="http://schemas.openxmlformats.org/drawingml/2006/main">
            <a:pPr>
              <a:buNone/>
              <a:defRPr sz="1425" b="0">
                <a:solidFill>
                  <a:srgbClr val="222A2D"/>
                </a:solidFill>
                <a:latin typeface="NanumGothic"/>
                <a:ea typeface="NanumGothic"/>
                <a:cs typeface="NanumGothic"/>
              </a:defRPr>
            </a:pPr>
            <a:r>
              <a:rPr sz="1425" b="0">
                <a:solidFill>
                  <a:srgbClr val="222A2D"/>
                </a:solidFill>
                <a:latin typeface="NanumGothic"/>
                <a:ea typeface="NanumGothic"/>
                <a:cs typeface="NanumGothic"/>
              </a:rPr>
              <a:t>v1에서 v2로 교체</a:t>
            </a:r>
          </a:p>
        </p:txBody>
      </p:sp>
      <p:sp>
        <p:nvSpPr>
          <p:cNvPr id="8" name="">
            <a:extLst xmlns:a="http://schemas.openxmlformats.org/drawingml/2006/main">
              <a:ext uri="{FF2B5EF4-FFF2-40B4-BE49-F238E27FC236}">
                <a16:creationId xmlns:a16="http://schemas.microsoft.com/office/drawing/2014/main" id="{93AB485A-E8BE-4DC9-9644-7AC8304011EC}"/>
              </a:ext>
            </a:extLst>
          </p:cNvPr>
          <p:cNvSpPr>
            <a:spLocks xmlns:a="http://schemas.openxmlformats.org/drawingml/2006/main" noGrp="1"/>
          </p:cNvSpPr>
          <p:nvPr/>
        </p:nvSpPr>
        <p:spPr>
          <a:xfrm xmlns:a="http://schemas.openxmlformats.org/drawingml/2006/main">
            <a:off x="6115050" y="3067050"/>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22A2D"/>
                </a:solidFill>
                <a:latin typeface="NanumGothic"/>
                <a:ea typeface="NanumGothic"/>
                <a:cs typeface="NanumGothic"/>
              </a:defRPr>
            </a:defPPr>
          </a:lstStyle>
          <a:p xmlns:a="http://schemas.openxmlformats.org/drawingml/2006/main">
            <a:pPr>
              <a:buNone/>
              <a:defRPr sz="2250" b="1">
                <a:solidFill>
                  <a:srgbClr val="222A2D"/>
                </a:solidFill>
                <a:latin typeface="NanumGothic"/>
                <a:ea typeface="NanumGothic"/>
                <a:cs typeface="NanumGothic"/>
              </a:defRPr>
            </a:pPr>
            <a:r>
              <a:rPr sz="2250" b="1">
                <a:solidFill>
                  <a:srgbClr val="222A2D"/>
                </a:solidFill>
                <a:latin typeface="NanumGothic"/>
                <a:ea typeface="NanumGothic"/>
                <a:cs typeface="NanumGothic"/>
              </a:rPr>
              <a:t>2.51% 감소</a:t>
            </a:r>
          </a:p>
        </p:txBody>
      </p:sp>
      <p:sp>
        <p:nvSpPr>
          <p:cNvPr id="9" name="">
            <a:extLst xmlns:a="http://schemas.openxmlformats.org/drawingml/2006/main">
              <a:ext uri="{FF2B5EF4-FFF2-40B4-BE49-F238E27FC236}">
                <a16:creationId xmlns:a16="http://schemas.microsoft.com/office/drawing/2014/main" id="{2FB3388A-0EB9-4324-90AB-DC3DF60CD3D7}"/>
              </a:ext>
            </a:extLst>
          </p:cNvPr>
          <p:cNvSpPr>
            <a:spLocks xmlns:a="http://schemas.openxmlformats.org/drawingml/2006/main" noGrp="1"/>
          </p:cNvSpPr>
          <p:nvPr/>
        </p:nvSpPr>
        <p:spPr>
          <a:xfrm xmlns:a="http://schemas.openxmlformats.org/drawingml/2006/main">
            <a:off x="6115050" y="3552825"/>
            <a:ext cx="24574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222A2D"/>
                </a:solidFill>
                <a:latin typeface="NanumGothic"/>
                <a:ea typeface="NanumGothic"/>
                <a:cs typeface="NanumGothic"/>
              </a:defRPr>
            </a:defPPr>
          </a:lstStyle>
          <a:p xmlns:a="http://schemas.openxmlformats.org/drawingml/2006/main">
            <a:pPr>
              <a:buNone/>
              <a:defRPr sz="1425" b="0">
                <a:solidFill>
                  <a:srgbClr val="222A2D"/>
                </a:solidFill>
                <a:latin typeface="NanumGothic"/>
                <a:ea typeface="NanumGothic"/>
                <a:cs typeface="NanumGothic"/>
              </a:defRPr>
            </a:pPr>
            <a:r>
              <a:rPr sz="1425" b="0">
                <a:solidFill>
                  <a:srgbClr val="222A2D"/>
                </a:solidFill>
                <a:latin typeface="NanumGothic"/>
                <a:ea typeface="NanumGothic"/>
                <a:cs typeface="NanumGothic"/>
              </a:rPr>
              <a:t>0.0506788 → 0.0494047</a:t>
            </a:r>
          </a:p>
          <a:p xmlns:a="http://schemas.openxmlformats.org/drawingml/2006/main">
            <a:pPr>
              <a:buNone/>
              <a:defRPr sz="1425" b="0">
                <a:solidFill>
                  <a:srgbClr val="222A2D"/>
                </a:solidFill>
                <a:latin typeface="NanumGothic"/>
                <a:ea typeface="NanumGothic"/>
                <a:cs typeface="NanumGothic"/>
              </a:defRPr>
            </a:pPr>
            <a:r>
              <a:rPr sz="1425" b="0">
                <a:solidFill>
                  <a:srgbClr val="222A2D"/>
                </a:solidFill>
                <a:latin typeface="NanumGothic"/>
                <a:ea typeface="NanumGothic"/>
                <a:cs typeface="NanumGothic"/>
              </a:rPr>
              <a:t>5% 기준 미달, 기존 유지</a:t>
            </a:r>
          </a:p>
        </p:txBody>
      </p:sp>
    </p:spTree>
    <p:extLst>
      <p:ext uri="{BB962C8B-B14F-4D97-AF65-F5344CB8AC3E}">
        <p14:creationId xmlns:p14="http://schemas.microsoft.com/office/powerpoint/2010/main" val="479293460"/>
      </p:ext>
    </p:extLst>
  </p:cSld>
</p:sld>
</file>

<file path=ppt/slides/slide9.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DB31C23-C962-48C6-934A-AA19CA4F0220}"/>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③ 운영 설계</a:t>
            </a:r>
          </a:p>
        </p:txBody>
      </p:sp>
      <p:sp>
        <p:nvSpPr>
          <p:cNvPr id="2" name="">
            <a:extLst xmlns:a="http://schemas.openxmlformats.org/drawingml/2006/main">
              <a:ext uri="{FF2B5EF4-FFF2-40B4-BE49-F238E27FC236}">
                <a16:creationId xmlns:a16="http://schemas.microsoft.com/office/drawing/2014/main" id="{D8924118-5407-4BA7-A2E2-9EEABC0C469D}"/>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드리프트가 생길 수 있는 상황</a:t>
            </a:r>
          </a:p>
        </p:txBody>
      </p:sp>
      <p:sp>
        <p:nvSpPr>
          <p:cNvPr id="3" name="">
            <a:extLst xmlns:a="http://schemas.openxmlformats.org/drawingml/2006/main">
              <a:ext uri="{FF2B5EF4-FFF2-40B4-BE49-F238E27FC236}">
                <a16:creationId xmlns:a16="http://schemas.microsoft.com/office/drawing/2014/main" id="{8CF40009-8409-464E-AA97-91D0FAAF9746}"/>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가능한 발생 상황 · 감지 대상은 예측 오차 증가</a:t>
            </a:r>
          </a:p>
        </p:txBody>
      </p:sp>
      <p:sp>
        <p:nvSpPr>
          <p:cNvPr id="4" name="">
            <a:extLst xmlns:a="http://schemas.openxmlformats.org/drawingml/2006/main">
              <a:ext uri="{FF2B5EF4-FFF2-40B4-BE49-F238E27FC236}">
                <a16:creationId xmlns:a16="http://schemas.microsoft.com/office/drawing/2014/main" id="{385DC243-1364-42EC-8C52-0C72446A3A5E}"/>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9</a:t>
            </a:r>
          </a:p>
        </p:txBody>
      </p:sp>
      <p:graphicFrame>
        <p:nvGraphicFramePr>
          <p:cNvPr id="5" name="">
            <a:extLst xmlns:a="http://schemas.openxmlformats.org/drawingml/2006/main">
              <a:ext uri="{FF2B5EF4-FFF2-40B4-BE49-F238E27FC236}">
                <a16:creationId xmlns:a16="http://schemas.microsoft.com/office/drawing/2014/main" id="{6AB24191-B3FF-43CB-94E5-CD561EF3D04D}"/>
              </a:ext>
            </a:extLst>
          </p:cNvPr>
          <p:cNvGraphicFramePr/>
          <p:nvPr/>
        </p:nvGraphicFramePr>
        <p:xfrm>
          <a:off xmlns:a="http://schemas.openxmlformats.org/drawingml/2006/main" x="571500" y="1552575"/>
          <a:ext xmlns:a="http://schemas.openxmlformats.org/drawingml/2006/main" cx="8001000" cy="2095500"/>
        </p:xfrm>
        <a:graphic xmlns:a="http://schemas.openxmlformats.org/drawingml/2006/main">
          <a:graphicData uri="http://schemas.openxmlformats.org/drawingml/2006/table">
            <a:tbl>
              <a:tblPr/>
              <a:tblGrid>
                <a:gridCol w="1905000"/>
                <a:gridCol w="3143250"/>
                <a:gridCol w="2952750"/>
              </a:tblGrid>
              <a:tr h="523875">
                <a:tc>
                  <a:txBody>
                    <a:bodyPr/>
                    <a:lstStyle/>
                    <a:p>
                      <a:r>
                        <a:rPr sz="1425" b="1">
                          <a:solidFill>
                            <a:srgbClr val="007D68"/>
                          </a:solidFill>
                          <a:latin typeface="NanumGothic"/>
                          <a:ea typeface="NanumGothic"/>
                          <a:cs typeface="NanumGothic"/>
                        </a:rPr>
                        <a:t>가능한 상황</a:t>
                      </a:r>
                    </a:p>
                  </a:txBody>
                  <a:tcPr marL="91440" marR="91440" marT="45720" marB="45720">
                    <a:solidFill>
                      <a:srgbClr val="E7EFEB"/>
                    </a:solidFill>
                  </a:tcPr>
                </a:tc>
                <a:tc>
                  <a:txBody>
                    <a:bodyPr/>
                    <a:lstStyle/>
                    <a:p>
                      <a:r>
                        <a:rPr sz="1425" b="1">
                          <a:solidFill>
                            <a:srgbClr val="007D68"/>
                          </a:solidFill>
                          <a:latin typeface="NanumGothic"/>
                          <a:ea typeface="NanumGothic"/>
                          <a:cs typeface="NanumGothic"/>
                        </a:rPr>
                        <a:t>기존 모델이 빗나가는 이유</a:t>
                      </a:r>
                    </a:p>
                  </a:txBody>
                  <a:tcPr marL="91440" marR="91440" marT="45720" marB="45720">
                    <a:solidFill>
                      <a:srgbClr val="E7EFEB"/>
                    </a:solidFill>
                  </a:tcPr>
                </a:tc>
                <a:tc>
                  <a:txBody>
                    <a:bodyPr/>
                    <a:lstStyle/>
                    <a:p>
                      <a:r>
                        <a:rPr sz="1425" b="1">
                          <a:solidFill>
                            <a:srgbClr val="007D68"/>
                          </a:solidFill>
                          <a:latin typeface="NanumGothic"/>
                          <a:ea typeface="NanumGothic"/>
                          <a:cs typeface="NanumGothic"/>
                        </a:rPr>
                        <a:t>운영 시 먼저 확인</a:t>
                      </a:r>
                    </a:p>
                  </a:txBody>
                  <a:tcPr marL="91440" marR="91440" marT="45720" marB="45720">
                    <a:solidFill>
                      <a:srgbClr val="E7EFEB"/>
                    </a:solidFill>
                  </a:tcPr>
                </a:tc>
              </a:tr>
              <a:tr h="523875">
                <a:tc>
                  <a:txBody>
                    <a:bodyPr/>
                    <a:lstStyle/>
                    <a:p>
                      <a:r>
                        <a:rPr sz="1425" b="0">
                          <a:solidFill>
                            <a:srgbClr val="222A2D"/>
                          </a:solidFill>
                          <a:latin typeface="NanumGothic"/>
                          <a:ea typeface="NanumGothic"/>
                          <a:cs typeface="NanumGothic"/>
                        </a:rPr>
                        <a:t>장마·장기 가뭄</a:t>
                      </a:r>
                    </a:p>
                  </a:txBody>
                  <a:tcPr marL="91440" marR="91440" marT="45720" marB="45720">
                    <a:solidFill>
                      <a:srgbClr val="FAFBF9"/>
                    </a:solidFill>
                  </a:tcPr>
                </a:tc>
                <a:tc>
                  <a:txBody>
                    <a:bodyPr/>
                    <a:lstStyle/>
                    <a:p>
                      <a:r>
                        <a:rPr sz="1425" b="0">
                          <a:solidFill>
                            <a:srgbClr val="222A2D"/>
                          </a:solidFill>
                          <a:latin typeface="NanumGothic"/>
                          <a:ea typeface="NanumGothic"/>
                          <a:cs typeface="NanumGothic"/>
                        </a:rPr>
                        <a:t>학습 때와 다른 강수·수위 관계</a:t>
                      </a:r>
                    </a:p>
                  </a:txBody>
                  <a:tcPr marL="91440" marR="91440" marT="45720" marB="45720">
                    <a:solidFill>
                      <a:srgbClr val="FAFBF9"/>
                    </a:solidFill>
                  </a:tcPr>
                </a:tc>
                <a:tc>
                  <a:txBody>
                    <a:bodyPr/>
                    <a:lstStyle/>
                    <a:p>
                      <a:r>
                        <a:rPr sz="1425" b="0">
                          <a:solidFill>
                            <a:srgbClr val="222A2D"/>
                          </a:solidFill>
                          <a:latin typeface="NanumGothic"/>
                          <a:ea typeface="NanumGothic"/>
                          <a:cs typeface="NanumGothic"/>
                        </a:rPr>
                        <a:t>관측 기간, 강수 입력, 계절성</a:t>
                      </a:r>
                    </a:p>
                  </a:txBody>
                  <a:tcPr marL="91440" marR="91440" marT="45720" marB="45720">
                    <a:solidFill>
                      <a:srgbClr val="FAFBF9"/>
                    </a:solidFill>
                  </a:tcPr>
                </a:tc>
              </a:tr>
              <a:tr h="523875">
                <a:tc>
                  <a:txBody>
                    <a:bodyPr/>
                    <a:lstStyle/>
                    <a:p>
                      <a:r>
                        <a:rPr sz="1425" b="0">
                          <a:solidFill>
                            <a:srgbClr val="222A2D"/>
                          </a:solidFill>
                          <a:latin typeface="NanumGothic"/>
                          <a:ea typeface="NanumGothic"/>
                          <a:cs typeface="NanumGothic"/>
                        </a:rPr>
                        <a:t>양수량·배수 조건 변화</a:t>
                      </a:r>
                    </a:p>
                  </a:txBody>
                  <a:tcPr marL="91440" marR="91440" marT="45720" marB="45720">
                    <a:solidFill>
                      <a:srgbClr val="F2F6F3"/>
                    </a:solidFill>
                  </a:tcPr>
                </a:tc>
                <a:tc>
                  <a:txBody>
                    <a:bodyPr/>
                    <a:lstStyle/>
                    <a:p>
                      <a:r>
                        <a:rPr sz="1425" b="0">
                          <a:solidFill>
                            <a:srgbClr val="222A2D"/>
                          </a:solidFill>
                          <a:latin typeface="NanumGothic"/>
                          <a:ea typeface="NanumGothic"/>
                          <a:cs typeface="NanumGothic"/>
                        </a:rPr>
                        <a:t>강수만으로 설명 못 하는 수위 변화</a:t>
                      </a:r>
                    </a:p>
                  </a:txBody>
                  <a:tcPr marL="91440" marR="91440" marT="45720" marB="45720">
                    <a:solidFill>
                      <a:srgbClr val="F2F6F3"/>
                    </a:solidFill>
                  </a:tcPr>
                </a:tc>
                <a:tc>
                  <a:txBody>
                    <a:bodyPr/>
                    <a:lstStyle/>
                    <a:p>
                      <a:r>
                        <a:rPr sz="1425" b="0">
                          <a:solidFill>
                            <a:srgbClr val="222A2D"/>
                          </a:solidFill>
                          <a:latin typeface="NanumGothic"/>
                          <a:ea typeface="NanumGothic"/>
                          <a:cs typeface="NanumGothic"/>
                        </a:rPr>
                        <a:t>현장 운영 변화, 추가 설명 변수</a:t>
                      </a:r>
                    </a:p>
                  </a:txBody>
                  <a:tcPr marL="91440" marR="91440" marT="45720" marB="45720">
                    <a:solidFill>
                      <a:srgbClr val="F2F6F3"/>
                    </a:solidFill>
                  </a:tcPr>
                </a:tc>
              </a:tr>
              <a:tr h="523875">
                <a:tc>
                  <a:txBody>
                    <a:bodyPr/>
                    <a:lstStyle/>
                    <a:p>
                      <a:r>
                        <a:rPr sz="1425" b="0">
                          <a:solidFill>
                            <a:srgbClr val="222A2D"/>
                          </a:solidFill>
                          <a:latin typeface="NanumGothic"/>
                          <a:ea typeface="NanumGothic"/>
                          <a:cs typeface="NanumGothic"/>
                        </a:rPr>
                        <a:t>센서 교체·영점 보정</a:t>
                      </a:r>
                    </a:p>
                  </a:txBody>
                  <a:tcPr marL="91440" marR="91440" marT="45720" marB="45720">
                    <a:solidFill>
                      <a:srgbClr val="FAFBF9"/>
                    </a:solidFill>
                  </a:tcPr>
                </a:tc>
                <a:tc>
                  <a:txBody>
                    <a:bodyPr/>
                    <a:lstStyle/>
                    <a:p>
                      <a:r>
                        <a:rPr sz="1425" b="0">
                          <a:solidFill>
                            <a:srgbClr val="222A2D"/>
                          </a:solidFill>
                          <a:latin typeface="NanumGothic"/>
                          <a:ea typeface="NanumGothic"/>
                          <a:cs typeface="NanumGothic"/>
                        </a:rPr>
                        <a:t>측정값의 기준이 갑자기 달라짐</a:t>
                      </a:r>
                    </a:p>
                  </a:txBody>
                  <a:tcPr marL="91440" marR="91440" marT="45720" marB="45720">
                    <a:solidFill>
                      <a:srgbClr val="FAFBF9"/>
                    </a:solidFill>
                  </a:tcPr>
                </a:tc>
                <a:tc>
                  <a:txBody>
                    <a:bodyPr/>
                    <a:lstStyle/>
                    <a:p>
                      <a:r>
                        <a:rPr sz="1425" b="0">
                          <a:solidFill>
                            <a:srgbClr val="222A2D"/>
                          </a:solidFill>
                          <a:latin typeface="NanumGothic"/>
                          <a:ea typeface="NanumGothic"/>
                          <a:cs typeface="NanumGothic"/>
                        </a:rPr>
                        <a:t>센서·단위·원자료 정정 여부</a:t>
                      </a:r>
                    </a:p>
                  </a:txBody>
                  <a:tcPr marL="91440" marR="91440" marT="45720" marB="45720">
                    <a:solidFill>
                      <a:srgbClr val="FAFBF9"/>
                    </a:solidFill>
                  </a:tcPr>
                </a:tc>
              </a:tr>
            </a:tbl>
          </a:graphicData>
        </a:graphic>
      </p:graphicFrame>
      <p:sp>
        <p:nvSpPr>
          <p:cNvPr id="6" name="">
            <a:extLst xmlns:a="http://schemas.openxmlformats.org/drawingml/2006/main">
              <a:ext uri="{FF2B5EF4-FFF2-40B4-BE49-F238E27FC236}">
                <a16:creationId xmlns:a16="http://schemas.microsoft.com/office/drawing/2014/main" id="{76BFB514-F34E-452E-B087-0F59A585B63E}"/>
              </a:ext>
            </a:extLst>
          </p:cNvPr>
          <p:cNvSpPr>
            <a:spLocks xmlns:a="http://schemas.openxmlformats.org/drawingml/2006/main" noGrp="1"/>
          </p:cNvSpPr>
          <p:nvPr/>
        </p:nvSpPr>
        <p:spPr>
          <a:xfrm xmlns:a="http://schemas.openxmlformats.org/drawingml/2006/main">
            <a:off x="571500" y="3829050"/>
            <a:ext cx="8001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007D68"/>
                </a:solidFill>
                <a:latin typeface="NanumGothic"/>
                <a:ea typeface="NanumGothic"/>
                <a:cs typeface="NanumGothic"/>
              </a:defRPr>
            </a:defPPr>
          </a:lstStyle>
          <a:p xmlns:a="http://schemas.openxmlformats.org/drawingml/2006/main">
            <a:pPr>
              <a:buNone/>
              <a:defRPr sz="1800" b="1">
                <a:solidFill>
                  <a:srgbClr val="007D68"/>
                </a:solidFill>
                <a:latin typeface="NanumGothic"/>
                <a:ea typeface="NanumGothic"/>
                <a:cs typeface="NanumGothic"/>
              </a:defRPr>
            </a:pPr>
            <a:r>
              <a:rPr sz="1800" b="1">
                <a:solidFill>
                  <a:srgbClr val="007D68"/>
                </a:solidFill>
                <a:latin typeface="NanumGothic"/>
                <a:ea typeface="NanumGothic"/>
                <a:cs typeface="NanumGothic"/>
              </a:rPr>
              <a:t>현재 시연: 첫 정답 22일째부터 수위에 +0.2를 추가</a:t>
            </a:r>
          </a:p>
        </p:txBody>
      </p:sp>
      <p:sp>
        <p:nvSpPr>
          <p:cNvPr id="7" name="">
            <a:extLst xmlns:a="http://schemas.openxmlformats.org/drawingml/2006/main">
              <a:ext uri="{FF2B5EF4-FFF2-40B4-BE49-F238E27FC236}">
                <a16:creationId xmlns:a16="http://schemas.microsoft.com/office/drawing/2014/main" id="{28F6D546-ACC4-4FDD-A0B2-85F1145E31F4}"/>
              </a:ext>
            </a:extLst>
          </p:cNvPr>
          <p:cNvSpPr>
            <a:spLocks xmlns:a="http://schemas.openxmlformats.org/drawingml/2006/main" noGrp="1"/>
          </p:cNvSpPr>
          <p:nvPr/>
        </p:nvSpPr>
        <p:spPr>
          <a:xfrm xmlns:a="http://schemas.openxmlformats.org/drawingml/2006/main">
            <a:off x="571500" y="4257675"/>
            <a:ext cx="800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C686B"/>
                </a:solidFill>
                <a:latin typeface="NanumGothic"/>
                <a:ea typeface="NanumGothic"/>
                <a:cs typeface="NanumGothic"/>
              </a:defRPr>
            </a:defPPr>
          </a:lstStyle>
          <a:p xmlns:a="http://schemas.openxmlformats.org/drawingml/2006/main">
            <a:pPr>
              <a:buNone/>
              <a:defRPr sz="1275" b="0">
                <a:solidFill>
                  <a:srgbClr val="5C686B"/>
                </a:solidFill>
                <a:latin typeface="NanumGothic"/>
                <a:ea typeface="NanumGothic"/>
                <a:cs typeface="NanumGothic"/>
              </a:defRPr>
            </a:pPr>
            <a:r>
              <a:rPr sz="1275" b="0">
                <a:solidFill>
                  <a:srgbClr val="5C686B"/>
                </a:solidFill>
                <a:latin typeface="NanumGothic"/>
                <a:ea typeface="NanumGothic"/>
                <a:cs typeface="NanumGothic"/>
              </a:rPr>
              <a:t>합성 시연에서 변화 전·후를 검증합니다.</a:t>
            </a:r>
          </a:p>
        </p:txBody>
      </p:sp>
    </p:spTree>
    <p:extLst>
      <p:ext uri="{BB962C8B-B14F-4D97-AF65-F5344CB8AC3E}">
        <p14:creationId xmlns:p14="http://schemas.microsoft.com/office/powerpoint/2010/main" val="1713396040"/>
      </p:ext>
    </p:extLst>
  </p:cSld>
</p:sld>
</file>

<file path=ppt/slides/slide10.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F19910D-D606-44A6-9B5D-AEDAF98C7F77}"/>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③ 운영 설계 · 서울은 초기 검증, 전국은 동결 holdout 기준</a:t>
            </a:r>
          </a:p>
        </p:txBody>
      </p:sp>
      <p:sp>
        <p:nvSpPr>
          <p:cNvPr id="2" name="">
            <a:extLst xmlns:a="http://schemas.openxmlformats.org/drawingml/2006/main">
              <a:ext uri="{FF2B5EF4-FFF2-40B4-BE49-F238E27FC236}">
                <a16:creationId xmlns:a16="http://schemas.microsoft.com/office/drawing/2014/main" id="{1A694857-DAB5-41EE-A8F0-F1339B954E42}"/>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배포 전에 입력과 성능 회귀를 차단</a:t>
            </a:r>
          </a:p>
        </p:txBody>
      </p:sp>
      <p:sp>
        <p:nvSpPr>
          <p:cNvPr id="3" name="">
            <a:extLst xmlns:a="http://schemas.openxmlformats.org/drawingml/2006/main">
              <a:ext uri="{FF2B5EF4-FFF2-40B4-BE49-F238E27FC236}">
                <a16:creationId xmlns:a16="http://schemas.microsoft.com/office/drawing/2014/main" id="{499C2E45-351E-4840-AB4E-C920CC4E0D6B}"/>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AD5F8B7B-B805-44E4-955C-C2AF912657E6}"/>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10</a:t>
            </a:r>
          </a:p>
        </p:txBody>
      </p:sp>
      <p:graphicFrame>
        <p:nvGraphicFramePr>
          <p:cNvPr id="5" name="">
            <a:extLst xmlns:a="http://schemas.openxmlformats.org/drawingml/2006/main">
              <a:ext uri="{FF2B5EF4-FFF2-40B4-BE49-F238E27FC236}">
                <a16:creationId xmlns:a16="http://schemas.microsoft.com/office/drawing/2014/main" id="{32F39E1B-102F-4F69-AB0E-2F917590D00C}"/>
              </a:ext>
            </a:extLst>
          </p:cNvPr>
          <p:cNvGraphicFramePr/>
          <p:nvPr/>
        </p:nvGraphicFramePr>
        <p:xfrm>
          <a:off xmlns:a="http://schemas.openxmlformats.org/drawingml/2006/main" x="571500" y="1504950"/>
          <a:ext xmlns:a="http://schemas.openxmlformats.org/drawingml/2006/main" cx="8001000" cy="2895600"/>
        </p:xfrm>
        <a:graphic xmlns:a="http://schemas.openxmlformats.org/drawingml/2006/main">
          <a:graphicData uri="http://schemas.openxmlformats.org/drawingml/2006/table">
            <a:tbl>
              <a:tblPr/>
              <a:tblGrid>
                <a:gridCol w="1476375"/>
                <a:gridCol w="4524375"/>
                <a:gridCol w="2000250"/>
              </a:tblGrid>
              <a:tr h="482600">
                <a:tc>
                  <a:txBody>
                    <a:bodyPr/>
                    <a:lstStyle/>
                    <a:p>
                      <a:r>
                        <a:rPr sz="1275" b="1">
                          <a:solidFill>
                            <a:srgbClr val="007D68"/>
                          </a:solidFill>
                          <a:latin typeface="NanumGothic"/>
                          <a:ea typeface="NanumGothic"/>
                          <a:cs typeface="NanumGothic"/>
                        </a:rPr>
                        <a:t>게이트</a:t>
                      </a:r>
                    </a:p>
                  </a:txBody>
                  <a:tcPr marL="91440" marR="91440" marT="45720" marB="45720">
                    <a:solidFill>
                      <a:srgbClr val="E7EFEB"/>
                    </a:solidFill>
                  </a:tcPr>
                </a:tc>
                <a:tc>
                  <a:txBody>
                    <a:bodyPr/>
                    <a:lstStyle/>
                    <a:p>
                      <a:r>
                        <a:rPr sz="1275" b="1">
                          <a:solidFill>
                            <a:srgbClr val="007D68"/>
                          </a:solidFill>
                          <a:latin typeface="NanumGothic"/>
                          <a:ea typeface="NanumGothic"/>
                          <a:cs typeface="NanumGothic"/>
                        </a:rPr>
                        <a:t>검사 내용</a:t>
                      </a:r>
                    </a:p>
                  </a:txBody>
                  <a:tcPr marL="91440" marR="91440" marT="45720" marB="45720">
                    <a:solidFill>
                      <a:srgbClr val="E7EFEB"/>
                    </a:solidFill>
                  </a:tcPr>
                </a:tc>
                <a:tc>
                  <a:txBody>
                    <a:bodyPr/>
                    <a:lstStyle/>
                    <a:p>
                      <a:r>
                        <a:rPr sz="1275" b="1">
                          <a:solidFill>
                            <a:srgbClr val="007D68"/>
                          </a:solidFill>
                          <a:latin typeface="NanumGothic"/>
                          <a:ea typeface="NanumGothic"/>
                          <a:cs typeface="NanumGothic"/>
                        </a:rPr>
                        <a:t>실패하면</a:t>
                      </a:r>
                    </a:p>
                  </a:txBody>
                  <a:tcPr marL="91440" marR="91440" marT="45720" marB="45720">
                    <a:solidFill>
                      <a:srgbClr val="E7EFEB"/>
                    </a:solidFill>
                  </a:tcPr>
                </a:tc>
              </a:tr>
              <a:tr h="482600">
                <a:tc>
                  <a:txBody>
                    <a:bodyPr/>
                    <a:lstStyle/>
                    <a:p>
                      <a:r>
                        <a:rPr sz="1275" b="0">
                          <a:solidFill>
                            <a:srgbClr val="222A2D"/>
                          </a:solidFill>
                          <a:latin typeface="NanumGothic"/>
                          <a:ea typeface="NanumGothic"/>
                          <a:cs typeface="NanumGothic"/>
                        </a:rPr>
                        <a:t>입력 스키마</a:t>
                      </a:r>
                    </a:p>
                  </a:txBody>
                  <a:tcPr marL="91440" marR="91440" marT="45720" marB="45720">
                    <a:solidFill>
                      <a:srgbClr val="FAFBF9"/>
                    </a:solidFill>
                  </a:tcPr>
                </a:tc>
                <a:tc>
                  <a:txBody>
                    <a:bodyPr/>
                    <a:lstStyle/>
                    <a:p>
                      <a:r>
                        <a:rPr sz="1275" b="0">
                          <a:solidFill>
                            <a:srgbClr val="222A2D"/>
                          </a:solidFill>
                          <a:latin typeface="NanumGothic"/>
                          <a:ea typeface="NanumGothic"/>
                          <a:cs typeface="NanumGothic"/>
                        </a:rPr>
                        <a:t>20일 연속, 관측소·날짜·단위, 수위 유한값, 강수 ≥ 0</a:t>
                      </a:r>
                    </a:p>
                  </a:txBody>
                  <a:tcPr marL="91440" marR="91440" marT="45720" marB="45720">
                    <a:solidFill>
                      <a:srgbClr val="FAFBF9"/>
                    </a:solidFill>
                  </a:tcPr>
                </a:tc>
                <a:tc>
                  <a:txBody>
                    <a:bodyPr/>
                    <a:lstStyle/>
                    <a:p>
                      <a:r>
                        <a:rPr sz="1275" b="0">
                          <a:solidFill>
                            <a:srgbClr val="222A2D"/>
                          </a:solidFill>
                          <a:latin typeface="NanumGothic"/>
                          <a:ea typeface="NanumGothic"/>
                          <a:cs typeface="NanumGothic"/>
                        </a:rPr>
                        <a:t>422 또는 자료 미준비</a:t>
                      </a:r>
                    </a:p>
                  </a:txBody>
                  <a:tcPr marL="91440" marR="91440" marT="45720" marB="45720">
                    <a:solidFill>
                      <a:srgbClr val="FAFBF9"/>
                    </a:solidFill>
                  </a:tcPr>
                </a:tc>
              </a:tr>
              <a:tr h="482600">
                <a:tc>
                  <a:txBody>
                    <a:bodyPr/>
                    <a:lstStyle/>
                    <a:p>
                      <a:r>
                        <a:rPr sz="1275" b="0">
                          <a:solidFill>
                            <a:srgbClr val="222A2D"/>
                          </a:solidFill>
                          <a:latin typeface="NanumGothic"/>
                          <a:ea typeface="NanumGothic"/>
                          <a:cs typeface="NanumGothic"/>
                        </a:rPr>
                        <a:t>초기 모델</a:t>
                      </a:r>
                    </a:p>
                  </a:txBody>
                  <a:tcPr marL="91440" marR="91440" marT="45720" marB="45720">
                    <a:solidFill>
                      <a:srgbClr val="F2F6F3"/>
                    </a:solidFill>
                  </a:tcPr>
                </a:tc>
                <a:tc>
                  <a:txBody>
                    <a:bodyPr/>
                    <a:lstStyle/>
                    <a:p>
                      <a:r>
                        <a:rPr sz="1275" b="0">
                          <a:solidFill>
                            <a:srgbClr val="222A2D"/>
                          </a:solidFill>
                          <a:latin typeface="NanumGothic"/>
                          <a:ea typeface="NanumGothic"/>
                          <a:cs typeface="NanumGothic"/>
                        </a:rPr>
                        <a:t>검증 RMSE ≤ persistence 검증 RMSE × 1.10</a:t>
                      </a:r>
                    </a:p>
                  </a:txBody>
                  <a:tcPr marL="91440" marR="91440" marT="45720" marB="45720">
                    <a:solidFill>
                      <a:srgbClr val="F2F6F3"/>
                    </a:solidFill>
                  </a:tcPr>
                </a:tc>
                <a:tc>
                  <a:txBody>
                    <a:bodyPr/>
                    <a:lstStyle/>
                    <a:p>
                      <a:r>
                        <a:rPr sz="1275" b="0">
                          <a:solidFill>
                            <a:srgbClr val="222A2D"/>
                          </a:solidFill>
                          <a:latin typeface="NanumGothic"/>
                          <a:ea typeface="NanumGothic"/>
                          <a:cs typeface="NanumGothic"/>
                        </a:rPr>
                        <a:t>기존 모델 유지, 없으면 미준비</a:t>
                      </a:r>
                    </a:p>
                  </a:txBody>
                  <a:tcPr marL="91440" marR="91440" marT="45720" marB="45720">
                    <a:solidFill>
                      <a:srgbClr val="F2F6F3"/>
                    </a:solidFill>
                  </a:tcPr>
                </a:tc>
              </a:tr>
              <a:tr h="482600">
                <a:tc>
                  <a:txBody>
                    <a:bodyPr/>
                    <a:lstStyle/>
                    <a:p>
                      <a:r>
                        <a:rPr sz="1275" b="0">
                          <a:solidFill>
                            <a:srgbClr val="222A2D"/>
                          </a:solidFill>
                          <a:latin typeface="NanumGothic"/>
                          <a:ea typeface="NanumGothic"/>
                          <a:cs typeface="NanumGothic"/>
                        </a:rPr>
                        <a:t>후속 평가</a:t>
                      </a:r>
                    </a:p>
                  </a:txBody>
                  <a:tcPr marL="91440" marR="91440" marT="45720" marB="45720">
                    <a:solidFill>
                      <a:srgbClr val="FAFBF9"/>
                    </a:solidFill>
                  </a:tcPr>
                </a:tc>
                <a:tc>
                  <a:txBody>
                    <a:bodyPr/>
                    <a:lstStyle/>
                    <a:p>
                      <a:r>
                        <a:rPr sz="1275" b="0">
                          <a:solidFill>
                            <a:srgbClr val="222A2D"/>
                          </a:solidFill>
                          <a:latin typeface="NanumGothic"/>
                          <a:ea typeface="NanumGothic"/>
                          <a:cs typeface="NanumGothic"/>
                        </a:rPr>
                        <a:t>학습 이후 새 정답 30일, 후보 RMSE ≤ 기존 × 0.95</a:t>
                      </a:r>
                    </a:p>
                  </a:txBody>
                  <a:tcPr marL="91440" marR="91440" marT="45720" marB="45720">
                    <a:solidFill>
                      <a:srgbClr val="FAFBF9"/>
                    </a:solidFill>
                  </a:tcPr>
                </a:tc>
                <a:tc>
                  <a:txBody>
                    <a:bodyPr/>
                    <a:lstStyle/>
                    <a:p>
                      <a:r>
                        <a:rPr sz="1275" b="0">
                          <a:solidFill>
                            <a:srgbClr val="222A2D"/>
                          </a:solidFill>
                          <a:latin typeface="NanumGothic"/>
                          <a:ea typeface="NanumGothic"/>
                          <a:cs typeface="NanumGothic"/>
                        </a:rPr>
                        <a:t>기존 모델 유지</a:t>
                      </a:r>
                    </a:p>
                  </a:txBody>
                  <a:tcPr marL="91440" marR="91440" marT="45720" marB="45720">
                    <a:solidFill>
                      <a:srgbClr val="FAFBF9"/>
                    </a:solidFill>
                  </a:tcPr>
                </a:tc>
              </a:tr>
              <a:tr h="482600">
                <a:tc>
                  <a:txBody>
                    <a:bodyPr/>
                    <a:lstStyle/>
                    <a:p>
                      <a:r>
                        <a:rPr sz="1275" b="0">
                          <a:solidFill>
                            <a:srgbClr val="222A2D"/>
                          </a:solidFill>
                          <a:latin typeface="NanumGothic"/>
                          <a:ea typeface="NanumGothic"/>
                          <a:cs typeface="NanumGothic"/>
                        </a:rPr>
                        <a:t>기존 구간 회귀</a:t>
                      </a:r>
                    </a:p>
                  </a:txBody>
                  <a:tcPr marL="91440" marR="91440" marT="45720" marB="45720">
                    <a:solidFill>
                      <a:srgbClr val="F2F6F3"/>
                    </a:solidFill>
                  </a:tcPr>
                </a:tc>
                <a:tc>
                  <a:txBody>
                    <a:bodyPr/>
                    <a:lstStyle/>
                    <a:p>
                      <a:r>
                        <a:rPr sz="1275" b="0">
                          <a:solidFill>
                            <a:srgbClr val="222A2D"/>
                          </a:solidFill>
                          <a:latin typeface="NanumGothic"/>
                          <a:ea typeface="NanumGothic"/>
                          <a:cs typeface="NanumGothic"/>
                        </a:rPr>
                        <a:t>guard RMSE ≤ 초기 검증 RMSE × 1.10</a:t>
                      </a:r>
                    </a:p>
                  </a:txBody>
                  <a:tcPr marL="91440" marR="91440" marT="45720" marB="45720">
                    <a:solidFill>
                      <a:srgbClr val="F2F6F3"/>
                    </a:solidFill>
                  </a:tcPr>
                </a:tc>
                <a:tc>
                  <a:txBody>
                    <a:bodyPr/>
                    <a:lstStyle/>
                    <a:p>
                      <a:r>
                        <a:rPr sz="1275" b="0">
                          <a:solidFill>
                            <a:srgbClr val="222A2D"/>
                          </a:solidFill>
                          <a:latin typeface="NanumGothic"/>
                          <a:ea typeface="NanumGothic"/>
                          <a:cs typeface="NanumGothic"/>
                        </a:rPr>
                        <a:t>기존 모델 유지</a:t>
                      </a:r>
                    </a:p>
                  </a:txBody>
                  <a:tcPr marL="91440" marR="91440" marT="45720" marB="45720">
                    <a:solidFill>
                      <a:srgbClr val="F2F6F3"/>
                    </a:solidFill>
                  </a:tcPr>
                </a:tc>
              </a:tr>
              <a:tr h="482600">
                <a:tc>
                  <a:txBody>
                    <a:bodyPr/>
                    <a:lstStyle/>
                    <a:p>
                      <a:r>
                        <a:rPr sz="1275" b="0">
                          <a:solidFill>
                            <a:srgbClr val="222A2D"/>
                          </a:solidFill>
                          <a:latin typeface="NanumGothic"/>
                          <a:ea typeface="NanumGothic"/>
                          <a:cs typeface="NanumGothic"/>
                        </a:rPr>
                        <a:t>서빙 전환</a:t>
                      </a:r>
                    </a:p>
                  </a:txBody>
                  <a:tcPr marL="91440" marR="91440" marT="45720" marB="45720">
                    <a:solidFill>
                      <a:srgbClr val="FAFBF9"/>
                    </a:solidFill>
                  </a:tcPr>
                </a:tc>
                <a:tc>
                  <a:txBody>
                    <a:bodyPr/>
                    <a:lstStyle/>
                    <a:p>
                      <a:r>
                        <a:rPr sz="1275" b="0">
                          <a:solidFill>
                            <a:srgbClr val="222A2D"/>
                          </a:solidFill>
                          <a:latin typeface="NanumGothic"/>
                          <a:ea typeface="NanumGothic"/>
                          <a:cs typeface="NanumGothic"/>
                        </a:rPr>
                        <a:t>모델 로드와 smoke 예측 성공</a:t>
                      </a:r>
                    </a:p>
                  </a:txBody>
                  <a:tcPr marL="91440" marR="91440" marT="45720" marB="45720">
                    <a:solidFill>
                      <a:srgbClr val="FAFBF9"/>
                    </a:solidFill>
                  </a:tcPr>
                </a:tc>
                <a:tc>
                  <a:txBody>
                    <a:bodyPr/>
                    <a:lstStyle/>
                    <a:p>
                      <a:r>
                        <a:rPr sz="1275" b="0">
                          <a:solidFill>
                            <a:srgbClr val="222A2D"/>
                          </a:solidFill>
                          <a:latin typeface="NanumGothic"/>
                          <a:ea typeface="NanumGothic"/>
                          <a:cs typeface="NanumGothic"/>
                        </a:rPr>
                        <a:t>alias·캐시의 기존 모델 유지</a:t>
                      </a:r>
                    </a:p>
                  </a:txBody>
                  <a:tcPr marL="91440" marR="91440" marT="45720" marB="45720">
                    <a:solidFill>
                      <a:srgbClr val="FAFBF9"/>
                    </a:solidFill>
                  </a:tcPr>
                </a:tc>
              </a:tr>
            </a:tbl>
          </a:graphicData>
        </a:graphic>
      </p:graphicFrame>
    </p:spTree>
    <p:extLst>
      <p:ext uri="{BB962C8B-B14F-4D97-AF65-F5344CB8AC3E}">
        <p14:creationId xmlns:p14="http://schemas.microsoft.com/office/powerpoint/2010/main" val="1702535230"/>
      </p:ext>
    </p:extLst>
  </p:cSld>
</p:sld>
</file>

<file path=ppt/slides/slide11.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38B7B8D-A1E8-404C-AF61-F7DADD15B196}"/>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③ 운영 설계 · 서울은 초기 검증, 전국은 동결 holdout 기준</a:t>
            </a:r>
          </a:p>
        </p:txBody>
      </p:sp>
      <p:sp>
        <p:nvSpPr>
          <p:cNvPr id="2" name="">
            <a:extLst xmlns:a="http://schemas.openxmlformats.org/drawingml/2006/main">
              <a:ext uri="{FF2B5EF4-FFF2-40B4-BE49-F238E27FC236}">
                <a16:creationId xmlns:a16="http://schemas.microsoft.com/office/drawing/2014/main" id="{56F0146F-BC2B-4981-9ED1-CF71F3AECF8B}"/>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모니터링 지표·임계값과 설계 근거</a:t>
            </a:r>
          </a:p>
        </p:txBody>
      </p:sp>
      <p:sp>
        <p:nvSpPr>
          <p:cNvPr id="3" name="">
            <a:extLst xmlns:a="http://schemas.openxmlformats.org/drawingml/2006/main">
              <a:ext uri="{FF2B5EF4-FFF2-40B4-BE49-F238E27FC236}">
                <a16:creationId xmlns:a16="http://schemas.microsoft.com/office/drawing/2014/main" id="{25807AB4-A819-4A5A-8BE9-B625553D1BFF}"/>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4CAEA017-13A8-4A51-A9FE-41525D09D557}"/>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11</a:t>
            </a:r>
          </a:p>
        </p:txBody>
      </p:sp>
      <p:graphicFrame>
        <p:nvGraphicFramePr>
          <p:cNvPr id="5" name="">
            <a:extLst xmlns:a="http://schemas.openxmlformats.org/drawingml/2006/main">
              <a:ext uri="{FF2B5EF4-FFF2-40B4-BE49-F238E27FC236}">
                <a16:creationId xmlns:a16="http://schemas.microsoft.com/office/drawing/2014/main" id="{993A81C1-F24C-4342-B983-1E88022215D9}"/>
              </a:ext>
            </a:extLst>
          </p:cNvPr>
          <p:cNvGraphicFramePr/>
          <p:nvPr/>
        </p:nvGraphicFramePr>
        <p:xfrm>
          <a:off xmlns:a="http://schemas.openxmlformats.org/drawingml/2006/main" x="571500" y="1495425"/>
          <a:ext xmlns:a="http://schemas.openxmlformats.org/drawingml/2006/main" cx="8001000" cy="2914650"/>
        </p:xfrm>
        <a:graphic xmlns:a="http://schemas.openxmlformats.org/drawingml/2006/main">
          <a:graphicData uri="http://schemas.openxmlformats.org/drawingml/2006/table">
            <a:tbl>
              <a:tblPr/>
              <a:tblGrid>
                <a:gridCol w="1476375"/>
                <a:gridCol w="3333750"/>
                <a:gridCol w="3190875"/>
              </a:tblGrid>
              <a:tr h="485775">
                <a:tc>
                  <a:txBody>
                    <a:bodyPr/>
                    <a:lstStyle/>
                    <a:p>
                      <a:r>
                        <a:rPr sz="1275" b="1">
                          <a:solidFill>
                            <a:srgbClr val="007D68"/>
                          </a:solidFill>
                          <a:latin typeface="NanumGothic"/>
                          <a:ea typeface="NanumGothic"/>
                          <a:cs typeface="NanumGothic"/>
                        </a:rPr>
                        <a:t>지표</a:t>
                      </a:r>
                    </a:p>
                  </a:txBody>
                  <a:tcPr marL="91440" marR="91440" marT="45720" marB="45720">
                    <a:solidFill>
                      <a:srgbClr val="E7EFEB"/>
                    </a:solidFill>
                  </a:tcPr>
                </a:tc>
                <a:tc>
                  <a:txBody>
                    <a:bodyPr/>
                    <a:lstStyle/>
                    <a:p>
                      <a:r>
                        <a:rPr sz="1275" b="1">
                          <a:solidFill>
                            <a:srgbClr val="007D68"/>
                          </a:solidFill>
                          <a:latin typeface="NanumGothic"/>
                          <a:ea typeface="NanumGothic"/>
                          <a:cs typeface="NanumGothic"/>
                        </a:rPr>
                        <a:t>임계·표본</a:t>
                      </a:r>
                    </a:p>
                  </a:txBody>
                  <a:tcPr marL="91440" marR="91440" marT="45720" marB="45720">
                    <a:solidFill>
                      <a:srgbClr val="E7EFEB"/>
                    </a:solidFill>
                  </a:tcPr>
                </a:tc>
                <a:tc>
                  <a:txBody>
                    <a:bodyPr/>
                    <a:lstStyle/>
                    <a:p>
                      <a:r>
                        <a:rPr sz="1275" b="1">
                          <a:solidFill>
                            <a:srgbClr val="007D68"/>
                          </a:solidFill>
                          <a:latin typeface="NanumGothic"/>
                          <a:ea typeface="NanumGothic"/>
                          <a:cs typeface="NanumGothic"/>
                        </a:rPr>
                        <a:t>이유와 대응</a:t>
                      </a:r>
                    </a:p>
                  </a:txBody>
                  <a:tcPr marL="91440" marR="91440" marT="45720" marB="45720">
                    <a:solidFill>
                      <a:srgbClr val="E7EFEB"/>
                    </a:solidFill>
                  </a:tcPr>
                </a:tc>
              </a:tr>
              <a:tr h="485775">
                <a:tc>
                  <a:txBody>
                    <a:bodyPr/>
                    <a:lstStyle/>
                    <a:p>
                      <a:r>
                        <a:rPr sz="1275" b="0">
                          <a:solidFill>
                            <a:srgbClr val="222A2D"/>
                          </a:solidFill>
                          <a:latin typeface="NanumGothic"/>
                          <a:ea typeface="NanumGothic"/>
                          <a:cs typeface="NanumGothic"/>
                        </a:rPr>
                        <a:t>준비 상태</a:t>
                      </a:r>
                    </a:p>
                  </a:txBody>
                  <a:tcPr marL="91440" marR="91440" marT="45720" marB="45720">
                    <a:solidFill>
                      <a:srgbClr val="FAFBF9"/>
                    </a:solidFill>
                  </a:tcPr>
                </a:tc>
                <a:tc>
                  <a:txBody>
                    <a:bodyPr/>
                    <a:lstStyle/>
                    <a:p>
                      <a:r>
                        <a:rPr sz="1275" b="0">
                          <a:solidFill>
                            <a:srgbClr val="222A2D"/>
                          </a:solidFill>
                          <a:latin typeface="NanumGothic"/>
                          <a:ea typeface="NanumGothic"/>
                          <a:cs typeface="NanumGothic"/>
                        </a:rPr>
                        <a:t>입력·모델 부족이면 ready 503</a:t>
                      </a:r>
                    </a:p>
                  </a:txBody>
                  <a:tcPr marL="91440" marR="91440" marT="45720" marB="45720">
                    <a:solidFill>
                      <a:srgbClr val="FAFBF9"/>
                    </a:solidFill>
                  </a:tcPr>
                </a:tc>
                <a:tc>
                  <a:txBody>
                    <a:bodyPr/>
                    <a:lstStyle/>
                    <a:p>
                      <a:r>
                        <a:rPr sz="1275" b="0">
                          <a:solidFill>
                            <a:srgbClr val="222A2D"/>
                          </a:solidFill>
                          <a:latin typeface="NanumGothic"/>
                          <a:ea typeface="NanumGothic"/>
                          <a:cs typeface="NanumGothic"/>
                        </a:rPr>
                        <a:t>프로세스 생존과 실제 예측 준비 구분</a:t>
                      </a:r>
                    </a:p>
                  </a:txBody>
                  <a:tcPr marL="91440" marR="91440" marT="45720" marB="45720">
                    <a:solidFill>
                      <a:srgbClr val="FAFBF9"/>
                    </a:solidFill>
                  </a:tcPr>
                </a:tc>
              </a:tr>
              <a:tr h="485775">
                <a:tc>
                  <a:txBody>
                    <a:bodyPr/>
                    <a:lstStyle/>
                    <a:p>
                      <a:r>
                        <a:rPr sz="1275" b="0">
                          <a:solidFill>
                            <a:srgbClr val="222A2D"/>
                          </a:solidFill>
                          <a:latin typeface="NanumGothic"/>
                          <a:ea typeface="NanumGothic"/>
                          <a:cs typeface="NanumGothic"/>
                        </a:rPr>
                        <a:t>응답·오류</a:t>
                      </a:r>
                    </a:p>
                  </a:txBody>
                  <a:tcPr marL="91440" marR="91440" marT="45720" marB="45720">
                    <a:solidFill>
                      <a:srgbClr val="F2F6F3"/>
                    </a:solidFill>
                  </a:tcPr>
                </a:tc>
                <a:tc>
                  <a:txBody>
                    <a:bodyPr/>
                    <a:lstStyle/>
                    <a:p>
                      <a:r>
                        <a:rPr sz="1275" b="0">
                          <a:solidFill>
                            <a:srgbClr val="222A2D"/>
                          </a:solidFill>
                          <a:latin typeface="NanumGothic"/>
                          <a:ea typeface="NanumGothic"/>
                          <a:cs typeface="NanumGothic"/>
                        </a:rPr>
                        <a:t>300초 ≥20요청, p95&gt;1초 또는 5xx≥1%</a:t>
                      </a:r>
                    </a:p>
                  </a:txBody>
                  <a:tcPr marL="91440" marR="91440" marT="45720" marB="45720">
                    <a:solidFill>
                      <a:srgbClr val="F2F6F3"/>
                    </a:solidFill>
                  </a:tcPr>
                </a:tc>
                <a:tc>
                  <a:txBody>
                    <a:bodyPr/>
                    <a:lstStyle/>
                    <a:p>
                      <a:r>
                        <a:rPr sz="1275" b="0">
                          <a:solidFill>
                            <a:srgbClr val="222A2D"/>
                          </a:solidFill>
                          <a:latin typeface="NanumGothic"/>
                          <a:ea typeface="NanumGothic"/>
                          <a:cs typeface="NanumGothic"/>
                        </a:rPr>
                        <a:t>60초 점검 후 서비스 이벤트 기록</a:t>
                      </a:r>
                    </a:p>
                  </a:txBody>
                  <a:tcPr marL="91440" marR="91440" marT="45720" marB="45720">
                    <a:solidFill>
                      <a:srgbClr val="F2F6F3"/>
                    </a:solidFill>
                  </a:tcPr>
                </a:tc>
              </a:tr>
              <a:tr h="485775">
                <a:tc>
                  <a:txBody>
                    <a:bodyPr/>
                    <a:lstStyle/>
                    <a:p>
                      <a:r>
                        <a:rPr sz="1275" b="0">
                          <a:solidFill>
                            <a:srgbClr val="222A2D"/>
                          </a:solidFill>
                          <a:latin typeface="NanumGothic"/>
                          <a:ea typeface="NanumGothic"/>
                          <a:cs typeface="NanumGothic"/>
                        </a:rPr>
                        <a:t>예측 오차</a:t>
                      </a:r>
                    </a:p>
                  </a:txBody>
                  <a:tcPr marL="91440" marR="91440" marT="45720" marB="45720">
                    <a:solidFill>
                      <a:srgbClr val="FAFBF9"/>
                    </a:solidFill>
                  </a:tcPr>
                </a:tc>
                <a:tc>
                  <a:txBody>
                    <a:bodyPr/>
                    <a:lstStyle/>
                    <a:p>
                      <a:r>
                        <a:rPr sz="1275" b="0">
                          <a:solidFill>
                            <a:srgbClr val="222A2D"/>
                          </a:solidFill>
                          <a:latin typeface="NanumGothic"/>
                          <a:ea typeface="NanumGothic"/>
                          <a:cs typeface="NanumGothic"/>
                        </a:rPr>
                        <a:t>21일 RMSE &gt; 검증 rolling RMSE P95×1.5</a:t>
                      </a:r>
                    </a:p>
                  </a:txBody>
                  <a:tcPr marL="91440" marR="91440" marT="45720" marB="45720">
                    <a:solidFill>
                      <a:srgbClr val="FAFBF9"/>
                    </a:solidFill>
                  </a:tcPr>
                </a:tc>
                <a:tc>
                  <a:txBody>
                    <a:bodyPr/>
                    <a:lstStyle/>
                    <a:p>
                      <a:r>
                        <a:rPr sz="1275" b="0">
                          <a:solidFill>
                            <a:srgbClr val="222A2D"/>
                          </a:solidFill>
                          <a:latin typeface="NanumGothic"/>
                          <a:ea typeface="NanumGothic"/>
                          <a:cs typeface="NanumGothic"/>
                        </a:rPr>
                        <a:t>정상 오차 상단 대비 품질 저하 감시</a:t>
                      </a:r>
                    </a:p>
                  </a:txBody>
                  <a:tcPr marL="91440" marR="91440" marT="45720" marB="45720">
                    <a:solidFill>
                      <a:srgbClr val="FAFBF9"/>
                    </a:solidFill>
                  </a:tcPr>
                </a:tc>
              </a:tr>
              <a:tr h="485775">
                <a:tc>
                  <a:txBody>
                    <a:bodyPr/>
                    <a:lstStyle/>
                    <a:p>
                      <a:r>
                        <a:rPr sz="1275" b="0">
                          <a:solidFill>
                            <a:srgbClr val="222A2D"/>
                          </a:solidFill>
                          <a:latin typeface="NanumGothic"/>
                          <a:ea typeface="NanumGothic"/>
                          <a:cs typeface="NanumGothic"/>
                        </a:rPr>
                        <a:t>재학습 조건</a:t>
                      </a:r>
                    </a:p>
                  </a:txBody>
                  <a:tcPr marL="91440" marR="91440" marT="45720" marB="45720">
                    <a:solidFill>
                      <a:srgbClr val="F2F6F3"/>
                    </a:solidFill>
                  </a:tcPr>
                </a:tc>
                <a:tc>
                  <a:txBody>
                    <a:bodyPr/>
                    <a:lstStyle/>
                    <a:p>
                      <a:r>
                        <a:rPr sz="1275" b="0">
                          <a:solidFill>
                            <a:srgbClr val="222A2D"/>
                          </a:solidFill>
                          <a:latin typeface="NanumGothic"/>
                          <a:ea typeface="NanumGothic"/>
                          <a:cs typeface="NanumGothic"/>
                        </a:rPr>
                        <a:t>연속 2회 초과, cooldown 21일</a:t>
                      </a:r>
                    </a:p>
                  </a:txBody>
                  <a:tcPr marL="91440" marR="91440" marT="45720" marB="45720">
                    <a:solidFill>
                      <a:srgbClr val="F2F6F3"/>
                    </a:solidFill>
                  </a:tcPr>
                </a:tc>
                <a:tc>
                  <a:txBody>
                    <a:bodyPr/>
                    <a:lstStyle/>
                    <a:p>
                      <a:r>
                        <a:rPr sz="1275" b="0">
                          <a:solidFill>
                            <a:srgbClr val="222A2D"/>
                          </a:solidFill>
                          <a:latin typeface="NanumGothic"/>
                          <a:ea typeface="NanumGothic"/>
                          <a:cs typeface="NanumGothic"/>
                        </a:rPr>
                        <a:t>단발 초과와 중복 후보 생성을 억제</a:t>
                      </a:r>
                    </a:p>
                  </a:txBody>
                  <a:tcPr marL="91440" marR="91440" marT="45720" marB="45720">
                    <a:solidFill>
                      <a:srgbClr val="F2F6F3"/>
                    </a:solidFill>
                  </a:tcPr>
                </a:tc>
              </a:tr>
              <a:tr h="485775">
                <a:tc>
                  <a:txBody>
                    <a:bodyPr/>
                    <a:lstStyle/>
                    <a:p>
                      <a:r>
                        <a:rPr sz="1275" b="0">
                          <a:solidFill>
                            <a:srgbClr val="222A2D"/>
                          </a:solidFill>
                          <a:latin typeface="NanumGothic"/>
                          <a:ea typeface="NanumGothic"/>
                          <a:cs typeface="NanumGothic"/>
                        </a:rPr>
                        <a:t>후속 평가</a:t>
                      </a:r>
                    </a:p>
                  </a:txBody>
                  <a:tcPr marL="91440" marR="91440" marT="45720" marB="45720">
                    <a:solidFill>
                      <a:srgbClr val="FAFBF9"/>
                    </a:solidFill>
                  </a:tcPr>
                </a:tc>
                <a:tc>
                  <a:txBody>
                    <a:bodyPr/>
                    <a:lstStyle/>
                    <a:p>
                      <a:r>
                        <a:rPr sz="1275" b="0">
                          <a:solidFill>
                            <a:srgbClr val="222A2D"/>
                          </a:solidFill>
                          <a:latin typeface="NanumGothic"/>
                          <a:ea typeface="NanumGothic"/>
                          <a:cs typeface="NanumGothic"/>
                        </a:rPr>
                        <a:t>새 정답 30일, 개선 5%, guard 110%</a:t>
                      </a:r>
                    </a:p>
                  </a:txBody>
                  <a:tcPr marL="91440" marR="91440" marT="45720" marB="45720">
                    <a:solidFill>
                      <a:srgbClr val="FAFBF9"/>
                    </a:solidFill>
                  </a:tcPr>
                </a:tc>
                <a:tc>
                  <a:txBody>
                    <a:bodyPr/>
                    <a:lstStyle/>
                    <a:p>
                      <a:r>
                        <a:rPr sz="1275" b="0">
                          <a:solidFill>
                            <a:srgbClr val="222A2D"/>
                          </a:solidFill>
                          <a:latin typeface="NanumGothic"/>
                          <a:ea typeface="NanumGothic"/>
                          <a:cs typeface="NanumGothic"/>
                        </a:rPr>
                        <a:t>같은 정답 비교와 성능 회귀 방지</a:t>
                      </a:r>
                    </a:p>
                  </a:txBody>
                  <a:tcPr marL="91440" marR="91440" marT="45720" marB="45720">
                    <a:solidFill>
                      <a:srgbClr val="FAFBF9"/>
                    </a:solidFill>
                  </a:tcPr>
                </a:tc>
              </a:tr>
            </a:tbl>
          </a:graphicData>
        </a:graphic>
      </p:graphicFrame>
    </p:spTree>
    <p:extLst>
      <p:ext uri="{BB962C8B-B14F-4D97-AF65-F5344CB8AC3E}">
        <p14:creationId xmlns:p14="http://schemas.microsoft.com/office/powerpoint/2010/main" val="1456406442"/>
      </p:ext>
    </p:extLst>
  </p:cSld>
</p:sld>
</file>

<file path=ppt/slides/slide12.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DBFDEC3-0C8A-42DB-B0E1-411699932694}"/>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③ 운영 설계</a:t>
            </a:r>
          </a:p>
        </p:txBody>
      </p:sp>
      <p:sp>
        <p:nvSpPr>
          <p:cNvPr id="2" name="">
            <a:extLst xmlns:a="http://schemas.openxmlformats.org/drawingml/2006/main">
              <a:ext uri="{FF2B5EF4-FFF2-40B4-BE49-F238E27FC236}">
                <a16:creationId xmlns:a16="http://schemas.microsoft.com/office/drawing/2014/main" id="{C19D01A5-1718-456C-AE4F-8E7D5076E031}"/>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드리프트 대응 순서</a:t>
            </a:r>
          </a:p>
        </p:txBody>
      </p:sp>
      <p:sp>
        <p:nvSpPr>
          <p:cNvPr id="3" name="">
            <a:extLst xmlns:a="http://schemas.openxmlformats.org/drawingml/2006/main">
              <a:ext uri="{FF2B5EF4-FFF2-40B4-BE49-F238E27FC236}">
                <a16:creationId xmlns:a16="http://schemas.microsoft.com/office/drawing/2014/main" id="{49D07B89-61E7-469F-BAFE-BA35EFBA5F36}"/>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0306A6AC-B04F-4BA3-8D76-07B8B2FDFE0B}"/>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12</a:t>
            </a:r>
          </a:p>
        </p:txBody>
      </p:sp>
      <p:sp>
        <p:nvSpPr>
          <p:cNvPr id="5" name="">
            <a:extLst xmlns:a="http://schemas.openxmlformats.org/drawingml/2006/main">
              <a:ext uri="{FF2B5EF4-FFF2-40B4-BE49-F238E27FC236}">
                <a16:creationId xmlns:a16="http://schemas.microsoft.com/office/drawing/2014/main" id="{23A20DED-BBC6-4AD5-9F9D-3F9EF0B2F77A}"/>
              </a:ext>
            </a:extLst>
          </p:cNvPr>
          <p:cNvSpPr>
            <a:spLocks xmlns:a="http://schemas.openxmlformats.org/drawingml/2006/main" noGrp="1"/>
          </p:cNvSpPr>
          <p:nvPr/>
        </p:nvSpPr>
        <p:spPr>
          <a:xfrm xmlns:a="http://schemas.openxmlformats.org/drawingml/2006/main">
            <a:off x="571500" y="2095500"/>
            <a:ext cx="1190625" cy="952500"/>
          </a:xfrm>
          <a:prstGeom xmlns:a="http://schemas.openxmlformats.org/drawingml/2006/main" prst="rect">
            <a:avLst/>
          </a:prstGeom>
          <a:solidFill xmlns:a="http://schemas.openxmlformats.org/drawingml/2006/main">
            <a:srgbClr val="FFFFFF"/>
          </a:solidFill>
          <a:ln xmlns:a="http://schemas.openxmlformats.org/drawingml/2006/main" w="11430">
            <a:solidFill>
              <a:srgbClr val="CED8D5"/>
            </a:solidFill>
          </a:ln>
        </p:spPr>
        <p:txBody>
          <a:bodyPr xmlns:a="http://schemas.openxmlformats.org/drawingml/2006/main" anchor="ctr"/>
          <a:lstStyle xmlns:a="http://schemas.openxmlformats.org/drawingml/2006/main">
            <a:defPPr algn="ctr">
              <a:defRPr sz="1350" b="1">
                <a:solidFill>
                  <a:srgbClr val="222A2D"/>
                </a:solidFill>
                <a:latin typeface="NanumGothic"/>
                <a:ea typeface="NanumGothic"/>
                <a:cs typeface="NanumGothic"/>
              </a:defRPr>
            </a:defPPr>
          </a:lstStyle>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오차 감시</a:t>
            </a:r>
          </a:p>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정답 21일</a:t>
            </a:r>
          </a:p>
        </p:txBody>
      </p:sp>
      <p:sp>
        <p:nvSpPr>
          <p:cNvPr id="6" name="">
            <a:extLst xmlns:a="http://schemas.openxmlformats.org/drawingml/2006/main">
              <a:ext uri="{FF2B5EF4-FFF2-40B4-BE49-F238E27FC236}">
                <a16:creationId xmlns:a16="http://schemas.microsoft.com/office/drawing/2014/main" id="{62AFE6D5-E664-4B39-9810-6DFFF3F9D07B}"/>
              </a:ext>
            </a:extLst>
          </p:cNvPr>
          <p:cNvSpPr>
            <a:spLocks xmlns:a="http://schemas.openxmlformats.org/drawingml/2006/main" noGrp="1"/>
          </p:cNvSpPr>
          <p:nvPr/>
        </p:nvSpPr>
        <p:spPr>
          <a:xfrm xmlns:a="http://schemas.openxmlformats.org/drawingml/2006/main">
            <a:off x="1933575" y="2095500"/>
            <a:ext cx="1190625" cy="952500"/>
          </a:xfrm>
          <a:prstGeom xmlns:a="http://schemas.openxmlformats.org/drawingml/2006/main" prst="rect">
            <a:avLst/>
          </a:prstGeom>
          <a:solidFill xmlns:a="http://schemas.openxmlformats.org/drawingml/2006/main">
            <a:srgbClr val="E5F0EB"/>
          </a:solidFill>
          <a:ln xmlns:a="http://schemas.openxmlformats.org/drawingml/2006/main" w="11430">
            <a:solidFill>
              <a:srgbClr val="007D68"/>
            </a:solidFill>
          </a:ln>
        </p:spPr>
        <p:txBody>
          <a:bodyPr xmlns:a="http://schemas.openxmlformats.org/drawingml/2006/main" anchor="ctr"/>
          <a:lstStyle xmlns:a="http://schemas.openxmlformats.org/drawingml/2006/main">
            <a:defPPr algn="ctr">
              <a:defRPr sz="1350" b="1">
                <a:solidFill>
                  <a:srgbClr val="007D68"/>
                </a:solidFill>
                <a:latin typeface="NanumGothic"/>
                <a:ea typeface="NanumGothic"/>
                <a:cs typeface="NanumGothic"/>
              </a:defRPr>
            </a:defPPr>
          </a:lstStyle>
          <a:p xmlns:a="http://schemas.openxmlformats.org/drawingml/2006/main">
            <a:pPr algn="ctr">
              <a:buNone/>
              <a:defRPr sz="1350" b="1">
                <a:solidFill>
                  <a:srgbClr val="007D68"/>
                </a:solidFill>
                <a:latin typeface="NanumGothic"/>
                <a:ea typeface="NanumGothic"/>
                <a:cs typeface="NanumGothic"/>
              </a:defRPr>
            </a:pPr>
            <a:r>
              <a:rPr sz="1350" b="1">
                <a:solidFill>
                  <a:srgbClr val="007D68"/>
                </a:solidFill>
                <a:latin typeface="NanumGothic"/>
                <a:ea typeface="NanumGothic"/>
                <a:cs typeface="NanumGothic"/>
              </a:rPr>
              <a:t>품질 알림</a:t>
            </a:r>
          </a:p>
          <a:p xmlns:a="http://schemas.openxmlformats.org/drawingml/2006/main">
            <a:pPr algn="ctr">
              <a:buNone/>
              <a:defRPr sz="1350" b="1">
                <a:solidFill>
                  <a:srgbClr val="007D68"/>
                </a:solidFill>
                <a:latin typeface="NanumGothic"/>
                <a:ea typeface="NanumGothic"/>
                <a:cs typeface="NanumGothic"/>
              </a:defRPr>
            </a:pPr>
            <a:r>
              <a:rPr sz="1350" b="1">
                <a:solidFill>
                  <a:srgbClr val="007D68"/>
                </a:solidFill>
                <a:latin typeface="NanumGothic"/>
                <a:ea typeface="NanumGothic"/>
                <a:cs typeface="NanumGothic"/>
              </a:rPr>
              <a:t>연속 2회 초과</a:t>
            </a:r>
          </a:p>
        </p:txBody>
      </p:sp>
      <p:cxnSp>
        <p:nvCxnSpPr>
          <p:cNvPr id="7" name="">
            <a:extLst xmlns:a="http://schemas.openxmlformats.org/drawingml/2006/main">
              <a:ext uri="{FF2B5EF4-FFF2-40B4-BE49-F238E27FC236}">
                <a16:creationId xmlns:a16="http://schemas.microsoft.com/office/drawing/2014/main" id="{846E4DEE-E519-4E30-B1BC-A761050917D5}"/>
              </a:ext>
            </a:extLst>
          </p:cNvPr>
          <p:cNvCxnSpPr>
            <a:stCxn xmlns:a="http://schemas.openxmlformats.org/drawingml/2006/main" id="5" idx="3"/>
            <a:endCxn xmlns:a="http://schemas.openxmlformats.org/drawingml/2006/main" id="6" idx="1"/>
          </p:cNvCxnSpPr>
          <p:nvPr/>
        </p:nvCxnSpPr>
        <p:spPr>
          <a:xfrm xmlns:a="http://schemas.openxmlformats.org/drawingml/2006/main">
            <a:off x="1762125" y="2571750"/>
            <a:ext cx="171450" cy="0"/>
          </a:xfrm>
          <a:prstGeom xmlns:a="http://schemas.openxmlformats.org/drawingml/2006/main" prst="straightConnector1">
            <a:avLst/>
          </a:prstGeom>
          <a:ln xmlns:a="http://schemas.openxmlformats.org/drawingml/2006/main" w="16193">
            <a:solidFill>
              <a:srgbClr val="007D68"/>
            </a:solidFill>
            <a:prstDash val="solid"/>
            <a:tailEnd type="triangle" w="med" len="med"/>
          </a:ln>
        </p:spPr>
      </p:cxnSp>
      <p:sp>
        <p:nvSpPr>
          <p:cNvPr id="8" name="">
            <a:extLst xmlns:a="http://schemas.openxmlformats.org/drawingml/2006/main">
              <a:ext uri="{FF2B5EF4-FFF2-40B4-BE49-F238E27FC236}">
                <a16:creationId xmlns:a16="http://schemas.microsoft.com/office/drawing/2014/main" id="{15DBC207-D56C-4772-83DB-74FE08CD00B4}"/>
              </a:ext>
            </a:extLst>
          </p:cNvPr>
          <p:cNvSpPr>
            <a:spLocks xmlns:a="http://schemas.openxmlformats.org/drawingml/2006/main" noGrp="1"/>
          </p:cNvSpPr>
          <p:nvPr/>
        </p:nvSpPr>
        <p:spPr>
          <a:xfrm xmlns:a="http://schemas.openxmlformats.org/drawingml/2006/main">
            <a:off x="3295650" y="2095500"/>
            <a:ext cx="1190625" cy="952500"/>
          </a:xfrm>
          <a:prstGeom xmlns:a="http://schemas.openxmlformats.org/drawingml/2006/main" prst="rect">
            <a:avLst/>
          </a:prstGeom>
          <a:solidFill xmlns:a="http://schemas.openxmlformats.org/drawingml/2006/main">
            <a:srgbClr val="FFFFFF"/>
          </a:solidFill>
          <a:ln xmlns:a="http://schemas.openxmlformats.org/drawingml/2006/main" w="11430">
            <a:solidFill>
              <a:srgbClr val="CED8D5"/>
            </a:solidFill>
          </a:ln>
        </p:spPr>
        <p:txBody>
          <a:bodyPr xmlns:a="http://schemas.openxmlformats.org/drawingml/2006/main" anchor="ctr"/>
          <a:lstStyle xmlns:a="http://schemas.openxmlformats.org/drawingml/2006/main">
            <a:defPPr algn="ctr">
              <a:defRPr sz="1350" b="1">
                <a:solidFill>
                  <a:srgbClr val="222A2D"/>
                </a:solidFill>
                <a:latin typeface="NanumGothic"/>
                <a:ea typeface="NanumGothic"/>
                <a:cs typeface="NanumGothic"/>
              </a:defRPr>
            </a:defPPr>
          </a:lstStyle>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후보 재학습</a:t>
            </a:r>
          </a:p>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최근 41일</a:t>
            </a:r>
          </a:p>
        </p:txBody>
      </p:sp>
      <p:cxnSp>
        <p:nvCxnSpPr>
          <p:cNvPr id="9" name="">
            <a:extLst xmlns:a="http://schemas.openxmlformats.org/drawingml/2006/main">
              <a:ext uri="{FF2B5EF4-FFF2-40B4-BE49-F238E27FC236}">
                <a16:creationId xmlns:a16="http://schemas.microsoft.com/office/drawing/2014/main" id="{FD87C339-18ED-4901-BDC1-5D198CCFB492}"/>
              </a:ext>
            </a:extLst>
          </p:cNvPr>
          <p:cNvCxnSpPr>
            <a:stCxn xmlns:a="http://schemas.openxmlformats.org/drawingml/2006/main" id="6" idx="3"/>
            <a:endCxn xmlns:a="http://schemas.openxmlformats.org/drawingml/2006/main" id="8" idx="1"/>
          </p:cNvCxnSpPr>
          <p:nvPr/>
        </p:nvCxnSpPr>
        <p:spPr>
          <a:xfrm xmlns:a="http://schemas.openxmlformats.org/drawingml/2006/main">
            <a:off x="3124200" y="2571750"/>
            <a:ext cx="171450" cy="0"/>
          </a:xfrm>
          <a:prstGeom xmlns:a="http://schemas.openxmlformats.org/drawingml/2006/main" prst="straightConnector1">
            <a:avLst/>
          </a:prstGeom>
          <a:ln xmlns:a="http://schemas.openxmlformats.org/drawingml/2006/main" w="16193">
            <a:solidFill>
              <a:srgbClr val="007D68"/>
            </a:solidFill>
            <a:prstDash val="solid"/>
            <a:tailEnd type="triangle" w="med" len="med"/>
          </a:ln>
        </p:spPr>
      </p:cxnSp>
      <p:sp>
        <p:nvSpPr>
          <p:cNvPr id="10" name="">
            <a:extLst xmlns:a="http://schemas.openxmlformats.org/drawingml/2006/main">
              <a:ext uri="{FF2B5EF4-FFF2-40B4-BE49-F238E27FC236}">
                <a16:creationId xmlns:a16="http://schemas.microsoft.com/office/drawing/2014/main" id="{36773837-F8CF-47E8-AA5E-998466421A16}"/>
              </a:ext>
            </a:extLst>
          </p:cNvPr>
          <p:cNvSpPr>
            <a:spLocks xmlns:a="http://schemas.openxmlformats.org/drawingml/2006/main" noGrp="1"/>
          </p:cNvSpPr>
          <p:nvPr/>
        </p:nvSpPr>
        <p:spPr>
          <a:xfrm xmlns:a="http://schemas.openxmlformats.org/drawingml/2006/main">
            <a:off x="4657725" y="2095500"/>
            <a:ext cx="1190625" cy="952500"/>
          </a:xfrm>
          <a:prstGeom xmlns:a="http://schemas.openxmlformats.org/drawingml/2006/main" prst="rect">
            <a:avLst/>
          </a:prstGeom>
          <a:solidFill xmlns:a="http://schemas.openxmlformats.org/drawingml/2006/main">
            <a:srgbClr val="FFFFFF"/>
          </a:solidFill>
          <a:ln xmlns:a="http://schemas.openxmlformats.org/drawingml/2006/main" w="11430">
            <a:solidFill>
              <a:srgbClr val="CED8D5"/>
            </a:solidFill>
          </a:ln>
        </p:spPr>
        <p:txBody>
          <a:bodyPr xmlns:a="http://schemas.openxmlformats.org/drawingml/2006/main" anchor="ctr"/>
          <a:lstStyle xmlns:a="http://schemas.openxmlformats.org/drawingml/2006/main">
            <a:defPPr algn="ctr">
              <a:defRPr sz="1350" b="1">
                <a:solidFill>
                  <a:srgbClr val="222A2D"/>
                </a:solidFill>
                <a:latin typeface="NanumGothic"/>
                <a:ea typeface="NanumGothic"/>
                <a:cs typeface="NanumGothic"/>
              </a:defRPr>
            </a:defPPr>
          </a:lstStyle>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후속 평가</a:t>
            </a:r>
          </a:p>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새 정답 30일</a:t>
            </a:r>
          </a:p>
        </p:txBody>
      </p:sp>
      <p:cxnSp>
        <p:nvCxnSpPr>
          <p:cNvPr id="11" name="">
            <a:extLst xmlns:a="http://schemas.openxmlformats.org/drawingml/2006/main">
              <a:ext uri="{FF2B5EF4-FFF2-40B4-BE49-F238E27FC236}">
                <a16:creationId xmlns:a16="http://schemas.microsoft.com/office/drawing/2014/main" id="{26F49D49-A99D-4324-A8CC-A9E33142CA39}"/>
              </a:ext>
            </a:extLst>
          </p:cNvPr>
          <p:cNvCxnSpPr>
            <a:stCxn xmlns:a="http://schemas.openxmlformats.org/drawingml/2006/main" id="8" idx="3"/>
            <a:endCxn xmlns:a="http://schemas.openxmlformats.org/drawingml/2006/main" id="10" idx="1"/>
          </p:cNvCxnSpPr>
          <p:nvPr/>
        </p:nvCxnSpPr>
        <p:spPr>
          <a:xfrm xmlns:a="http://schemas.openxmlformats.org/drawingml/2006/main">
            <a:off x="4486275" y="2571750"/>
            <a:ext cx="171450" cy="0"/>
          </a:xfrm>
          <a:prstGeom xmlns:a="http://schemas.openxmlformats.org/drawingml/2006/main" prst="straightConnector1">
            <a:avLst/>
          </a:prstGeom>
          <a:ln xmlns:a="http://schemas.openxmlformats.org/drawingml/2006/main" w="16193">
            <a:solidFill>
              <a:srgbClr val="007D68"/>
            </a:solidFill>
            <a:prstDash val="solid"/>
            <a:tailEnd type="triangle" w="med" len="med"/>
          </a:ln>
        </p:spPr>
      </p:cxnSp>
      <p:sp>
        <p:nvSpPr>
          <p:cNvPr id="12" name="">
            <a:extLst xmlns:a="http://schemas.openxmlformats.org/drawingml/2006/main">
              <a:ext uri="{FF2B5EF4-FFF2-40B4-BE49-F238E27FC236}">
                <a16:creationId xmlns:a16="http://schemas.microsoft.com/office/drawing/2014/main" id="{A04C722E-B0B8-4C69-AF78-F0E20E16573C}"/>
              </a:ext>
            </a:extLst>
          </p:cNvPr>
          <p:cNvSpPr>
            <a:spLocks xmlns:a="http://schemas.openxmlformats.org/drawingml/2006/main" noGrp="1"/>
          </p:cNvSpPr>
          <p:nvPr/>
        </p:nvSpPr>
        <p:spPr>
          <a:xfrm xmlns:a="http://schemas.openxmlformats.org/drawingml/2006/main">
            <a:off x="6019800" y="2095500"/>
            <a:ext cx="1190625" cy="952500"/>
          </a:xfrm>
          <a:prstGeom xmlns:a="http://schemas.openxmlformats.org/drawingml/2006/main" prst="rect">
            <a:avLst/>
          </a:prstGeom>
          <a:solidFill xmlns:a="http://schemas.openxmlformats.org/drawingml/2006/main">
            <a:srgbClr val="E5F0EB"/>
          </a:solidFill>
          <a:ln xmlns:a="http://schemas.openxmlformats.org/drawingml/2006/main" w="11430">
            <a:solidFill>
              <a:srgbClr val="007D68"/>
            </a:solidFill>
          </a:ln>
        </p:spPr>
        <p:txBody>
          <a:bodyPr xmlns:a="http://schemas.openxmlformats.org/drawingml/2006/main" anchor="ctr"/>
          <a:lstStyle xmlns:a="http://schemas.openxmlformats.org/drawingml/2006/main">
            <a:defPPr algn="ctr">
              <a:defRPr sz="1350" b="1">
                <a:solidFill>
                  <a:srgbClr val="007D68"/>
                </a:solidFill>
                <a:latin typeface="NanumGothic"/>
                <a:ea typeface="NanumGothic"/>
                <a:cs typeface="NanumGothic"/>
              </a:defRPr>
            </a:defPPr>
          </a:lstStyle>
          <a:p xmlns:a="http://schemas.openxmlformats.org/drawingml/2006/main">
            <a:pPr algn="ctr">
              <a:buNone/>
              <a:defRPr sz="1350" b="1">
                <a:solidFill>
                  <a:srgbClr val="007D68"/>
                </a:solidFill>
                <a:latin typeface="NanumGothic"/>
                <a:ea typeface="NanumGothic"/>
                <a:cs typeface="NanumGothic"/>
              </a:defRPr>
            </a:pPr>
            <a:r>
              <a:rPr sz="1350" b="1">
                <a:solidFill>
                  <a:srgbClr val="007D68"/>
                </a:solidFill>
                <a:latin typeface="NanumGothic"/>
                <a:ea typeface="NanumGothic"/>
                <a:cs typeface="NanumGothic"/>
              </a:rPr>
              <a:t>게이트 검증</a:t>
            </a:r>
          </a:p>
          <a:p xmlns:a="http://schemas.openxmlformats.org/drawingml/2006/main">
            <a:pPr algn="ctr">
              <a:buNone/>
              <a:defRPr sz="1350" b="1">
                <a:solidFill>
                  <a:srgbClr val="007D68"/>
                </a:solidFill>
                <a:latin typeface="NanumGothic"/>
                <a:ea typeface="NanumGothic"/>
                <a:cs typeface="NanumGothic"/>
              </a:defRPr>
            </a:pPr>
            <a:r>
              <a:rPr sz="1350" b="1">
                <a:solidFill>
                  <a:srgbClr val="007D68"/>
                </a:solidFill>
                <a:latin typeface="NanumGothic"/>
                <a:ea typeface="NanumGothic"/>
                <a:cs typeface="NanumGothic"/>
              </a:rPr>
              <a:t>5% 개선·guard</a:t>
            </a:r>
          </a:p>
        </p:txBody>
      </p:sp>
      <p:cxnSp>
        <p:nvCxnSpPr>
          <p:cNvPr id="13" name="">
            <a:extLst xmlns:a="http://schemas.openxmlformats.org/drawingml/2006/main">
              <a:ext uri="{FF2B5EF4-FFF2-40B4-BE49-F238E27FC236}">
                <a16:creationId xmlns:a16="http://schemas.microsoft.com/office/drawing/2014/main" id="{D2AC815C-7044-4776-9B62-BCA1A552ABFE}"/>
              </a:ext>
            </a:extLst>
          </p:cNvPr>
          <p:cNvCxnSpPr>
            <a:stCxn xmlns:a="http://schemas.openxmlformats.org/drawingml/2006/main" id="10" idx="3"/>
            <a:endCxn xmlns:a="http://schemas.openxmlformats.org/drawingml/2006/main" id="12" idx="1"/>
          </p:cNvCxnSpPr>
          <p:nvPr/>
        </p:nvCxnSpPr>
        <p:spPr>
          <a:xfrm xmlns:a="http://schemas.openxmlformats.org/drawingml/2006/main">
            <a:off x="5848350" y="2571750"/>
            <a:ext cx="171450" cy="0"/>
          </a:xfrm>
          <a:prstGeom xmlns:a="http://schemas.openxmlformats.org/drawingml/2006/main" prst="straightConnector1">
            <a:avLst/>
          </a:prstGeom>
          <a:ln xmlns:a="http://schemas.openxmlformats.org/drawingml/2006/main" w="16193">
            <a:solidFill>
              <a:srgbClr val="007D68"/>
            </a:solidFill>
            <a:prstDash val="solid"/>
            <a:tailEnd type="triangle" w="med" len="med"/>
          </a:ln>
        </p:spPr>
      </p:cxnSp>
      <p:sp>
        <p:nvSpPr>
          <p:cNvPr id="14" name="">
            <a:extLst xmlns:a="http://schemas.openxmlformats.org/drawingml/2006/main">
              <a:ext uri="{FF2B5EF4-FFF2-40B4-BE49-F238E27FC236}">
                <a16:creationId xmlns:a16="http://schemas.microsoft.com/office/drawing/2014/main" id="{96211B56-8395-4C47-9373-25FC03F77F76}"/>
              </a:ext>
            </a:extLst>
          </p:cNvPr>
          <p:cNvSpPr>
            <a:spLocks xmlns:a="http://schemas.openxmlformats.org/drawingml/2006/main" noGrp="1"/>
          </p:cNvSpPr>
          <p:nvPr/>
        </p:nvSpPr>
        <p:spPr>
          <a:xfrm xmlns:a="http://schemas.openxmlformats.org/drawingml/2006/main">
            <a:off x="7381875" y="2095500"/>
            <a:ext cx="1190625" cy="952500"/>
          </a:xfrm>
          <a:prstGeom xmlns:a="http://schemas.openxmlformats.org/drawingml/2006/main" prst="rect">
            <a:avLst/>
          </a:prstGeom>
          <a:solidFill xmlns:a="http://schemas.openxmlformats.org/drawingml/2006/main">
            <a:srgbClr val="FFFFFF"/>
          </a:solidFill>
          <a:ln xmlns:a="http://schemas.openxmlformats.org/drawingml/2006/main" w="11430">
            <a:solidFill>
              <a:srgbClr val="CED8D5"/>
            </a:solidFill>
          </a:ln>
        </p:spPr>
        <p:txBody>
          <a:bodyPr xmlns:a="http://schemas.openxmlformats.org/drawingml/2006/main" anchor="ctr"/>
          <a:lstStyle xmlns:a="http://schemas.openxmlformats.org/drawingml/2006/main">
            <a:defPPr algn="ctr">
              <a:defRPr sz="1350" b="1">
                <a:solidFill>
                  <a:srgbClr val="222A2D"/>
                </a:solidFill>
                <a:latin typeface="NanumGothic"/>
                <a:ea typeface="NanumGothic"/>
                <a:cs typeface="NanumGothic"/>
              </a:defRPr>
            </a:defPPr>
          </a:lstStyle>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모델 교체</a:t>
            </a:r>
          </a:p>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실패 시 유지</a:t>
            </a:r>
          </a:p>
        </p:txBody>
      </p:sp>
      <p:cxnSp>
        <p:nvCxnSpPr>
          <p:cNvPr id="15" name="">
            <a:extLst xmlns:a="http://schemas.openxmlformats.org/drawingml/2006/main">
              <a:ext uri="{FF2B5EF4-FFF2-40B4-BE49-F238E27FC236}">
                <a16:creationId xmlns:a16="http://schemas.microsoft.com/office/drawing/2014/main" id="{ED648AB2-858A-4C7E-B192-21E2EEE8A4CA}"/>
              </a:ext>
            </a:extLst>
          </p:cNvPr>
          <p:cNvCxnSpPr>
            <a:stCxn xmlns:a="http://schemas.openxmlformats.org/drawingml/2006/main" id="12" idx="3"/>
            <a:endCxn xmlns:a="http://schemas.openxmlformats.org/drawingml/2006/main" id="14" idx="1"/>
          </p:cNvCxnSpPr>
          <p:nvPr/>
        </p:nvCxnSpPr>
        <p:spPr>
          <a:xfrm xmlns:a="http://schemas.openxmlformats.org/drawingml/2006/main">
            <a:off x="7210425" y="2571750"/>
            <a:ext cx="171450" cy="0"/>
          </a:xfrm>
          <a:prstGeom xmlns:a="http://schemas.openxmlformats.org/drawingml/2006/main" prst="straightConnector1">
            <a:avLst/>
          </a:prstGeom>
          <a:ln xmlns:a="http://schemas.openxmlformats.org/drawingml/2006/main" w="16193">
            <a:solidFill>
              <a:srgbClr val="007D68"/>
            </a:solidFill>
            <a:prstDash val="solid"/>
            <a:tailEnd type="triangle" w="med" len="med"/>
          </a:ln>
        </p:spPr>
      </p:cxnSp>
      <p:sp>
        <p:nvSpPr>
          <p:cNvPr id="16" name="">
            <a:extLst xmlns:a="http://schemas.openxmlformats.org/drawingml/2006/main">
              <a:ext uri="{FF2B5EF4-FFF2-40B4-BE49-F238E27FC236}">
                <a16:creationId xmlns:a16="http://schemas.microsoft.com/office/drawing/2014/main" id="{57367CB6-0B78-4BC1-8BE0-9D00964AF919}"/>
              </a:ext>
            </a:extLst>
          </p:cNvPr>
          <p:cNvSpPr>
            <a:spLocks xmlns:a="http://schemas.openxmlformats.org/drawingml/2006/main" noGrp="1"/>
          </p:cNvSpPr>
          <p:nvPr/>
        </p:nvSpPr>
        <p:spPr>
          <a:xfrm xmlns:a="http://schemas.openxmlformats.org/drawingml/2006/main">
            <a:off x="571500" y="3819525"/>
            <a:ext cx="8001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007D68"/>
                </a:solidFill>
                <a:latin typeface="NanumGothic"/>
                <a:ea typeface="NanumGothic"/>
                <a:cs typeface="NanumGothic"/>
              </a:defRPr>
            </a:defPPr>
          </a:lstStyle>
          <a:p xmlns:a="http://schemas.openxmlformats.org/drawingml/2006/main">
            <a:pPr>
              <a:buNone/>
              <a:defRPr sz="1875" b="1">
                <a:solidFill>
                  <a:srgbClr val="007D68"/>
                </a:solidFill>
                <a:latin typeface="NanumGothic"/>
                <a:ea typeface="NanumGothic"/>
                <a:cs typeface="NanumGothic"/>
              </a:defRPr>
            </a:pPr>
            <a:r>
              <a:rPr sz="1875" b="1">
                <a:solidFill>
                  <a:srgbClr val="007D68"/>
                </a:solidFill>
                <a:latin typeface="NanumGothic"/>
                <a:ea typeface="NanumGothic"/>
                <a:cs typeface="NanumGothic"/>
              </a:rPr>
              <a:t>정답 확보와 성능 검증을 거친 후보만 교체합니다</a:t>
            </a:r>
          </a:p>
        </p:txBody>
      </p:sp>
    </p:spTree>
    <p:extLst>
      <p:ext uri="{BB962C8B-B14F-4D97-AF65-F5344CB8AC3E}">
        <p14:creationId xmlns:p14="http://schemas.microsoft.com/office/powerpoint/2010/main" val="609623087"/>
      </p:ext>
    </p:extLst>
  </p:cSld>
</p:sld>
</file>

<file path=ppt/slides/slide13.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533EF42-B62D-4C69-A778-5BB2284EF266}"/>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③ 운영 설계</a:t>
            </a:r>
          </a:p>
        </p:txBody>
      </p:sp>
      <p:sp>
        <p:nvSpPr>
          <p:cNvPr id="2" name="">
            <a:extLst xmlns:a="http://schemas.openxmlformats.org/drawingml/2006/main">
              <a:ext uri="{FF2B5EF4-FFF2-40B4-BE49-F238E27FC236}">
                <a16:creationId xmlns:a16="http://schemas.microsoft.com/office/drawing/2014/main" id="{70BE1A56-E205-4CEA-8739-FD09CBA0EAD8}"/>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실패·대기·복귀도 운영 결과로 남김</a:t>
            </a:r>
          </a:p>
        </p:txBody>
      </p:sp>
      <p:sp>
        <p:nvSpPr>
          <p:cNvPr id="3" name="">
            <a:extLst xmlns:a="http://schemas.openxmlformats.org/drawingml/2006/main">
              <a:ext uri="{FF2B5EF4-FFF2-40B4-BE49-F238E27FC236}">
                <a16:creationId xmlns:a16="http://schemas.microsoft.com/office/drawing/2014/main" id="{AD76461E-DFF0-47C0-8E43-6346411869B7}"/>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3749C1B3-54EC-428E-841E-E0CDDB5E7C4D}"/>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13</a:t>
            </a:r>
          </a:p>
        </p:txBody>
      </p:sp>
      <p:graphicFrame>
        <p:nvGraphicFramePr>
          <p:cNvPr id="5" name="">
            <a:extLst xmlns:a="http://schemas.openxmlformats.org/drawingml/2006/main">
              <a:ext uri="{FF2B5EF4-FFF2-40B4-BE49-F238E27FC236}">
                <a16:creationId xmlns:a16="http://schemas.microsoft.com/office/drawing/2014/main" id="{5DD30CA7-9A13-49F7-B45D-873EECFB1E3A}"/>
              </a:ext>
            </a:extLst>
          </p:cNvPr>
          <p:cNvGraphicFramePr/>
          <p:nvPr/>
        </p:nvGraphicFramePr>
        <p:xfrm>
          <a:off xmlns:a="http://schemas.openxmlformats.org/drawingml/2006/main" x="571500" y="1533525"/>
          <a:ext xmlns:a="http://schemas.openxmlformats.org/drawingml/2006/main" cx="8001000" cy="2800350"/>
        </p:xfrm>
        <a:graphic xmlns:a="http://schemas.openxmlformats.org/drawingml/2006/main">
          <a:graphicData uri="http://schemas.openxmlformats.org/drawingml/2006/table">
            <a:tbl>
              <a:tblPr/>
              <a:tblGrid>
                <a:gridCol w="2095500"/>
                <a:gridCol w="2952750"/>
                <a:gridCol w="2952750"/>
              </a:tblGrid>
              <a:tr h="466725">
                <a:tc>
                  <a:txBody>
                    <a:bodyPr/>
                    <a:lstStyle/>
                    <a:p>
                      <a:r>
                        <a:rPr sz="1350" b="1">
                          <a:solidFill>
                            <a:srgbClr val="007D68"/>
                          </a:solidFill>
                          <a:latin typeface="NanumGothic"/>
                          <a:ea typeface="NanumGothic"/>
                          <a:cs typeface="NanumGothic"/>
                        </a:rPr>
                        <a:t>상태</a:t>
                      </a:r>
                    </a:p>
                  </a:txBody>
                  <a:tcPr marL="91440" marR="91440" marT="45720" marB="45720">
                    <a:solidFill>
                      <a:srgbClr val="E7EFEB"/>
                    </a:solidFill>
                  </a:tcPr>
                </a:tc>
                <a:tc>
                  <a:txBody>
                    <a:bodyPr/>
                    <a:lstStyle/>
                    <a:p>
                      <a:r>
                        <a:rPr sz="1350" b="1">
                          <a:solidFill>
                            <a:srgbClr val="007D68"/>
                          </a:solidFill>
                          <a:latin typeface="NanumGothic"/>
                          <a:ea typeface="NanumGothic"/>
                          <a:cs typeface="NanumGothic"/>
                        </a:rPr>
                        <a:t>현재 동작</a:t>
                      </a:r>
                    </a:p>
                  </a:txBody>
                  <a:tcPr marL="91440" marR="91440" marT="45720" marB="45720">
                    <a:solidFill>
                      <a:srgbClr val="E7EFEB"/>
                    </a:solidFill>
                  </a:tcPr>
                </a:tc>
                <a:tc>
                  <a:txBody>
                    <a:bodyPr/>
                    <a:lstStyle/>
                    <a:p>
                      <a:r>
                        <a:rPr sz="1350" b="1">
                          <a:solidFill>
                            <a:srgbClr val="007D68"/>
                          </a:solidFill>
                          <a:latin typeface="NanumGothic"/>
                          <a:ea typeface="NanumGothic"/>
                          <a:cs typeface="NanumGothic"/>
                        </a:rPr>
                        <a:t>담당자가 보는 근거</a:t>
                      </a:r>
                    </a:p>
                  </a:txBody>
                  <a:tcPr marL="91440" marR="91440" marT="45720" marB="45720">
                    <a:solidFill>
                      <a:srgbClr val="E7EFEB"/>
                    </a:solidFill>
                  </a:tcPr>
                </a:tc>
              </a:tr>
              <a:tr h="466725">
                <a:tc>
                  <a:txBody>
                    <a:bodyPr/>
                    <a:lstStyle/>
                    <a:p>
                      <a:r>
                        <a:rPr sz="1350" b="0">
                          <a:solidFill>
                            <a:srgbClr val="222A2D"/>
                          </a:solidFill>
                          <a:latin typeface="NanumGothic"/>
                          <a:ea typeface="NanumGothic"/>
                          <a:cs typeface="NanumGothic"/>
                        </a:rPr>
                        <a:t>정답 21일·30일 부족</a:t>
                      </a:r>
                    </a:p>
                  </a:txBody>
                  <a:tcPr marL="91440" marR="91440" marT="45720" marB="45720">
                    <a:solidFill>
                      <a:srgbClr val="FAFBF9"/>
                    </a:solidFill>
                  </a:tcPr>
                </a:tc>
                <a:tc>
                  <a:txBody>
                    <a:bodyPr/>
                    <a:lstStyle/>
                    <a:p>
                      <a:r>
                        <a:rPr sz="1350" b="0">
                          <a:solidFill>
                            <a:srgbClr val="222A2D"/>
                          </a:solidFill>
                          <a:latin typeface="NanumGothic"/>
                          <a:ea typeface="NanumGothic"/>
                          <a:cs typeface="NanumGothic"/>
                        </a:rPr>
                        <a:t>평가 대기, 기존 서빙 유지</a:t>
                      </a:r>
                    </a:p>
                  </a:txBody>
                  <a:tcPr marL="91440" marR="91440" marT="45720" marB="45720">
                    <a:solidFill>
                      <a:srgbClr val="FAFBF9"/>
                    </a:solidFill>
                  </a:tcPr>
                </a:tc>
                <a:tc>
                  <a:txBody>
                    <a:bodyPr/>
                    <a:lstStyle/>
                    <a:p>
                      <a:r>
                        <a:rPr sz="1350" b="0">
                          <a:solidFill>
                            <a:srgbClr val="222A2D"/>
                          </a:solidFill>
                          <a:latin typeface="NanumGothic"/>
                          <a:ea typeface="NanumGothic"/>
                          <a:cs typeface="NanumGothic"/>
                        </a:rPr>
                        <a:t>단계별 정답 수와 대기 이유</a:t>
                      </a:r>
                    </a:p>
                  </a:txBody>
                  <a:tcPr marL="91440" marR="91440" marT="45720" marB="45720">
                    <a:solidFill>
                      <a:srgbClr val="FAFBF9"/>
                    </a:solidFill>
                  </a:tcPr>
                </a:tc>
              </a:tr>
              <a:tr h="466725">
                <a:tc>
                  <a:txBody>
                    <a:bodyPr/>
                    <a:lstStyle/>
                    <a:p>
                      <a:r>
                        <a:rPr sz="1350" b="0">
                          <a:solidFill>
                            <a:srgbClr val="222A2D"/>
                          </a:solidFill>
                          <a:latin typeface="NanumGothic"/>
                          <a:ea typeface="NanumGothic"/>
                          <a:cs typeface="NanumGothic"/>
                        </a:rPr>
                        <a:t>후보 성능 미달·날짜 공백</a:t>
                      </a:r>
                    </a:p>
                  </a:txBody>
                  <a:tcPr marL="91440" marR="91440" marT="45720" marB="45720">
                    <a:solidFill>
                      <a:srgbClr val="F2F6F3"/>
                    </a:solidFill>
                  </a:tcPr>
                </a:tc>
                <a:tc>
                  <a:txBody>
                    <a:bodyPr/>
                    <a:lstStyle/>
                    <a:p>
                      <a:r>
                        <a:rPr sz="1350" b="0">
                          <a:solidFill>
                            <a:srgbClr val="222A2D"/>
                          </a:solidFill>
                          <a:latin typeface="NanumGothic"/>
                          <a:ea typeface="NanumGothic"/>
                          <a:cs typeface="NanumGothic"/>
                        </a:rPr>
                        <a:t>후보 탈락, 기존 모델 유지</a:t>
                      </a:r>
                    </a:p>
                  </a:txBody>
                  <a:tcPr marL="91440" marR="91440" marT="45720" marB="45720">
                    <a:solidFill>
                      <a:srgbClr val="F2F6F3"/>
                    </a:solidFill>
                  </a:tcPr>
                </a:tc>
                <a:tc>
                  <a:txBody>
                    <a:bodyPr/>
                    <a:lstStyle/>
                    <a:p>
                      <a:r>
                        <a:rPr sz="1350" b="0">
                          <a:solidFill>
                            <a:srgbClr val="222A2D"/>
                          </a:solidFill>
                          <a:latin typeface="NanumGothic"/>
                          <a:ea typeface="NanumGothic"/>
                          <a:cs typeface="NanumGothic"/>
                        </a:rPr>
                        <a:t>RMSE·gate_passed·평가 기록</a:t>
                      </a:r>
                    </a:p>
                  </a:txBody>
                  <a:tcPr marL="91440" marR="91440" marT="45720" marB="45720">
                    <a:solidFill>
                      <a:srgbClr val="F2F6F3"/>
                    </a:solidFill>
                  </a:tcPr>
                </a:tc>
              </a:tr>
              <a:tr h="466725">
                <a:tc>
                  <a:txBody>
                    <a:bodyPr/>
                    <a:lstStyle/>
                    <a:p>
                      <a:r>
                        <a:rPr sz="1350" b="0">
                          <a:solidFill>
                            <a:srgbClr val="222A2D"/>
                          </a:solidFill>
                          <a:latin typeface="NanumGothic"/>
                          <a:ea typeface="NanumGothic"/>
                          <a:cs typeface="NanumGothic"/>
                        </a:rPr>
                        <a:t>모델 로드 실패</a:t>
                      </a:r>
                    </a:p>
                  </a:txBody>
                  <a:tcPr marL="91440" marR="91440" marT="45720" marB="45720">
                    <a:solidFill>
                      <a:srgbClr val="FAFBF9"/>
                    </a:solidFill>
                  </a:tcPr>
                </a:tc>
                <a:tc>
                  <a:txBody>
                    <a:bodyPr/>
                    <a:lstStyle/>
                    <a:p>
                      <a:r>
                        <a:rPr sz="1350" b="0">
                          <a:solidFill>
                            <a:srgbClr val="222A2D"/>
                          </a:solidFill>
                          <a:latin typeface="NanumGothic"/>
                          <a:ea typeface="NanumGothic"/>
                          <a:cs typeface="NanumGothic"/>
                        </a:rPr>
                        <a:t>전환 중단, 기존 alias·캐시 유지</a:t>
                      </a:r>
                    </a:p>
                  </a:txBody>
                  <a:tcPr marL="91440" marR="91440" marT="45720" marB="45720">
                    <a:solidFill>
                      <a:srgbClr val="FAFBF9"/>
                    </a:solidFill>
                  </a:tcPr>
                </a:tc>
                <a:tc>
                  <a:txBody>
                    <a:bodyPr/>
                    <a:lstStyle/>
                    <a:p>
                      <a:r>
                        <a:rPr sz="1350" b="0">
                          <a:solidFill>
                            <a:srgbClr val="222A2D"/>
                          </a:solidFill>
                          <a:latin typeface="NanumGothic"/>
                          <a:ea typeface="NanumGothic"/>
                          <a:cs typeface="NanumGothic"/>
                        </a:rPr>
                        <a:t>작업 failed와 오류</a:t>
                      </a:r>
                    </a:p>
                  </a:txBody>
                  <a:tcPr marL="91440" marR="91440" marT="45720" marB="45720">
                    <a:solidFill>
                      <a:srgbClr val="FAFBF9"/>
                    </a:solidFill>
                  </a:tcPr>
                </a:tc>
              </a:tr>
              <a:tr h="466725">
                <a:tc>
                  <a:txBody>
                    <a:bodyPr/>
                    <a:lstStyle/>
                    <a:p>
                      <a:r>
                        <a:rPr sz="1350" b="0">
                          <a:solidFill>
                            <a:srgbClr val="222A2D"/>
                          </a:solidFill>
                          <a:latin typeface="NanumGothic"/>
                          <a:ea typeface="NanumGothic"/>
                          <a:cs typeface="NanumGothic"/>
                        </a:rPr>
                        <a:t>이전 검증 모델 복귀 요청</a:t>
                      </a:r>
                    </a:p>
                  </a:txBody>
                  <a:tcPr marL="91440" marR="91440" marT="45720" marB="45720">
                    <a:solidFill>
                      <a:srgbClr val="F2F6F3"/>
                    </a:solidFill>
                  </a:tcPr>
                </a:tc>
                <a:tc>
                  <a:txBody>
                    <a:bodyPr/>
                    <a:lstStyle/>
                    <a:p>
                      <a:r>
                        <a:rPr sz="1350" b="0">
                          <a:solidFill>
                            <a:srgbClr val="222A2D"/>
                          </a:solidFill>
                          <a:latin typeface="NanumGothic"/>
                          <a:ea typeface="NanumGothic"/>
                          <a:cs typeface="NanumGothic"/>
                        </a:rPr>
                        <a:t>승격 이력이 있는 버전으로 복귀</a:t>
                      </a:r>
                    </a:p>
                  </a:txBody>
                  <a:tcPr marL="91440" marR="91440" marT="45720" marB="45720">
                    <a:solidFill>
                      <a:srgbClr val="F2F6F3"/>
                    </a:solidFill>
                  </a:tcPr>
                </a:tc>
                <a:tc>
                  <a:txBody>
                    <a:bodyPr/>
                    <a:lstStyle/>
                    <a:p>
                      <a:r>
                        <a:rPr sz="1350" b="0">
                          <a:solidFill>
                            <a:srgbClr val="222A2D"/>
                          </a:solidFill>
                          <a:latin typeface="NanumGothic"/>
                          <a:ea typeface="NanumGothic"/>
                          <a:cs typeface="NanumGothic"/>
                        </a:rPr>
                        <a:t>reason·버전·작업 결과</a:t>
                      </a:r>
                    </a:p>
                  </a:txBody>
                  <a:tcPr marL="91440" marR="91440" marT="45720" marB="45720">
                    <a:solidFill>
                      <a:srgbClr val="F2F6F3"/>
                    </a:solidFill>
                  </a:tcPr>
                </a:tc>
              </a:tr>
              <a:tr h="466725">
                <a:tc>
                  <a:txBody>
                    <a:bodyPr/>
                    <a:lstStyle/>
                    <a:p>
                      <a:r>
                        <a:rPr sz="1350" b="0">
                          <a:solidFill>
                            <a:srgbClr val="222A2D"/>
                          </a:solidFill>
                          <a:latin typeface="NanumGothic"/>
                          <a:ea typeface="NanumGothic"/>
                          <a:cs typeface="NanumGothic"/>
                        </a:rPr>
                        <a:t>프로세스 재시작</a:t>
                      </a:r>
                    </a:p>
                  </a:txBody>
                  <a:tcPr marL="91440" marR="91440" marT="45720" marB="45720">
                    <a:solidFill>
                      <a:srgbClr val="FAFBF9"/>
                    </a:solidFill>
                  </a:tcPr>
                </a:tc>
                <a:tc>
                  <a:txBody>
                    <a:bodyPr/>
                    <a:lstStyle/>
                    <a:p>
                      <a:r>
                        <a:rPr sz="1350" b="0">
                          <a:solidFill>
                            <a:srgbClr val="222A2D"/>
                          </a:solidFill>
                          <a:latin typeface="NanumGothic"/>
                          <a:ea typeface="NanumGothic"/>
                          <a:cs typeface="NanumGothic"/>
                        </a:rPr>
                        <a:t>중단 작업을 interrupted로 기록</a:t>
                      </a:r>
                    </a:p>
                  </a:txBody>
                  <a:tcPr marL="91440" marR="91440" marT="45720" marB="45720">
                    <a:solidFill>
                      <a:srgbClr val="FAFBF9"/>
                    </a:solidFill>
                  </a:tcPr>
                </a:tc>
                <a:tc>
                  <a:txBody>
                    <a:bodyPr/>
                    <a:lstStyle/>
                    <a:p>
                      <a:r>
                        <a:rPr sz="1350" b="0">
                          <a:solidFill>
                            <a:srgbClr val="222A2D"/>
                          </a:solidFill>
                          <a:latin typeface="NanumGothic"/>
                          <a:ea typeface="NanumGothic"/>
                          <a:cs typeface="NanumGothic"/>
                        </a:rPr>
                        <a:t>실패 이력 보존 후 재시도</a:t>
                      </a:r>
                    </a:p>
                  </a:txBody>
                  <a:tcPr marL="91440" marR="91440" marT="45720" marB="45720">
                    <a:solidFill>
                      <a:srgbClr val="FAFBF9"/>
                    </a:solidFill>
                  </a:tcPr>
                </a:tc>
              </a:tr>
            </a:tbl>
          </a:graphicData>
        </a:graphic>
      </p:graphicFrame>
    </p:spTree>
    <p:extLst>
      <p:ext uri="{BB962C8B-B14F-4D97-AF65-F5344CB8AC3E}">
        <p14:creationId xmlns:p14="http://schemas.microsoft.com/office/powerpoint/2010/main" val="1822250043"/>
      </p:ext>
    </p:extLst>
  </p:cSld>
</p:sld>
</file>

<file path=ppt/slides/slide14.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E6A5307-39FD-49ED-946C-102DB09471FC}"/>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④ 아키텍처 구성도</a:t>
            </a:r>
          </a:p>
        </p:txBody>
      </p:sp>
      <p:sp>
        <p:nvSpPr>
          <p:cNvPr id="2" name="">
            <a:extLst xmlns:a="http://schemas.openxmlformats.org/drawingml/2006/main">
              <a:ext uri="{FF2B5EF4-FFF2-40B4-BE49-F238E27FC236}">
                <a16:creationId xmlns:a16="http://schemas.microsoft.com/office/drawing/2014/main" id="{074DA695-2E84-4E84-AD37-65CF74CE6A17}"/>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기존 호환 파이프라인과 영속 구성</a:t>
            </a:r>
          </a:p>
        </p:txBody>
      </p:sp>
      <p:sp>
        <p:nvSpPr>
          <p:cNvPr id="3" name="">
            <a:extLst xmlns:a="http://schemas.openxmlformats.org/drawingml/2006/main">
              <a:ext uri="{FF2B5EF4-FFF2-40B4-BE49-F238E27FC236}">
                <a16:creationId xmlns:a16="http://schemas.microsoft.com/office/drawing/2014/main" id="{591B1B9D-449C-408A-A0A7-D2883F304FB8}"/>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단일 컨테이너 · 외부 8100 / 내부 8099 · 영속 볼륨</a:t>
            </a:r>
          </a:p>
        </p:txBody>
      </p:sp>
      <p:sp>
        <p:nvSpPr>
          <p:cNvPr id="4" name="">
            <a:extLst xmlns:a="http://schemas.openxmlformats.org/drawingml/2006/main">
              <a:ext uri="{FF2B5EF4-FFF2-40B4-BE49-F238E27FC236}">
                <a16:creationId xmlns:a16="http://schemas.microsoft.com/office/drawing/2014/main" id="{AFAB3DF2-D799-4238-8122-9E072368E18B}"/>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14</a:t>
            </a:r>
          </a:p>
        </p:txBody>
      </p:sp>
      <p:sp>
        <p:nvSpPr>
          <p:cNvPr id="5" name="">
            <a:extLst xmlns:a="http://schemas.openxmlformats.org/drawingml/2006/main">
              <a:ext uri="{FF2B5EF4-FFF2-40B4-BE49-F238E27FC236}">
                <a16:creationId xmlns:a16="http://schemas.microsoft.com/office/drawing/2014/main" id="{409A94E3-C313-47E3-B18D-6B9440789264}"/>
              </a:ext>
            </a:extLst>
          </p:cNvPr>
          <p:cNvSpPr>
            <a:spLocks xmlns:a="http://schemas.openxmlformats.org/drawingml/2006/main" noGrp="1"/>
          </p:cNvSpPr>
          <p:nvPr/>
        </p:nvSpPr>
        <p:spPr>
          <a:xfrm xmlns:a="http://schemas.openxmlformats.org/drawingml/2006/main">
            <a:off x="1847850" y="1609725"/>
            <a:ext cx="6838950" cy="2667000"/>
          </a:xfrm>
          <a:prstGeom xmlns:a="http://schemas.openxmlformats.org/drawingml/2006/main" prst="rect">
            <a:avLst/>
          </a:prstGeom>
          <a:solidFill xmlns:a="http://schemas.openxmlformats.org/drawingml/2006/main">
            <a:srgbClr val="F0F5F1"/>
          </a:solidFill>
          <a:ln xmlns:a="http://schemas.openxmlformats.org/drawingml/2006/main" w="9525">
            <a:solidFill>
              <a:srgbClr val="007D68"/>
            </a:solidFill>
          </a:ln>
        </p:spPr>
      </p:sp>
      <p:sp>
        <p:nvSpPr>
          <p:cNvPr id="6" name="">
            <a:extLst xmlns:a="http://schemas.openxmlformats.org/drawingml/2006/main">
              <a:ext uri="{FF2B5EF4-FFF2-40B4-BE49-F238E27FC236}">
                <a16:creationId xmlns:a16="http://schemas.microsoft.com/office/drawing/2014/main" id="{93010821-3A96-4513-898B-C0B04F009005}"/>
              </a:ext>
            </a:extLst>
          </p:cNvPr>
          <p:cNvSpPr>
            <a:spLocks xmlns:a="http://schemas.openxmlformats.org/drawingml/2006/main" noGrp="1"/>
          </p:cNvSpPr>
          <p:nvPr/>
        </p:nvSpPr>
        <p:spPr>
          <a:xfrm xmlns:a="http://schemas.openxmlformats.org/drawingml/2006/main">
            <a:off x="2000250" y="1724025"/>
            <a:ext cx="647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1">
                <a:solidFill>
                  <a:srgbClr val="007D68"/>
                </a:solidFill>
                <a:latin typeface="NanumGothic"/>
                <a:ea typeface="NanumGothic"/>
                <a:cs typeface="NanumGothic"/>
              </a:defRPr>
            </a:defPPr>
          </a:lstStyle>
          <a:p xmlns:a="http://schemas.openxmlformats.org/drawingml/2006/main">
            <a:pPr>
              <a:buNone/>
              <a:defRPr sz="1200" b="1">
                <a:solidFill>
                  <a:srgbClr val="007D68"/>
                </a:solidFill>
                <a:latin typeface="NanumGothic"/>
                <a:ea typeface="NanumGothic"/>
                <a:cs typeface="NanumGothic"/>
              </a:defRPr>
            </a:pPr>
            <a:r>
              <a:rPr sz="1200" b="1">
                <a:solidFill>
                  <a:srgbClr val="007D68"/>
                </a:solidFill>
                <a:latin typeface="NanumGothic"/>
                <a:ea typeface="NanumGothic"/>
                <a:cs typeface="NanumGothic"/>
              </a:rPr>
              <a:t>Docker Compose · serving-app</a:t>
            </a:r>
          </a:p>
        </p:txBody>
      </p:sp>
      <p:sp>
        <p:nvSpPr>
          <p:cNvPr id="7" name="">
            <a:extLst xmlns:a="http://schemas.openxmlformats.org/drawingml/2006/main">
              <a:ext uri="{FF2B5EF4-FFF2-40B4-BE49-F238E27FC236}">
                <a16:creationId xmlns:a16="http://schemas.microsoft.com/office/drawing/2014/main" id="{8E819A43-4F08-47AA-9C75-28C0C15F5709}"/>
              </a:ext>
            </a:extLst>
          </p:cNvPr>
          <p:cNvSpPr>
            <a:spLocks xmlns:a="http://schemas.openxmlformats.org/drawingml/2006/main" noGrp="1"/>
          </p:cNvSpPr>
          <p:nvPr/>
        </p:nvSpPr>
        <p:spPr>
          <a:xfrm xmlns:a="http://schemas.openxmlformats.org/drawingml/2006/main">
            <a:off x="571500" y="2276475"/>
            <a:ext cx="1190625" cy="800100"/>
          </a:xfrm>
          <a:prstGeom xmlns:a="http://schemas.openxmlformats.org/drawingml/2006/main" prst="rect">
            <a:avLst/>
          </a:prstGeom>
          <a:solidFill xmlns:a="http://schemas.openxmlformats.org/drawingml/2006/main">
            <a:srgbClr val="FFFFFF"/>
          </a:solidFill>
          <a:ln xmlns:a="http://schemas.openxmlformats.org/drawingml/2006/main" w="11430">
            <a:solidFill>
              <a:srgbClr val="CED8D5"/>
            </a:solidFill>
          </a:ln>
        </p:spPr>
        <p:txBody>
          <a:bodyPr xmlns:a="http://schemas.openxmlformats.org/drawingml/2006/main" anchor="ctr"/>
          <a:lstStyle xmlns:a="http://schemas.openxmlformats.org/drawingml/2006/main">
            <a:defPPr algn="ctr">
              <a:defRPr sz="1350" b="1">
                <a:solidFill>
                  <a:srgbClr val="222A2D"/>
                </a:solidFill>
                <a:latin typeface="NanumGothic"/>
                <a:ea typeface="NanumGothic"/>
                <a:cs typeface="NanumGothic"/>
              </a:defRPr>
            </a:defPPr>
          </a:lstStyle>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CSV + manifest</a:t>
            </a:r>
          </a:p>
        </p:txBody>
      </p:sp>
      <p:sp>
        <p:nvSpPr>
          <p:cNvPr id="8" name="">
            <a:extLst xmlns:a="http://schemas.openxmlformats.org/drawingml/2006/main">
              <a:ext uri="{FF2B5EF4-FFF2-40B4-BE49-F238E27FC236}">
                <a16:creationId xmlns:a16="http://schemas.microsoft.com/office/drawing/2014/main" id="{3CEF1F41-871D-4D65-BD5A-B5E735387F2B}"/>
              </a:ext>
            </a:extLst>
          </p:cNvPr>
          <p:cNvSpPr>
            <a:spLocks xmlns:a="http://schemas.openxmlformats.org/drawingml/2006/main" noGrp="1"/>
          </p:cNvSpPr>
          <p:nvPr/>
        </p:nvSpPr>
        <p:spPr>
          <a:xfrm xmlns:a="http://schemas.openxmlformats.org/drawingml/2006/main">
            <a:off x="1933575" y="2276475"/>
            <a:ext cx="1190625" cy="800100"/>
          </a:xfrm>
          <a:prstGeom xmlns:a="http://schemas.openxmlformats.org/drawingml/2006/main" prst="rect">
            <a:avLst/>
          </a:prstGeom>
          <a:solidFill xmlns:a="http://schemas.openxmlformats.org/drawingml/2006/main">
            <a:srgbClr val="E5F0EB"/>
          </a:solidFill>
          <a:ln xmlns:a="http://schemas.openxmlformats.org/drawingml/2006/main" w="11430">
            <a:solidFill>
              <a:srgbClr val="007D68"/>
            </a:solidFill>
          </a:ln>
        </p:spPr>
        <p:txBody>
          <a:bodyPr xmlns:a="http://schemas.openxmlformats.org/drawingml/2006/main" anchor="ctr"/>
          <a:lstStyle xmlns:a="http://schemas.openxmlformats.org/drawingml/2006/main">
            <a:defPPr algn="ctr">
              <a:defRPr sz="1350" b="1">
                <a:solidFill>
                  <a:srgbClr val="007D68"/>
                </a:solidFill>
                <a:latin typeface="NanumGothic"/>
                <a:ea typeface="NanumGothic"/>
                <a:cs typeface="NanumGothic"/>
              </a:defRPr>
            </a:defPPr>
          </a:lstStyle>
          <a:p xmlns:a="http://schemas.openxmlformats.org/drawingml/2006/main">
            <a:pPr algn="ctr">
              <a:buNone/>
              <a:defRPr sz="1350" b="1">
                <a:solidFill>
                  <a:srgbClr val="007D68"/>
                </a:solidFill>
                <a:latin typeface="NanumGothic"/>
                <a:ea typeface="NanumGothic"/>
                <a:cs typeface="NanumGothic"/>
              </a:defRPr>
            </a:pPr>
            <a:r>
              <a:rPr sz="1350" b="1">
                <a:solidFill>
                  <a:srgbClr val="007D68"/>
                </a:solidFill>
                <a:latin typeface="NanumGothic"/>
                <a:ea typeface="NanumGothic"/>
                <a:cs typeface="NanumGothic"/>
              </a:rPr>
              <a:t>FastAPI</a:t>
            </a:r>
          </a:p>
          <a:p xmlns:a="http://schemas.openxmlformats.org/drawingml/2006/main">
            <a:pPr algn="ctr">
              <a:buNone/>
              <a:defRPr sz="1350" b="1">
                <a:solidFill>
                  <a:srgbClr val="007D68"/>
                </a:solidFill>
                <a:latin typeface="NanumGothic"/>
                <a:ea typeface="NanumGothic"/>
                <a:cs typeface="NanumGothic"/>
              </a:defRPr>
            </a:pPr>
            <a:r>
              <a:rPr sz="1350" b="1">
                <a:solidFill>
                  <a:srgbClr val="007D68"/>
                </a:solidFill>
                <a:latin typeface="NanumGothic"/>
                <a:ea typeface="NanumGothic"/>
                <a:cs typeface="NanumGothic"/>
              </a:rPr>
              <a:t>업로드·검증</a:t>
            </a:r>
          </a:p>
        </p:txBody>
      </p:sp>
      <p:cxnSp>
        <p:nvCxnSpPr>
          <p:cNvPr id="9" name="">
            <a:extLst xmlns:a="http://schemas.openxmlformats.org/drawingml/2006/main">
              <a:ext uri="{FF2B5EF4-FFF2-40B4-BE49-F238E27FC236}">
                <a16:creationId xmlns:a16="http://schemas.microsoft.com/office/drawing/2014/main" id="{27B483C6-BAC5-4E13-85D0-DB8BF6D8D17E}"/>
              </a:ext>
            </a:extLst>
          </p:cNvPr>
          <p:cNvCxnSpPr>
            <a:stCxn xmlns:a="http://schemas.openxmlformats.org/drawingml/2006/main" id="7" idx="3"/>
            <a:endCxn xmlns:a="http://schemas.openxmlformats.org/drawingml/2006/main" id="8" idx="1"/>
          </p:cNvCxnSpPr>
          <p:nvPr/>
        </p:nvCxnSpPr>
        <p:spPr>
          <a:xfrm xmlns:a="http://schemas.openxmlformats.org/drawingml/2006/main">
            <a:off x="1762125" y="2676525"/>
            <a:ext cx="171450" cy="0"/>
          </a:xfrm>
          <a:prstGeom xmlns:a="http://schemas.openxmlformats.org/drawingml/2006/main" prst="straightConnector1">
            <a:avLst/>
          </a:prstGeom>
          <a:ln xmlns:a="http://schemas.openxmlformats.org/drawingml/2006/main" w="16193">
            <a:solidFill>
              <a:srgbClr val="007D68"/>
            </a:solidFill>
            <a:prstDash val="solid"/>
            <a:tailEnd type="triangle" w="med" len="med"/>
          </a:ln>
        </p:spPr>
      </p:cxnSp>
      <p:sp>
        <p:nvSpPr>
          <p:cNvPr id="10" name="">
            <a:extLst xmlns:a="http://schemas.openxmlformats.org/drawingml/2006/main">
              <a:ext uri="{FF2B5EF4-FFF2-40B4-BE49-F238E27FC236}">
                <a16:creationId xmlns:a16="http://schemas.microsoft.com/office/drawing/2014/main" id="{F2B87B18-7DEE-4956-B904-4F130729F05B}"/>
              </a:ext>
            </a:extLst>
          </p:cNvPr>
          <p:cNvSpPr>
            <a:spLocks xmlns:a="http://schemas.openxmlformats.org/drawingml/2006/main" noGrp="1"/>
          </p:cNvSpPr>
          <p:nvPr/>
        </p:nvSpPr>
        <p:spPr>
          <a:xfrm xmlns:a="http://schemas.openxmlformats.org/drawingml/2006/main">
            <a:off x="3295650" y="2276475"/>
            <a:ext cx="1190625" cy="800100"/>
          </a:xfrm>
          <a:prstGeom xmlns:a="http://schemas.openxmlformats.org/drawingml/2006/main" prst="rect">
            <a:avLst/>
          </a:prstGeom>
          <a:solidFill xmlns:a="http://schemas.openxmlformats.org/drawingml/2006/main">
            <a:srgbClr val="FFFFFF"/>
          </a:solidFill>
          <a:ln xmlns:a="http://schemas.openxmlformats.org/drawingml/2006/main" w="11430">
            <a:solidFill>
              <a:srgbClr val="CED8D5"/>
            </a:solidFill>
          </a:ln>
        </p:spPr>
        <p:txBody>
          <a:bodyPr xmlns:a="http://schemas.openxmlformats.org/drawingml/2006/main" anchor="ctr"/>
          <a:lstStyle xmlns:a="http://schemas.openxmlformats.org/drawingml/2006/main">
            <a:defPPr algn="ctr">
              <a:defRPr sz="1350" b="1">
                <a:solidFill>
                  <a:srgbClr val="222A2D"/>
                </a:solidFill>
                <a:latin typeface="NanumGothic"/>
                <a:ea typeface="NanumGothic"/>
                <a:cs typeface="NanumGothic"/>
              </a:defRPr>
            </a:defPPr>
          </a:lstStyle>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worker</a:t>
            </a:r>
          </a:p>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모델 학습</a:t>
            </a:r>
          </a:p>
        </p:txBody>
      </p:sp>
      <p:cxnSp>
        <p:nvCxnSpPr>
          <p:cNvPr id="11" name="">
            <a:extLst xmlns:a="http://schemas.openxmlformats.org/drawingml/2006/main">
              <a:ext uri="{FF2B5EF4-FFF2-40B4-BE49-F238E27FC236}">
                <a16:creationId xmlns:a16="http://schemas.microsoft.com/office/drawing/2014/main" id="{3A38A370-C30D-44FA-B9B0-593171C6864E}"/>
              </a:ext>
            </a:extLst>
          </p:cNvPr>
          <p:cNvCxnSpPr>
            <a:stCxn xmlns:a="http://schemas.openxmlformats.org/drawingml/2006/main" id="8" idx="3"/>
            <a:endCxn xmlns:a="http://schemas.openxmlformats.org/drawingml/2006/main" id="10" idx="1"/>
          </p:cNvCxnSpPr>
          <p:nvPr/>
        </p:nvCxnSpPr>
        <p:spPr>
          <a:xfrm xmlns:a="http://schemas.openxmlformats.org/drawingml/2006/main">
            <a:off x="3124200" y="2676525"/>
            <a:ext cx="171450" cy="0"/>
          </a:xfrm>
          <a:prstGeom xmlns:a="http://schemas.openxmlformats.org/drawingml/2006/main" prst="straightConnector1">
            <a:avLst/>
          </a:prstGeom>
          <a:ln xmlns:a="http://schemas.openxmlformats.org/drawingml/2006/main" w="16193">
            <a:solidFill>
              <a:srgbClr val="007D68"/>
            </a:solidFill>
            <a:prstDash val="solid"/>
            <a:tailEnd type="triangle" w="med" len="med"/>
          </a:ln>
        </p:spPr>
      </p:cxnSp>
      <p:sp>
        <p:nvSpPr>
          <p:cNvPr id="12" name="">
            <a:extLst xmlns:a="http://schemas.openxmlformats.org/drawingml/2006/main">
              <a:ext uri="{FF2B5EF4-FFF2-40B4-BE49-F238E27FC236}">
                <a16:creationId xmlns:a16="http://schemas.microsoft.com/office/drawing/2014/main" id="{5C5092CA-6C36-4FF8-A104-BF17AFCB4BA5}"/>
              </a:ext>
            </a:extLst>
          </p:cNvPr>
          <p:cNvSpPr>
            <a:spLocks xmlns:a="http://schemas.openxmlformats.org/drawingml/2006/main" noGrp="1"/>
          </p:cNvSpPr>
          <p:nvPr/>
        </p:nvSpPr>
        <p:spPr>
          <a:xfrm xmlns:a="http://schemas.openxmlformats.org/drawingml/2006/main">
            <a:off x="4657725" y="2276475"/>
            <a:ext cx="1190625" cy="800100"/>
          </a:xfrm>
          <a:prstGeom xmlns:a="http://schemas.openxmlformats.org/drawingml/2006/main" prst="rect">
            <a:avLst/>
          </a:prstGeom>
          <a:solidFill xmlns:a="http://schemas.openxmlformats.org/drawingml/2006/main">
            <a:srgbClr val="FFFFFF"/>
          </a:solidFill>
          <a:ln xmlns:a="http://schemas.openxmlformats.org/drawingml/2006/main" w="11430">
            <a:solidFill>
              <a:srgbClr val="CED8D5"/>
            </a:solidFill>
          </a:ln>
        </p:spPr>
        <p:txBody>
          <a:bodyPr xmlns:a="http://schemas.openxmlformats.org/drawingml/2006/main" anchor="ctr"/>
          <a:lstStyle xmlns:a="http://schemas.openxmlformats.org/drawingml/2006/main">
            <a:defPPr algn="ctr">
              <a:defRPr sz="1350" b="1">
                <a:solidFill>
                  <a:srgbClr val="222A2D"/>
                </a:solidFill>
                <a:latin typeface="NanumGothic"/>
                <a:ea typeface="NanumGothic"/>
                <a:cs typeface="NanumGothic"/>
              </a:defRPr>
            </a:defPPr>
          </a:lstStyle>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MLflow</a:t>
            </a:r>
          </a:p>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모델 등록</a:t>
            </a:r>
          </a:p>
        </p:txBody>
      </p:sp>
      <p:cxnSp>
        <p:nvCxnSpPr>
          <p:cNvPr id="13" name="">
            <a:extLst xmlns:a="http://schemas.openxmlformats.org/drawingml/2006/main">
              <a:ext uri="{FF2B5EF4-FFF2-40B4-BE49-F238E27FC236}">
                <a16:creationId xmlns:a16="http://schemas.microsoft.com/office/drawing/2014/main" id="{47F4D33F-DA6A-473C-A237-EB4734173561}"/>
              </a:ext>
            </a:extLst>
          </p:cNvPr>
          <p:cNvCxnSpPr>
            <a:stCxn xmlns:a="http://schemas.openxmlformats.org/drawingml/2006/main" id="10" idx="3"/>
            <a:endCxn xmlns:a="http://schemas.openxmlformats.org/drawingml/2006/main" id="12" idx="1"/>
          </p:cNvCxnSpPr>
          <p:nvPr/>
        </p:nvCxnSpPr>
        <p:spPr>
          <a:xfrm xmlns:a="http://schemas.openxmlformats.org/drawingml/2006/main">
            <a:off x="4486275" y="2676525"/>
            <a:ext cx="171450" cy="0"/>
          </a:xfrm>
          <a:prstGeom xmlns:a="http://schemas.openxmlformats.org/drawingml/2006/main" prst="straightConnector1">
            <a:avLst/>
          </a:prstGeom>
          <a:ln xmlns:a="http://schemas.openxmlformats.org/drawingml/2006/main" w="16193">
            <a:solidFill>
              <a:srgbClr val="007D68"/>
            </a:solidFill>
            <a:prstDash val="solid"/>
            <a:tailEnd type="triangle" w="med" len="med"/>
          </a:ln>
        </p:spPr>
      </p:cxnSp>
      <p:sp>
        <p:nvSpPr>
          <p:cNvPr id="14" name="">
            <a:extLst xmlns:a="http://schemas.openxmlformats.org/drawingml/2006/main">
              <a:ext uri="{FF2B5EF4-FFF2-40B4-BE49-F238E27FC236}">
                <a16:creationId xmlns:a16="http://schemas.microsoft.com/office/drawing/2014/main" id="{3698ECCF-6C53-4E45-BB76-023067D08407}"/>
              </a:ext>
            </a:extLst>
          </p:cNvPr>
          <p:cNvSpPr>
            <a:spLocks xmlns:a="http://schemas.openxmlformats.org/drawingml/2006/main" noGrp="1"/>
          </p:cNvSpPr>
          <p:nvPr/>
        </p:nvSpPr>
        <p:spPr>
          <a:xfrm xmlns:a="http://schemas.openxmlformats.org/drawingml/2006/main">
            <a:off x="6019800" y="2276475"/>
            <a:ext cx="1190625" cy="800100"/>
          </a:xfrm>
          <a:prstGeom xmlns:a="http://schemas.openxmlformats.org/drawingml/2006/main" prst="rect">
            <a:avLst/>
          </a:prstGeom>
          <a:solidFill xmlns:a="http://schemas.openxmlformats.org/drawingml/2006/main">
            <a:srgbClr val="E5F0EB"/>
          </a:solidFill>
          <a:ln xmlns:a="http://schemas.openxmlformats.org/drawingml/2006/main" w="11430">
            <a:solidFill>
              <a:srgbClr val="007D68"/>
            </a:solidFill>
          </a:ln>
        </p:spPr>
        <p:txBody>
          <a:bodyPr xmlns:a="http://schemas.openxmlformats.org/drawingml/2006/main" anchor="ctr"/>
          <a:lstStyle xmlns:a="http://schemas.openxmlformats.org/drawingml/2006/main">
            <a:defPPr algn="ctr">
              <a:defRPr sz="1350" b="1">
                <a:solidFill>
                  <a:srgbClr val="007D68"/>
                </a:solidFill>
                <a:latin typeface="NanumGothic"/>
                <a:ea typeface="NanumGothic"/>
                <a:cs typeface="NanumGothic"/>
              </a:defRPr>
            </a:defPPr>
          </a:lstStyle>
          <a:p xmlns:a="http://schemas.openxmlformats.org/drawingml/2006/main">
            <a:pPr algn="ctr">
              <a:buNone/>
              <a:defRPr sz="1350" b="1">
                <a:solidFill>
                  <a:srgbClr val="007D68"/>
                </a:solidFill>
                <a:latin typeface="NanumGothic"/>
                <a:ea typeface="NanumGothic"/>
                <a:cs typeface="NanumGothic"/>
              </a:defRPr>
            </a:pPr>
            <a:r>
              <a:rPr sz="1350" b="1">
                <a:solidFill>
                  <a:srgbClr val="007D68"/>
                </a:solidFill>
                <a:latin typeface="NanumGothic"/>
                <a:ea typeface="NanumGothic"/>
                <a:cs typeface="NanumGothic"/>
              </a:rPr>
              <a:t>FastAPI</a:t>
            </a:r>
          </a:p>
          <a:p xmlns:a="http://schemas.openxmlformats.org/drawingml/2006/main">
            <a:pPr algn="ctr">
              <a:buNone/>
              <a:defRPr sz="1350" b="1">
                <a:solidFill>
                  <a:srgbClr val="007D68"/>
                </a:solidFill>
                <a:latin typeface="NanumGothic"/>
                <a:ea typeface="NanumGothic"/>
                <a:cs typeface="NanumGothic"/>
              </a:defRPr>
            </a:pPr>
            <a:r>
              <a:rPr sz="1350" b="1">
                <a:solidFill>
                  <a:srgbClr val="007D68"/>
                </a:solidFill>
                <a:latin typeface="NanumGothic"/>
                <a:ea typeface="NanumGothic"/>
                <a:cs typeface="NanumGothic"/>
              </a:rPr>
              <a:t>모델 서빙</a:t>
            </a:r>
          </a:p>
        </p:txBody>
      </p:sp>
      <p:cxnSp>
        <p:nvCxnSpPr>
          <p:cNvPr id="15" name="">
            <a:extLst xmlns:a="http://schemas.openxmlformats.org/drawingml/2006/main">
              <a:ext uri="{FF2B5EF4-FFF2-40B4-BE49-F238E27FC236}">
                <a16:creationId xmlns:a16="http://schemas.microsoft.com/office/drawing/2014/main" id="{348A3F3D-DC5D-445D-90B3-82EF8B833D96}"/>
              </a:ext>
            </a:extLst>
          </p:cNvPr>
          <p:cNvCxnSpPr>
            <a:stCxn xmlns:a="http://schemas.openxmlformats.org/drawingml/2006/main" id="12" idx="3"/>
            <a:endCxn xmlns:a="http://schemas.openxmlformats.org/drawingml/2006/main" id="14" idx="1"/>
          </p:cNvCxnSpPr>
          <p:nvPr/>
        </p:nvCxnSpPr>
        <p:spPr>
          <a:xfrm xmlns:a="http://schemas.openxmlformats.org/drawingml/2006/main">
            <a:off x="5848350" y="2676525"/>
            <a:ext cx="171450" cy="0"/>
          </a:xfrm>
          <a:prstGeom xmlns:a="http://schemas.openxmlformats.org/drawingml/2006/main" prst="straightConnector1">
            <a:avLst/>
          </a:prstGeom>
          <a:ln xmlns:a="http://schemas.openxmlformats.org/drawingml/2006/main" w="16193">
            <a:solidFill>
              <a:srgbClr val="007D68"/>
            </a:solidFill>
            <a:prstDash val="solid"/>
            <a:tailEnd type="triangle" w="med" len="med"/>
          </a:ln>
        </p:spPr>
      </p:cxnSp>
      <p:sp>
        <p:nvSpPr>
          <p:cNvPr id="16" name="">
            <a:extLst xmlns:a="http://schemas.openxmlformats.org/drawingml/2006/main">
              <a:ext uri="{FF2B5EF4-FFF2-40B4-BE49-F238E27FC236}">
                <a16:creationId xmlns:a16="http://schemas.microsoft.com/office/drawing/2014/main" id="{ADC7E328-E317-4CF9-8289-7FD64779CB21}"/>
              </a:ext>
            </a:extLst>
          </p:cNvPr>
          <p:cNvSpPr>
            <a:spLocks xmlns:a="http://schemas.openxmlformats.org/drawingml/2006/main" noGrp="1"/>
          </p:cNvSpPr>
          <p:nvPr/>
        </p:nvSpPr>
        <p:spPr>
          <a:xfrm xmlns:a="http://schemas.openxmlformats.org/drawingml/2006/main">
            <a:off x="7381875" y="2276475"/>
            <a:ext cx="1190625" cy="800100"/>
          </a:xfrm>
          <a:prstGeom xmlns:a="http://schemas.openxmlformats.org/drawingml/2006/main" prst="rect">
            <a:avLst/>
          </a:prstGeom>
          <a:solidFill xmlns:a="http://schemas.openxmlformats.org/drawingml/2006/main">
            <a:srgbClr val="FFFFFF"/>
          </a:solidFill>
          <a:ln xmlns:a="http://schemas.openxmlformats.org/drawingml/2006/main" w="11430">
            <a:solidFill>
              <a:srgbClr val="CED8D5"/>
            </a:solidFill>
          </a:ln>
        </p:spPr>
        <p:txBody>
          <a:bodyPr xmlns:a="http://schemas.openxmlformats.org/drawingml/2006/main" anchor="ctr"/>
          <a:lstStyle xmlns:a="http://schemas.openxmlformats.org/drawingml/2006/main">
            <a:defPPr algn="ctr">
              <a:defRPr sz="1350" b="1">
                <a:solidFill>
                  <a:srgbClr val="222A2D"/>
                </a:solidFill>
                <a:latin typeface="NanumGothic"/>
                <a:ea typeface="NanumGothic"/>
                <a:cs typeface="NanumGothic"/>
              </a:defRPr>
            </a:defPPr>
          </a:lstStyle>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SQLite</a:t>
            </a:r>
          </a:p>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예측·로그</a:t>
            </a:r>
          </a:p>
        </p:txBody>
      </p:sp>
      <p:cxnSp>
        <p:nvCxnSpPr>
          <p:cNvPr id="17" name="">
            <a:extLst xmlns:a="http://schemas.openxmlformats.org/drawingml/2006/main">
              <a:ext uri="{FF2B5EF4-FFF2-40B4-BE49-F238E27FC236}">
                <a16:creationId xmlns:a16="http://schemas.microsoft.com/office/drawing/2014/main" id="{439D37F4-E0D5-4D1B-ABA4-12AE48D50BFC}"/>
              </a:ext>
            </a:extLst>
          </p:cNvPr>
          <p:cNvCxnSpPr>
            <a:stCxn xmlns:a="http://schemas.openxmlformats.org/drawingml/2006/main" id="14" idx="3"/>
            <a:endCxn xmlns:a="http://schemas.openxmlformats.org/drawingml/2006/main" id="16" idx="1"/>
          </p:cNvCxnSpPr>
          <p:nvPr/>
        </p:nvCxnSpPr>
        <p:spPr>
          <a:xfrm xmlns:a="http://schemas.openxmlformats.org/drawingml/2006/main">
            <a:off x="7210425" y="2676525"/>
            <a:ext cx="171450" cy="0"/>
          </a:xfrm>
          <a:prstGeom xmlns:a="http://schemas.openxmlformats.org/drawingml/2006/main" prst="straightConnector1">
            <a:avLst/>
          </a:prstGeom>
          <a:ln xmlns:a="http://schemas.openxmlformats.org/drawingml/2006/main" w="16193">
            <a:solidFill>
              <a:srgbClr val="007D68"/>
            </a:solidFill>
            <a:prstDash val="solid"/>
            <a:tailEnd type="triangle" w="med" len="med"/>
          </a:ln>
        </p:spPr>
      </p:cxnSp>
      <p:sp>
        <p:nvSpPr>
          <p:cNvPr id="18" name="">
            <a:extLst xmlns:a="http://schemas.openxmlformats.org/drawingml/2006/main">
              <a:ext uri="{FF2B5EF4-FFF2-40B4-BE49-F238E27FC236}">
                <a16:creationId xmlns:a16="http://schemas.microsoft.com/office/drawing/2014/main" id="{1C1F79BF-3416-4DCC-8780-A84ED6645914}"/>
              </a:ext>
            </a:extLst>
          </p:cNvPr>
          <p:cNvSpPr>
            <a:spLocks xmlns:a="http://schemas.openxmlformats.org/drawingml/2006/main" noGrp="1"/>
          </p:cNvSpPr>
          <p:nvPr/>
        </p:nvSpPr>
        <p:spPr>
          <a:xfrm xmlns:a="http://schemas.openxmlformats.org/drawingml/2006/main">
            <a:off x="571500" y="3476625"/>
            <a:ext cx="1524000" cy="590550"/>
          </a:xfrm>
          <a:prstGeom xmlns:a="http://schemas.openxmlformats.org/drawingml/2006/main" prst="rect">
            <a:avLst/>
          </a:prstGeom>
          <a:solidFill xmlns:a="http://schemas.openxmlformats.org/drawingml/2006/main">
            <a:srgbClr val="E5F0EB"/>
          </a:solidFill>
          <a:ln xmlns:a="http://schemas.openxmlformats.org/drawingml/2006/main" w="11430">
            <a:solidFill>
              <a:srgbClr val="007D68"/>
            </a:solidFill>
          </a:ln>
        </p:spPr>
        <p:txBody>
          <a:bodyPr xmlns:a="http://schemas.openxmlformats.org/drawingml/2006/main" anchor="ctr"/>
          <a:lstStyle xmlns:a="http://schemas.openxmlformats.org/drawingml/2006/main">
            <a:defPPr algn="ctr">
              <a:defRPr sz="1350" b="1">
                <a:solidFill>
                  <a:srgbClr val="007D68"/>
                </a:solidFill>
                <a:latin typeface="NanumGothic"/>
                <a:ea typeface="NanumGothic"/>
                <a:cs typeface="NanumGothic"/>
              </a:defRPr>
            </a:defPPr>
          </a:lstStyle>
          <a:p xmlns:a="http://schemas.openxmlformats.org/drawingml/2006/main">
            <a:pPr algn="ctr">
              <a:buNone/>
              <a:defRPr sz="1350" b="1">
                <a:solidFill>
                  <a:srgbClr val="007D68"/>
                </a:solidFill>
                <a:latin typeface="NanumGothic"/>
                <a:ea typeface="NanumGothic"/>
                <a:cs typeface="NanumGothic"/>
              </a:defRPr>
            </a:pPr>
            <a:r>
              <a:rPr sz="1350" b="1">
                <a:solidFill>
                  <a:srgbClr val="007D68"/>
                </a:solidFill>
                <a:latin typeface="NanumGothic"/>
                <a:ea typeface="NanumGothic"/>
                <a:cs typeface="NanumGothic"/>
              </a:rPr>
              <a:t>사용자 대시보드</a:t>
            </a:r>
          </a:p>
        </p:txBody>
      </p:sp>
      <p:cxnSp>
        <p:nvCxnSpPr>
          <p:cNvPr id="19" name="">
            <a:extLst xmlns:a="http://schemas.openxmlformats.org/drawingml/2006/main">
              <a:ext uri="{FF2B5EF4-FFF2-40B4-BE49-F238E27FC236}">
                <a16:creationId xmlns:a16="http://schemas.microsoft.com/office/drawing/2014/main" id="{C05C509F-83C9-495B-B415-BF187C1ED69C}"/>
              </a:ext>
            </a:extLst>
          </p:cNvPr>
          <p:cNvCxnSpPr>
            <a:stCxn xmlns:a="http://schemas.openxmlformats.org/drawingml/2006/main" id="18" idx="3"/>
            <a:endCxn xmlns:a="http://schemas.openxmlformats.org/drawingml/2006/main" id="14" idx="2"/>
          </p:cNvCxnSpPr>
          <p:nvPr/>
        </p:nvCxnSpPr>
        <p:spPr>
          <a:xfrm xmlns:a="http://schemas.openxmlformats.org/drawingml/2006/main" flipV="1">
            <a:off x="2095500" y="3076575"/>
            <a:ext cx="4519613" cy="695325"/>
          </a:xfrm>
          <a:prstGeom xmlns:a="http://schemas.openxmlformats.org/drawingml/2006/main" prst="bentConnector2">
            <a:avLst/>
          </a:prstGeom>
          <a:ln xmlns:a="http://schemas.openxmlformats.org/drawingml/2006/main" w="16193">
            <a:solidFill>
              <a:srgbClr val="007D68"/>
            </a:solidFill>
            <a:prstDash val="solid"/>
            <a:tailEnd type="triangle" w="med" len="med"/>
          </a:ln>
        </p:spPr>
      </p:cxnSp>
      <p:sp>
        <p:nvSpPr>
          <p:cNvPr id="20" name="">
            <a:extLst xmlns:a="http://schemas.openxmlformats.org/drawingml/2006/main">
              <a:ext uri="{FF2B5EF4-FFF2-40B4-BE49-F238E27FC236}">
                <a16:creationId xmlns:a16="http://schemas.microsoft.com/office/drawing/2014/main" id="{85627CBD-AD5F-4367-A49D-3D8C5EBFAE65}"/>
              </a:ext>
            </a:extLst>
          </p:cNvPr>
          <p:cNvSpPr>
            <a:spLocks xmlns:a="http://schemas.openxmlformats.org/drawingml/2006/main" noGrp="1"/>
          </p:cNvSpPr>
          <p:nvPr/>
        </p:nvSpPr>
        <p:spPr>
          <a:xfrm xmlns:a="http://schemas.openxmlformats.org/drawingml/2006/main">
            <a:off x="3571875" y="3790950"/>
            <a:ext cx="4667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C686B"/>
                </a:solidFill>
                <a:latin typeface="NanumGothic"/>
                <a:ea typeface="NanumGothic"/>
                <a:cs typeface="NanumGothic"/>
              </a:defRPr>
            </a:defPPr>
          </a:lstStyle>
          <a:p xmlns:a="http://schemas.openxmlformats.org/drawingml/2006/main">
            <a:pPr>
              <a:buNone/>
              <a:defRPr sz="1350" b="0">
                <a:solidFill>
                  <a:srgbClr val="5C686B"/>
                </a:solidFill>
                <a:latin typeface="NanumGothic"/>
                <a:ea typeface="NanumGothic"/>
                <a:cs typeface="NanumGothic"/>
              </a:defRPr>
            </a:pPr>
            <a:r>
              <a:rPr sz="1350" b="0">
                <a:solidFill>
                  <a:srgbClr val="5C686B"/>
                </a:solidFill>
                <a:latin typeface="NanumGothic"/>
                <a:ea typeface="NanumGothic"/>
                <a:cs typeface="NanumGothic"/>
              </a:rPr>
              <a:t>자료 · 모델 · 작업 · 이벤트 보존</a:t>
            </a:r>
          </a:p>
        </p:txBody>
      </p:sp>
    </p:spTree>
    <p:extLst>
      <p:ext uri="{BB962C8B-B14F-4D97-AF65-F5344CB8AC3E}">
        <p14:creationId xmlns:p14="http://schemas.microsoft.com/office/powerpoint/2010/main" val="1388833075"/>
      </p:ext>
    </p:extLst>
  </p:cSld>
</p:sld>
</file>

<file path=ppt/slides/slide15.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CCCBFF6-A4A3-4177-9A39-9CDE2D891244}"/>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④ 아키텍처 구성도</a:t>
            </a:r>
          </a:p>
        </p:txBody>
      </p:sp>
      <p:sp>
        <p:nvSpPr>
          <p:cNvPr id="2" name="">
            <a:extLst xmlns:a="http://schemas.openxmlformats.org/drawingml/2006/main">
              <a:ext uri="{FF2B5EF4-FFF2-40B4-BE49-F238E27FC236}">
                <a16:creationId xmlns:a16="http://schemas.microsoft.com/office/drawing/2014/main" id="{53E4181B-58DB-4ADF-87C5-F81C0E9A14D5}"/>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예측 기록에서 재학습 트리거까지</a:t>
            </a:r>
          </a:p>
        </p:txBody>
      </p:sp>
      <p:sp>
        <p:nvSpPr>
          <p:cNvPr id="3" name="">
            <a:extLst xmlns:a="http://schemas.openxmlformats.org/drawingml/2006/main">
              <a:ext uri="{FF2B5EF4-FFF2-40B4-BE49-F238E27FC236}">
                <a16:creationId xmlns:a16="http://schemas.microsoft.com/office/drawing/2014/main" id="{A2EBBE91-C414-44FB-A314-4507F9EDAC7C}"/>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74DD81AE-2F60-4C76-955D-BE932508C9D9}"/>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15</a:t>
            </a:r>
          </a:p>
        </p:txBody>
      </p:sp>
      <p:sp>
        <p:nvSpPr>
          <p:cNvPr id="5" name="">
            <a:extLst xmlns:a="http://schemas.openxmlformats.org/drawingml/2006/main">
              <a:ext uri="{FF2B5EF4-FFF2-40B4-BE49-F238E27FC236}">
                <a16:creationId xmlns:a16="http://schemas.microsoft.com/office/drawing/2014/main" id="{E8009118-F919-4797-8952-4B4DE882AD0D}"/>
              </a:ext>
            </a:extLst>
          </p:cNvPr>
          <p:cNvSpPr>
            <a:spLocks xmlns:a="http://schemas.openxmlformats.org/drawingml/2006/main" noGrp="1"/>
          </p:cNvSpPr>
          <p:nvPr/>
        </p:nvSpPr>
        <p:spPr>
          <a:xfrm xmlns:a="http://schemas.openxmlformats.org/drawingml/2006/main">
            <a:off x="571500" y="2095500"/>
            <a:ext cx="1190625" cy="952500"/>
          </a:xfrm>
          <a:prstGeom xmlns:a="http://schemas.openxmlformats.org/drawingml/2006/main" prst="rect">
            <a:avLst/>
          </a:prstGeom>
          <a:solidFill xmlns:a="http://schemas.openxmlformats.org/drawingml/2006/main">
            <a:srgbClr val="FFFFFF"/>
          </a:solidFill>
          <a:ln xmlns:a="http://schemas.openxmlformats.org/drawingml/2006/main" w="11430">
            <a:solidFill>
              <a:srgbClr val="CED8D5"/>
            </a:solidFill>
          </a:ln>
        </p:spPr>
        <p:txBody>
          <a:bodyPr xmlns:a="http://schemas.openxmlformats.org/drawingml/2006/main" anchor="ctr"/>
          <a:lstStyle xmlns:a="http://schemas.openxmlformats.org/drawingml/2006/main">
            <a:defPPr algn="ctr">
              <a:defRPr sz="1350" b="1">
                <a:solidFill>
                  <a:srgbClr val="222A2D"/>
                </a:solidFill>
                <a:latin typeface="NanumGothic"/>
                <a:ea typeface="NanumGothic"/>
                <a:cs typeface="NanumGothic"/>
              </a:defRPr>
            </a:defPPr>
          </a:lstStyle>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예측 기록</a:t>
            </a:r>
          </a:p>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버전·대상일</a:t>
            </a:r>
          </a:p>
        </p:txBody>
      </p:sp>
      <p:sp>
        <p:nvSpPr>
          <p:cNvPr id="6" name="">
            <a:extLst xmlns:a="http://schemas.openxmlformats.org/drawingml/2006/main">
              <a:ext uri="{FF2B5EF4-FFF2-40B4-BE49-F238E27FC236}">
                <a16:creationId xmlns:a16="http://schemas.microsoft.com/office/drawing/2014/main" id="{5738322C-5542-4D2F-970B-25BCAAB3A36E}"/>
              </a:ext>
            </a:extLst>
          </p:cNvPr>
          <p:cNvSpPr>
            <a:spLocks xmlns:a="http://schemas.openxmlformats.org/drawingml/2006/main" noGrp="1"/>
          </p:cNvSpPr>
          <p:nvPr/>
        </p:nvSpPr>
        <p:spPr>
          <a:xfrm xmlns:a="http://schemas.openxmlformats.org/drawingml/2006/main">
            <a:off x="1933575" y="2095500"/>
            <a:ext cx="1190625" cy="952500"/>
          </a:xfrm>
          <a:prstGeom xmlns:a="http://schemas.openxmlformats.org/drawingml/2006/main" prst="rect">
            <a:avLst/>
          </a:prstGeom>
          <a:solidFill xmlns:a="http://schemas.openxmlformats.org/drawingml/2006/main">
            <a:srgbClr val="FFFFFF"/>
          </a:solidFill>
          <a:ln xmlns:a="http://schemas.openxmlformats.org/drawingml/2006/main" w="11430">
            <a:solidFill>
              <a:srgbClr val="CED8D5"/>
            </a:solidFill>
          </a:ln>
        </p:spPr>
        <p:txBody>
          <a:bodyPr xmlns:a="http://schemas.openxmlformats.org/drawingml/2006/main" anchor="ctr"/>
          <a:lstStyle xmlns:a="http://schemas.openxmlformats.org/drawingml/2006/main">
            <a:defPPr algn="ctr">
              <a:defRPr sz="1350" b="1">
                <a:solidFill>
                  <a:srgbClr val="222A2D"/>
                </a:solidFill>
                <a:latin typeface="NanumGothic"/>
                <a:ea typeface="NanumGothic"/>
                <a:cs typeface="NanumGothic"/>
              </a:defRPr>
            </a:defPPr>
          </a:lstStyle>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정답 도착</a:t>
            </a:r>
          </a:p>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관측값 저장</a:t>
            </a:r>
          </a:p>
        </p:txBody>
      </p:sp>
      <p:cxnSp>
        <p:nvCxnSpPr>
          <p:cNvPr id="7" name="">
            <a:extLst xmlns:a="http://schemas.openxmlformats.org/drawingml/2006/main">
              <a:ext uri="{FF2B5EF4-FFF2-40B4-BE49-F238E27FC236}">
                <a16:creationId xmlns:a16="http://schemas.microsoft.com/office/drawing/2014/main" id="{273DDC89-BC25-4939-A7E1-2866426C72F7}"/>
              </a:ext>
            </a:extLst>
          </p:cNvPr>
          <p:cNvCxnSpPr>
            <a:stCxn xmlns:a="http://schemas.openxmlformats.org/drawingml/2006/main" id="5" idx="3"/>
            <a:endCxn xmlns:a="http://schemas.openxmlformats.org/drawingml/2006/main" id="6" idx="1"/>
          </p:cNvCxnSpPr>
          <p:nvPr/>
        </p:nvCxnSpPr>
        <p:spPr>
          <a:xfrm xmlns:a="http://schemas.openxmlformats.org/drawingml/2006/main">
            <a:off x="1762125" y="2571750"/>
            <a:ext cx="171450" cy="0"/>
          </a:xfrm>
          <a:prstGeom xmlns:a="http://schemas.openxmlformats.org/drawingml/2006/main" prst="straightConnector1">
            <a:avLst/>
          </a:prstGeom>
          <a:ln xmlns:a="http://schemas.openxmlformats.org/drawingml/2006/main" w="16193">
            <a:solidFill>
              <a:srgbClr val="007D68"/>
            </a:solidFill>
            <a:prstDash val="solid"/>
            <a:tailEnd type="triangle" w="med" len="med"/>
          </a:ln>
        </p:spPr>
      </p:cxnSp>
      <p:sp>
        <p:nvSpPr>
          <p:cNvPr id="8" name="">
            <a:extLst xmlns:a="http://schemas.openxmlformats.org/drawingml/2006/main">
              <a:ext uri="{FF2B5EF4-FFF2-40B4-BE49-F238E27FC236}">
                <a16:creationId xmlns:a16="http://schemas.microsoft.com/office/drawing/2014/main" id="{5A095A3E-B19B-45F6-A5CE-57526712934B}"/>
              </a:ext>
            </a:extLst>
          </p:cNvPr>
          <p:cNvSpPr>
            <a:spLocks xmlns:a="http://schemas.openxmlformats.org/drawingml/2006/main" noGrp="1"/>
          </p:cNvSpPr>
          <p:nvPr/>
        </p:nvSpPr>
        <p:spPr>
          <a:xfrm xmlns:a="http://schemas.openxmlformats.org/drawingml/2006/main">
            <a:off x="3295650" y="2095500"/>
            <a:ext cx="1190625" cy="952500"/>
          </a:xfrm>
          <a:prstGeom xmlns:a="http://schemas.openxmlformats.org/drawingml/2006/main" prst="rect">
            <a:avLst/>
          </a:prstGeom>
          <a:solidFill xmlns:a="http://schemas.openxmlformats.org/drawingml/2006/main">
            <a:srgbClr val="FFFFFF"/>
          </a:solidFill>
          <a:ln xmlns:a="http://schemas.openxmlformats.org/drawingml/2006/main" w="11430">
            <a:solidFill>
              <a:srgbClr val="CED8D5"/>
            </a:solidFill>
          </a:ln>
        </p:spPr>
        <p:txBody>
          <a:bodyPr xmlns:a="http://schemas.openxmlformats.org/drawingml/2006/main" anchor="ctr"/>
          <a:lstStyle xmlns:a="http://schemas.openxmlformats.org/drawingml/2006/main">
            <a:defPPr algn="ctr">
              <a:defRPr sz="1350" b="1">
                <a:solidFill>
                  <a:srgbClr val="222A2D"/>
                </a:solidFill>
                <a:latin typeface="NanumGothic"/>
                <a:ea typeface="NanumGothic"/>
                <a:cs typeface="NanumGothic"/>
              </a:defRPr>
            </a:defPPr>
          </a:lstStyle>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오차 계산</a:t>
            </a:r>
          </a:p>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21일 RMSE</a:t>
            </a:r>
          </a:p>
        </p:txBody>
      </p:sp>
      <p:cxnSp>
        <p:nvCxnSpPr>
          <p:cNvPr id="9" name="">
            <a:extLst xmlns:a="http://schemas.openxmlformats.org/drawingml/2006/main">
              <a:ext uri="{FF2B5EF4-FFF2-40B4-BE49-F238E27FC236}">
                <a16:creationId xmlns:a16="http://schemas.microsoft.com/office/drawing/2014/main" id="{88EC4136-4E34-4956-AA03-461CC5407B23}"/>
              </a:ext>
            </a:extLst>
          </p:cNvPr>
          <p:cNvCxnSpPr>
            <a:stCxn xmlns:a="http://schemas.openxmlformats.org/drawingml/2006/main" id="6" idx="3"/>
            <a:endCxn xmlns:a="http://schemas.openxmlformats.org/drawingml/2006/main" id="8" idx="1"/>
          </p:cNvCxnSpPr>
          <p:nvPr/>
        </p:nvCxnSpPr>
        <p:spPr>
          <a:xfrm xmlns:a="http://schemas.openxmlformats.org/drawingml/2006/main">
            <a:off x="3124200" y="2571750"/>
            <a:ext cx="171450" cy="0"/>
          </a:xfrm>
          <a:prstGeom xmlns:a="http://schemas.openxmlformats.org/drawingml/2006/main" prst="straightConnector1">
            <a:avLst/>
          </a:prstGeom>
          <a:ln xmlns:a="http://schemas.openxmlformats.org/drawingml/2006/main" w="16193">
            <a:solidFill>
              <a:srgbClr val="007D68"/>
            </a:solidFill>
            <a:prstDash val="solid"/>
            <a:tailEnd type="triangle" w="med" len="med"/>
          </a:ln>
        </p:spPr>
      </p:cxnSp>
      <p:sp>
        <p:nvSpPr>
          <p:cNvPr id="10" name="">
            <a:extLst xmlns:a="http://schemas.openxmlformats.org/drawingml/2006/main">
              <a:ext uri="{FF2B5EF4-FFF2-40B4-BE49-F238E27FC236}">
                <a16:creationId xmlns:a16="http://schemas.microsoft.com/office/drawing/2014/main" id="{1ED1AC1E-73BB-4B6E-A3C1-D481DCB4F7D2}"/>
              </a:ext>
            </a:extLst>
          </p:cNvPr>
          <p:cNvSpPr>
            <a:spLocks xmlns:a="http://schemas.openxmlformats.org/drawingml/2006/main" noGrp="1"/>
          </p:cNvSpPr>
          <p:nvPr/>
        </p:nvSpPr>
        <p:spPr>
          <a:xfrm xmlns:a="http://schemas.openxmlformats.org/drawingml/2006/main">
            <a:off x="4657725" y="2095500"/>
            <a:ext cx="1190625" cy="952500"/>
          </a:xfrm>
          <a:prstGeom xmlns:a="http://schemas.openxmlformats.org/drawingml/2006/main" prst="rect">
            <a:avLst/>
          </a:prstGeom>
          <a:solidFill xmlns:a="http://schemas.openxmlformats.org/drawingml/2006/main">
            <a:srgbClr val="E5F0EB"/>
          </a:solidFill>
          <a:ln xmlns:a="http://schemas.openxmlformats.org/drawingml/2006/main" w="11430">
            <a:solidFill>
              <a:srgbClr val="007D68"/>
            </a:solidFill>
          </a:ln>
        </p:spPr>
        <p:txBody>
          <a:bodyPr xmlns:a="http://schemas.openxmlformats.org/drawingml/2006/main" anchor="ctr"/>
          <a:lstStyle xmlns:a="http://schemas.openxmlformats.org/drawingml/2006/main">
            <a:defPPr algn="ctr">
              <a:defRPr sz="1350" b="1">
                <a:solidFill>
                  <a:srgbClr val="007D68"/>
                </a:solidFill>
                <a:latin typeface="NanumGothic"/>
                <a:ea typeface="NanumGothic"/>
                <a:cs typeface="NanumGothic"/>
              </a:defRPr>
            </a:defPPr>
          </a:lstStyle>
          <a:p xmlns:a="http://schemas.openxmlformats.org/drawingml/2006/main">
            <a:pPr algn="ctr">
              <a:buNone/>
              <a:defRPr sz="1350" b="1">
                <a:solidFill>
                  <a:srgbClr val="007D68"/>
                </a:solidFill>
                <a:latin typeface="NanumGothic"/>
                <a:ea typeface="NanumGothic"/>
                <a:cs typeface="NanumGothic"/>
              </a:defRPr>
            </a:pPr>
            <a:r>
              <a:rPr sz="1350" b="1">
                <a:solidFill>
                  <a:srgbClr val="007D68"/>
                </a:solidFill>
                <a:latin typeface="NanumGothic"/>
                <a:ea typeface="NanumGothic"/>
                <a:cs typeface="NanumGothic"/>
              </a:rPr>
              <a:t>드리프트 감지</a:t>
            </a:r>
          </a:p>
          <a:p xmlns:a="http://schemas.openxmlformats.org/drawingml/2006/main">
            <a:pPr algn="ctr">
              <a:buNone/>
              <a:defRPr sz="1350" b="1">
                <a:solidFill>
                  <a:srgbClr val="007D68"/>
                </a:solidFill>
                <a:latin typeface="NanumGothic"/>
                <a:ea typeface="NanumGothic"/>
                <a:cs typeface="NanumGothic"/>
              </a:defRPr>
            </a:pPr>
            <a:r>
              <a:rPr sz="1350" b="1">
                <a:solidFill>
                  <a:srgbClr val="007D68"/>
                </a:solidFill>
                <a:latin typeface="NanumGothic"/>
                <a:ea typeface="NanumGothic"/>
                <a:cs typeface="NanumGothic"/>
              </a:rPr>
              <a:t>반복 초과</a:t>
            </a:r>
          </a:p>
        </p:txBody>
      </p:sp>
      <p:cxnSp>
        <p:nvCxnSpPr>
          <p:cNvPr id="11" name="">
            <a:extLst xmlns:a="http://schemas.openxmlformats.org/drawingml/2006/main">
              <a:ext uri="{FF2B5EF4-FFF2-40B4-BE49-F238E27FC236}">
                <a16:creationId xmlns:a16="http://schemas.microsoft.com/office/drawing/2014/main" id="{5B8E1112-33A2-4B43-BA82-80E0E1FF7117}"/>
              </a:ext>
            </a:extLst>
          </p:cNvPr>
          <p:cNvCxnSpPr>
            <a:stCxn xmlns:a="http://schemas.openxmlformats.org/drawingml/2006/main" id="8" idx="3"/>
            <a:endCxn xmlns:a="http://schemas.openxmlformats.org/drawingml/2006/main" id="10" idx="1"/>
          </p:cNvCxnSpPr>
          <p:nvPr/>
        </p:nvCxnSpPr>
        <p:spPr>
          <a:xfrm xmlns:a="http://schemas.openxmlformats.org/drawingml/2006/main">
            <a:off x="4486275" y="2571750"/>
            <a:ext cx="171450" cy="0"/>
          </a:xfrm>
          <a:prstGeom xmlns:a="http://schemas.openxmlformats.org/drawingml/2006/main" prst="straightConnector1">
            <a:avLst/>
          </a:prstGeom>
          <a:ln xmlns:a="http://schemas.openxmlformats.org/drawingml/2006/main" w="16193">
            <a:solidFill>
              <a:srgbClr val="007D68"/>
            </a:solidFill>
            <a:prstDash val="solid"/>
            <a:tailEnd type="triangle" w="med" len="med"/>
          </a:ln>
        </p:spPr>
      </p:cxnSp>
      <p:sp>
        <p:nvSpPr>
          <p:cNvPr id="12" name="">
            <a:extLst xmlns:a="http://schemas.openxmlformats.org/drawingml/2006/main">
              <a:ext uri="{FF2B5EF4-FFF2-40B4-BE49-F238E27FC236}">
                <a16:creationId xmlns:a16="http://schemas.microsoft.com/office/drawing/2014/main" id="{F4A9A31E-DDB6-40A1-A369-51BA79B9C78D}"/>
              </a:ext>
            </a:extLst>
          </p:cNvPr>
          <p:cNvSpPr>
            <a:spLocks xmlns:a="http://schemas.openxmlformats.org/drawingml/2006/main" noGrp="1"/>
          </p:cNvSpPr>
          <p:nvPr/>
        </p:nvSpPr>
        <p:spPr>
          <a:xfrm xmlns:a="http://schemas.openxmlformats.org/drawingml/2006/main">
            <a:off x="6019800" y="2095500"/>
            <a:ext cx="1190625" cy="952500"/>
          </a:xfrm>
          <a:prstGeom xmlns:a="http://schemas.openxmlformats.org/drawingml/2006/main" prst="rect">
            <a:avLst/>
          </a:prstGeom>
          <a:solidFill xmlns:a="http://schemas.openxmlformats.org/drawingml/2006/main">
            <a:srgbClr val="FFFFFF"/>
          </a:solidFill>
          <a:ln xmlns:a="http://schemas.openxmlformats.org/drawingml/2006/main" w="11430">
            <a:solidFill>
              <a:srgbClr val="CED8D5"/>
            </a:solidFill>
          </a:ln>
        </p:spPr>
        <p:txBody>
          <a:bodyPr xmlns:a="http://schemas.openxmlformats.org/drawingml/2006/main" anchor="ctr"/>
          <a:lstStyle xmlns:a="http://schemas.openxmlformats.org/drawingml/2006/main">
            <a:defPPr algn="ctr">
              <a:defRPr sz="1350" b="1">
                <a:solidFill>
                  <a:srgbClr val="222A2D"/>
                </a:solidFill>
                <a:latin typeface="NanumGothic"/>
                <a:ea typeface="NanumGothic"/>
                <a:cs typeface="NanumGothic"/>
              </a:defRPr>
            </a:defPPr>
          </a:lstStyle>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운영 알림</a:t>
            </a:r>
          </a:p>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이벤트·로그</a:t>
            </a:r>
          </a:p>
        </p:txBody>
      </p:sp>
      <p:cxnSp>
        <p:nvCxnSpPr>
          <p:cNvPr id="13" name="">
            <a:extLst xmlns:a="http://schemas.openxmlformats.org/drawingml/2006/main">
              <a:ext uri="{FF2B5EF4-FFF2-40B4-BE49-F238E27FC236}">
                <a16:creationId xmlns:a16="http://schemas.microsoft.com/office/drawing/2014/main" id="{E8C8F83C-52CC-4E0A-8764-BFDE0A1E7E4D}"/>
              </a:ext>
            </a:extLst>
          </p:cNvPr>
          <p:cNvCxnSpPr>
            <a:stCxn xmlns:a="http://schemas.openxmlformats.org/drawingml/2006/main" id="10" idx="3"/>
            <a:endCxn xmlns:a="http://schemas.openxmlformats.org/drawingml/2006/main" id="12" idx="1"/>
          </p:cNvCxnSpPr>
          <p:nvPr/>
        </p:nvCxnSpPr>
        <p:spPr>
          <a:xfrm xmlns:a="http://schemas.openxmlformats.org/drawingml/2006/main">
            <a:off x="5848350" y="2571750"/>
            <a:ext cx="171450" cy="0"/>
          </a:xfrm>
          <a:prstGeom xmlns:a="http://schemas.openxmlformats.org/drawingml/2006/main" prst="straightConnector1">
            <a:avLst/>
          </a:prstGeom>
          <a:ln xmlns:a="http://schemas.openxmlformats.org/drawingml/2006/main" w="16193">
            <a:solidFill>
              <a:srgbClr val="007D68"/>
            </a:solidFill>
            <a:prstDash val="solid"/>
            <a:tailEnd type="triangle" w="med" len="med"/>
          </a:ln>
        </p:spPr>
      </p:cxnSp>
      <p:sp>
        <p:nvSpPr>
          <p:cNvPr id="14" name="">
            <a:extLst xmlns:a="http://schemas.openxmlformats.org/drawingml/2006/main">
              <a:ext uri="{FF2B5EF4-FFF2-40B4-BE49-F238E27FC236}">
                <a16:creationId xmlns:a16="http://schemas.microsoft.com/office/drawing/2014/main" id="{4624AC01-B391-4327-B74A-615386CA71B6}"/>
              </a:ext>
            </a:extLst>
          </p:cNvPr>
          <p:cNvSpPr>
            <a:spLocks xmlns:a="http://schemas.openxmlformats.org/drawingml/2006/main" noGrp="1"/>
          </p:cNvSpPr>
          <p:nvPr/>
        </p:nvSpPr>
        <p:spPr>
          <a:xfrm xmlns:a="http://schemas.openxmlformats.org/drawingml/2006/main">
            <a:off x="7381875" y="2095500"/>
            <a:ext cx="1190625" cy="952500"/>
          </a:xfrm>
          <a:prstGeom xmlns:a="http://schemas.openxmlformats.org/drawingml/2006/main" prst="rect">
            <a:avLst/>
          </a:prstGeom>
          <a:solidFill xmlns:a="http://schemas.openxmlformats.org/drawingml/2006/main">
            <a:srgbClr val="E5F0EB"/>
          </a:solidFill>
          <a:ln xmlns:a="http://schemas.openxmlformats.org/drawingml/2006/main" w="11430">
            <a:solidFill>
              <a:srgbClr val="007D68"/>
            </a:solidFill>
          </a:ln>
        </p:spPr>
        <p:txBody>
          <a:bodyPr xmlns:a="http://schemas.openxmlformats.org/drawingml/2006/main" anchor="ctr"/>
          <a:lstStyle xmlns:a="http://schemas.openxmlformats.org/drawingml/2006/main">
            <a:defPPr algn="ctr">
              <a:defRPr sz="1350" b="1">
                <a:solidFill>
                  <a:srgbClr val="007D68"/>
                </a:solidFill>
                <a:latin typeface="NanumGothic"/>
                <a:ea typeface="NanumGothic"/>
                <a:cs typeface="NanumGothic"/>
              </a:defRPr>
            </a:defPPr>
          </a:lstStyle>
          <a:p xmlns:a="http://schemas.openxmlformats.org/drawingml/2006/main">
            <a:pPr algn="ctr">
              <a:buNone/>
              <a:defRPr sz="1350" b="1">
                <a:solidFill>
                  <a:srgbClr val="007D68"/>
                </a:solidFill>
                <a:latin typeface="NanumGothic"/>
                <a:ea typeface="NanumGothic"/>
                <a:cs typeface="NanumGothic"/>
              </a:defRPr>
            </a:pPr>
            <a:r>
              <a:rPr sz="1350" b="1">
                <a:solidFill>
                  <a:srgbClr val="007D68"/>
                </a:solidFill>
                <a:latin typeface="NanumGothic"/>
                <a:ea typeface="NanumGothic"/>
                <a:cs typeface="NanumGothic"/>
              </a:rPr>
              <a:t>재학습 트리거</a:t>
            </a:r>
          </a:p>
          <a:p xmlns:a="http://schemas.openxmlformats.org/drawingml/2006/main">
            <a:pPr algn="ctr">
              <a:buNone/>
              <a:defRPr sz="1350" b="1">
                <a:solidFill>
                  <a:srgbClr val="007D68"/>
                </a:solidFill>
                <a:latin typeface="NanumGothic"/>
                <a:ea typeface="NanumGothic"/>
                <a:cs typeface="NanumGothic"/>
              </a:defRPr>
            </a:pPr>
            <a:r>
              <a:rPr sz="1350" b="1">
                <a:solidFill>
                  <a:srgbClr val="007D68"/>
                </a:solidFill>
                <a:latin typeface="NanumGothic"/>
                <a:ea typeface="NanumGothic"/>
                <a:cs typeface="NanumGothic"/>
              </a:rPr>
              <a:t>작업 큐 등록</a:t>
            </a:r>
          </a:p>
        </p:txBody>
      </p:sp>
      <p:cxnSp>
        <p:nvCxnSpPr>
          <p:cNvPr id="15" name="">
            <a:extLst xmlns:a="http://schemas.openxmlformats.org/drawingml/2006/main">
              <a:ext uri="{FF2B5EF4-FFF2-40B4-BE49-F238E27FC236}">
                <a16:creationId xmlns:a16="http://schemas.microsoft.com/office/drawing/2014/main" id="{60CB673D-1A60-460C-B91B-5C4CAF8FD841}"/>
              </a:ext>
            </a:extLst>
          </p:cNvPr>
          <p:cNvCxnSpPr>
            <a:stCxn xmlns:a="http://schemas.openxmlformats.org/drawingml/2006/main" id="12" idx="3"/>
            <a:endCxn xmlns:a="http://schemas.openxmlformats.org/drawingml/2006/main" id="14" idx="1"/>
          </p:cNvCxnSpPr>
          <p:nvPr/>
        </p:nvCxnSpPr>
        <p:spPr>
          <a:xfrm xmlns:a="http://schemas.openxmlformats.org/drawingml/2006/main">
            <a:off x="7210425" y="2571750"/>
            <a:ext cx="171450" cy="0"/>
          </a:xfrm>
          <a:prstGeom xmlns:a="http://schemas.openxmlformats.org/drawingml/2006/main" prst="straightConnector1">
            <a:avLst/>
          </a:prstGeom>
          <a:ln xmlns:a="http://schemas.openxmlformats.org/drawingml/2006/main" w="16193">
            <a:solidFill>
              <a:srgbClr val="007D68"/>
            </a:solidFill>
            <a:prstDash val="solid"/>
            <a:tailEnd type="triangle" w="med" len="med"/>
          </a:ln>
        </p:spPr>
      </p:cxnSp>
      <p:sp>
        <p:nvSpPr>
          <p:cNvPr id="16" name="">
            <a:extLst xmlns:a="http://schemas.openxmlformats.org/drawingml/2006/main">
              <a:ext uri="{FF2B5EF4-FFF2-40B4-BE49-F238E27FC236}">
                <a16:creationId xmlns:a16="http://schemas.microsoft.com/office/drawing/2014/main" id="{A6BA7EE5-9743-4B1B-877B-F685CE4CEBA7}"/>
              </a:ext>
            </a:extLst>
          </p:cNvPr>
          <p:cNvSpPr>
            <a:spLocks xmlns:a="http://schemas.openxmlformats.org/drawingml/2006/main" noGrp="1"/>
          </p:cNvSpPr>
          <p:nvPr/>
        </p:nvSpPr>
        <p:spPr>
          <a:xfrm xmlns:a="http://schemas.openxmlformats.org/drawingml/2006/main">
            <a:off x="571500" y="3819525"/>
            <a:ext cx="8001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007D68"/>
                </a:solidFill>
                <a:latin typeface="NanumGothic"/>
                <a:ea typeface="NanumGothic"/>
                <a:cs typeface="NanumGothic"/>
              </a:defRPr>
            </a:defPPr>
          </a:lstStyle>
          <a:p xmlns:a="http://schemas.openxmlformats.org/drawingml/2006/main">
            <a:pPr>
              <a:buNone/>
              <a:defRPr sz="1875" b="1">
                <a:solidFill>
                  <a:srgbClr val="007D68"/>
                </a:solidFill>
                <a:latin typeface="NanumGothic"/>
                <a:ea typeface="NanumGothic"/>
                <a:cs typeface="NanumGothic"/>
              </a:defRPr>
            </a:pPr>
            <a:r>
              <a:rPr sz="1875" b="1">
                <a:solidFill>
                  <a:srgbClr val="007D68"/>
                </a:solidFill>
                <a:latin typeface="NanumGothic"/>
                <a:ea typeface="NanumGothic"/>
                <a:cs typeface="NanumGothic"/>
              </a:rPr>
              <a:t>관측소 · 자료 · 날짜 · 모델 버전으로 연결</a:t>
            </a:r>
          </a:p>
        </p:txBody>
      </p:sp>
    </p:spTree>
    <p:extLst>
      <p:ext uri="{BB962C8B-B14F-4D97-AF65-F5344CB8AC3E}">
        <p14:creationId xmlns:p14="http://schemas.microsoft.com/office/powerpoint/2010/main" val="1506851022"/>
      </p:ext>
    </p:extLst>
  </p:cSld>
</p:sld>
</file>

<file path=ppt/slides/slide16.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B2EB656-2D8C-45D6-8750-08B673943DEF}"/>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⑤ API 명세</a:t>
            </a:r>
          </a:p>
        </p:txBody>
      </p:sp>
      <p:sp>
        <p:nvSpPr>
          <p:cNvPr id="2" name="">
            <a:extLst xmlns:a="http://schemas.openxmlformats.org/drawingml/2006/main">
              <a:ext uri="{FF2B5EF4-FFF2-40B4-BE49-F238E27FC236}">
                <a16:creationId xmlns:a16="http://schemas.microsoft.com/office/drawing/2014/main" id="{A284E773-9383-4857-9C03-C686BBC1B021}"/>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기존 호환·시연 API</a:t>
            </a:r>
          </a:p>
        </p:txBody>
      </p:sp>
      <p:sp>
        <p:nvSpPr>
          <p:cNvPr id="3" name="">
            <a:extLst xmlns:a="http://schemas.openxmlformats.org/drawingml/2006/main">
              <a:ext uri="{FF2B5EF4-FFF2-40B4-BE49-F238E27FC236}">
                <a16:creationId xmlns:a16="http://schemas.microsoft.com/office/drawing/2014/main" id="{84C23624-FFC9-4FD4-BE01-EE1A068DE28A}"/>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health 외 /api/v1 접두사 · 202 접수 후 작업 상태 조회</a:t>
            </a:r>
          </a:p>
        </p:txBody>
      </p:sp>
      <p:sp>
        <p:nvSpPr>
          <p:cNvPr id="4" name="">
            <a:extLst xmlns:a="http://schemas.openxmlformats.org/drawingml/2006/main">
              <a:ext uri="{FF2B5EF4-FFF2-40B4-BE49-F238E27FC236}">
                <a16:creationId xmlns:a16="http://schemas.microsoft.com/office/drawing/2014/main" id="{0067E273-ECE3-4703-8FC1-AEF522559E75}"/>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16</a:t>
            </a:r>
          </a:p>
        </p:txBody>
      </p:sp>
      <p:graphicFrame>
        <p:nvGraphicFramePr>
          <p:cNvPr id="5" name="">
            <a:extLst xmlns:a="http://schemas.openxmlformats.org/drawingml/2006/main">
              <a:ext uri="{FF2B5EF4-FFF2-40B4-BE49-F238E27FC236}">
                <a16:creationId xmlns:a16="http://schemas.microsoft.com/office/drawing/2014/main" id="{BDAA4201-075B-4C06-87A2-CBF21D506ADD}"/>
              </a:ext>
            </a:extLst>
          </p:cNvPr>
          <p:cNvGraphicFramePr/>
          <p:nvPr/>
        </p:nvGraphicFramePr>
        <p:xfrm>
          <a:off xmlns:a="http://schemas.openxmlformats.org/drawingml/2006/main" x="571500" y="1476375"/>
          <a:ext xmlns:a="http://schemas.openxmlformats.org/drawingml/2006/main" cx="8001000" cy="3000375"/>
        </p:xfrm>
        <a:graphic xmlns:a="http://schemas.openxmlformats.org/drawingml/2006/main">
          <a:graphicData uri="http://schemas.openxmlformats.org/drawingml/2006/table">
            <a:tbl>
              <a:tblPr/>
              <a:tblGrid>
                <a:gridCol w="809625"/>
                <a:gridCol w="3048000"/>
                <a:gridCol w="4143375"/>
              </a:tblGrid>
              <a:tr h="375047">
                <a:tc>
                  <a:txBody>
                    <a:bodyPr/>
                    <a:lstStyle/>
                    <a:p>
                      <a:r>
                        <a:rPr sz="1200" b="1">
                          <a:solidFill>
                            <a:srgbClr val="007D68"/>
                          </a:solidFill>
                          <a:latin typeface="NanumGothic"/>
                          <a:ea typeface="NanumGothic"/>
                          <a:cs typeface="NanumGothic"/>
                        </a:rPr>
                        <a:t>Method</a:t>
                      </a:r>
                    </a:p>
                  </a:txBody>
                  <a:tcPr marL="91440" marR="91440" marT="45720" marB="45720">
                    <a:solidFill>
                      <a:srgbClr val="E7EFEB"/>
                    </a:solidFill>
                  </a:tcPr>
                </a:tc>
                <a:tc>
                  <a:txBody>
                    <a:bodyPr/>
                    <a:lstStyle/>
                    <a:p>
                      <a:r>
                        <a:rPr sz="1200" b="1">
                          <a:solidFill>
                            <a:srgbClr val="007D68"/>
                          </a:solidFill>
                          <a:latin typeface="NanumGothic"/>
                          <a:ea typeface="NanumGothic"/>
                          <a:cs typeface="NanumGothic"/>
                        </a:rPr>
                        <a:t>URL</a:t>
                      </a:r>
                    </a:p>
                  </a:txBody>
                  <a:tcPr marL="91440" marR="91440" marT="45720" marB="45720">
                    <a:solidFill>
                      <a:srgbClr val="E7EFEB"/>
                    </a:solidFill>
                  </a:tcPr>
                </a:tc>
                <a:tc>
                  <a:txBody>
                    <a:bodyPr/>
                    <a:lstStyle/>
                    <a:p>
                      <a:r>
                        <a:rPr sz="1200" b="1">
                          <a:solidFill>
                            <a:srgbClr val="007D68"/>
                          </a:solidFill>
                          <a:latin typeface="NanumGothic"/>
                          <a:ea typeface="NanumGothic"/>
                          <a:cs typeface="NanumGothic"/>
                        </a:rPr>
                        <a:t>Request → Response / 오류</a:t>
                      </a:r>
                    </a:p>
                  </a:txBody>
                  <a:tcPr marL="91440" marR="91440" marT="45720" marB="45720">
                    <a:solidFill>
                      <a:srgbClr val="E7EFEB"/>
                    </a:solidFill>
                  </a:tcPr>
                </a:tc>
              </a:tr>
              <a:tr h="375047">
                <a:tc>
                  <a:txBody>
                    <a:bodyPr/>
                    <a:lstStyle/>
                    <a:p>
                      <a:r>
                        <a:rPr sz="1200" b="0">
                          <a:solidFill>
                            <a:srgbClr val="222A2D"/>
                          </a:solidFill>
                          <a:latin typeface="NanumGothic"/>
                          <a:ea typeface="NanumGothic"/>
                          <a:cs typeface="NanumGothic"/>
                        </a:rPr>
                        <a:t>POST</a:t>
                      </a:r>
                    </a:p>
                  </a:txBody>
                  <a:tcPr marL="91440" marR="91440" marT="45720" marB="45720">
                    <a:solidFill>
                      <a:srgbClr val="FAFBF9"/>
                    </a:solidFill>
                  </a:tcPr>
                </a:tc>
                <a:tc>
                  <a:txBody>
                    <a:bodyPr/>
                    <a:lstStyle/>
                    <a:p>
                      <a:r>
                        <a:rPr sz="1200" b="0">
                          <a:solidFill>
                            <a:srgbClr val="222A2D"/>
                          </a:solidFill>
                          <a:latin typeface="NanumGothic"/>
                          <a:ea typeface="NanumGothic"/>
                          <a:cs typeface="NanumGothic"/>
                        </a:rPr>
                        <a:t>/districts/{code}/predict</a:t>
                      </a:r>
                    </a:p>
                  </a:txBody>
                  <a:tcPr marL="91440" marR="91440" marT="45720" marB="45720">
                    <a:solidFill>
                      <a:srgbClr val="FAFBF9"/>
                    </a:solidFill>
                  </a:tcPr>
                </a:tc>
                <a:tc>
                  <a:txBody>
                    <a:bodyPr/>
                    <a:lstStyle/>
                    <a:p>
                      <a:r>
                        <a:rPr sz="1200" b="0">
                          <a:solidFill>
                            <a:srgbClr val="222A2D"/>
                          </a:solidFill>
                          <a:latin typeface="NanumGothic"/>
                          <a:ea typeface="NanumGothic"/>
                          <a:cs typeface="NanumGothic"/>
                        </a:rPr>
                        <a:t>sequence 20개 → prediction·model_version / 422·503</a:t>
                      </a:r>
                    </a:p>
                  </a:txBody>
                  <a:tcPr marL="91440" marR="91440" marT="45720" marB="45720">
                    <a:solidFill>
                      <a:srgbClr val="FAFBF9"/>
                    </a:solidFill>
                  </a:tcPr>
                </a:tc>
              </a:tr>
              <a:tr h="375047">
                <a:tc>
                  <a:txBody>
                    <a:bodyPr/>
                    <a:lstStyle/>
                    <a:p>
                      <a:r>
                        <a:rPr sz="1200" b="0">
                          <a:solidFill>
                            <a:srgbClr val="222A2D"/>
                          </a:solidFill>
                          <a:latin typeface="NanumGothic"/>
                          <a:ea typeface="NanumGothic"/>
                          <a:cs typeface="NanumGothic"/>
                        </a:rPr>
                        <a:t>GET</a:t>
                      </a:r>
                    </a:p>
                  </a:txBody>
                  <a:tcPr marL="91440" marR="91440" marT="45720" marB="45720">
                    <a:solidFill>
                      <a:srgbClr val="F2F6F3"/>
                    </a:solidFill>
                  </a:tcPr>
                </a:tc>
                <a:tc>
                  <a:txBody>
                    <a:bodyPr/>
                    <a:lstStyle/>
                    <a:p>
                      <a:r>
                        <a:rPr sz="1200" b="0">
                          <a:solidFill>
                            <a:srgbClr val="222A2D"/>
                          </a:solidFill>
                          <a:latin typeface="NanumGothic"/>
                          <a:ea typeface="NanumGothic"/>
                          <a:cs typeface="NanumGothic"/>
                        </a:rPr>
                        <a:t>/health/live · /health/ready</a:t>
                      </a:r>
                    </a:p>
                  </a:txBody>
                  <a:tcPr marL="91440" marR="91440" marT="45720" marB="45720">
                    <a:solidFill>
                      <a:srgbClr val="F2F6F3"/>
                    </a:solidFill>
                  </a:tcPr>
                </a:tc>
                <a:tc>
                  <a:txBody>
                    <a:bodyPr/>
                    <a:lstStyle/>
                    <a:p>
                      <a:r>
                        <a:rPr sz="1200" b="0">
                          <a:solidFill>
                            <a:srgbClr val="222A2D"/>
                          </a:solidFill>
                          <a:latin typeface="NanumGothic"/>
                          <a:ea typeface="NanumGothic"/>
                          <a:cs typeface="NanumGothic"/>
                        </a:rPr>
                        <a:t>생존·관측소별 준비 / ready 부족 503</a:t>
                      </a:r>
                    </a:p>
                  </a:txBody>
                  <a:tcPr marL="91440" marR="91440" marT="45720" marB="45720">
                    <a:solidFill>
                      <a:srgbClr val="F2F6F3"/>
                    </a:solidFill>
                  </a:tcPr>
                </a:tc>
              </a:tr>
              <a:tr h="375047">
                <a:tc>
                  <a:txBody>
                    <a:bodyPr/>
                    <a:lstStyle/>
                    <a:p>
                      <a:r>
                        <a:rPr sz="1200" b="0">
                          <a:solidFill>
                            <a:srgbClr val="222A2D"/>
                          </a:solidFill>
                          <a:latin typeface="NanumGothic"/>
                          <a:ea typeface="NanumGothic"/>
                          <a:cs typeface="NanumGothic"/>
                        </a:rPr>
                        <a:t>POST</a:t>
                      </a:r>
                    </a:p>
                  </a:txBody>
                  <a:tcPr marL="91440" marR="91440" marT="45720" marB="45720">
                    <a:solidFill>
                      <a:srgbClr val="FAFBF9"/>
                    </a:solidFill>
                  </a:tcPr>
                </a:tc>
                <a:tc>
                  <a:txBody>
                    <a:bodyPr/>
                    <a:lstStyle/>
                    <a:p>
                      <a:r>
                        <a:rPr sz="1200" b="0">
                          <a:solidFill>
                            <a:srgbClr val="222A2D"/>
                          </a:solidFill>
                          <a:latin typeface="NanumGothic"/>
                          <a:ea typeface="NanumGothic"/>
                          <a:cs typeface="NanumGothic"/>
                        </a:rPr>
                        <a:t>/datasets</a:t>
                      </a:r>
                    </a:p>
                  </a:txBody>
                  <a:tcPr marL="91440" marR="91440" marT="45720" marB="45720">
                    <a:solidFill>
                      <a:srgbClr val="FAFBF9"/>
                    </a:solidFill>
                  </a:tcPr>
                </a:tc>
                <a:tc>
                  <a:txBody>
                    <a:bodyPr/>
                    <a:lstStyle/>
                    <a:p>
                      <a:r>
                        <a:rPr sz="1200" b="0">
                          <a:solidFill>
                            <a:srgbClr val="222A2D"/>
                          </a:solidFill>
                          <a:latin typeface="NanumGothic"/>
                          <a:ea typeface="NanumGothic"/>
                          <a:cs typeface="NanumGothic"/>
                        </a:rPr>
                        <a:t>multipart CSV+manifest → job_id / 422·413</a:t>
                      </a:r>
                    </a:p>
                  </a:txBody>
                  <a:tcPr marL="91440" marR="91440" marT="45720" marB="45720">
                    <a:solidFill>
                      <a:srgbClr val="FAFBF9"/>
                    </a:solidFill>
                  </a:tcPr>
                </a:tc>
              </a:tr>
              <a:tr h="375047">
                <a:tc>
                  <a:txBody>
                    <a:bodyPr/>
                    <a:lstStyle/>
                    <a:p>
                      <a:r>
                        <a:rPr sz="1200" b="0">
                          <a:solidFill>
                            <a:srgbClr val="222A2D"/>
                          </a:solidFill>
                          <a:latin typeface="NanumGothic"/>
                          <a:ea typeface="NanumGothic"/>
                          <a:cs typeface="NanumGothic"/>
                        </a:rPr>
                        <a:t>POST</a:t>
                      </a:r>
                    </a:p>
                  </a:txBody>
                  <a:tcPr marL="91440" marR="91440" marT="45720" marB="45720">
                    <a:solidFill>
                      <a:srgbClr val="F2F6F3"/>
                    </a:solidFill>
                  </a:tcPr>
                </a:tc>
                <a:tc>
                  <a:txBody>
                    <a:bodyPr/>
                    <a:lstStyle/>
                    <a:p>
                      <a:r>
                        <a:rPr sz="1200" b="0">
                          <a:solidFill>
                            <a:srgbClr val="222A2D"/>
                          </a:solidFill>
                          <a:latin typeface="NanumGothic"/>
                          <a:ea typeface="NanumGothic"/>
                          <a:cs typeface="NanumGothic"/>
                        </a:rPr>
                        <a:t>/jobs/train</a:t>
                      </a:r>
                    </a:p>
                  </a:txBody>
                  <a:tcPr marL="91440" marR="91440" marT="45720" marB="45720">
                    <a:solidFill>
                      <a:srgbClr val="F2F6F3"/>
                    </a:solidFill>
                  </a:tcPr>
                </a:tc>
                <a:tc>
                  <a:txBody>
                    <a:bodyPr/>
                    <a:lstStyle/>
                    <a:p>
                      <a:r>
                        <a:rPr sz="1200" b="0">
                          <a:solidFill>
                            <a:srgbClr val="222A2D"/>
                          </a:solidFill>
                          <a:latin typeface="NanumGothic"/>
                          <a:ea typeface="NanumGothic"/>
                          <a:cs typeface="NanumGothic"/>
                        </a:rPr>
                        <a:t>dataset_id·district_code → 학습 작업 202</a:t>
                      </a:r>
                    </a:p>
                  </a:txBody>
                  <a:tcPr marL="91440" marR="91440" marT="45720" marB="45720">
                    <a:solidFill>
                      <a:srgbClr val="F2F6F3"/>
                    </a:solidFill>
                  </a:tcPr>
                </a:tc>
              </a:tr>
              <a:tr h="375047">
                <a:tc>
                  <a:txBody>
                    <a:bodyPr/>
                    <a:lstStyle/>
                    <a:p>
                      <a:r>
                        <a:rPr sz="1200" b="0">
                          <a:solidFill>
                            <a:srgbClr val="222A2D"/>
                          </a:solidFill>
                          <a:latin typeface="NanumGothic"/>
                          <a:ea typeface="NanumGothic"/>
                          <a:cs typeface="NanumGothic"/>
                        </a:rPr>
                        <a:t>POST</a:t>
                      </a:r>
                    </a:p>
                  </a:txBody>
                  <a:tcPr marL="91440" marR="91440" marT="45720" marB="45720">
                    <a:solidFill>
                      <a:srgbClr val="FAFBF9"/>
                    </a:solidFill>
                  </a:tcPr>
                </a:tc>
                <a:tc>
                  <a:txBody>
                    <a:bodyPr/>
                    <a:lstStyle/>
                    <a:p>
                      <a:r>
                        <a:rPr sz="1200" b="0">
                          <a:solidFill>
                            <a:srgbClr val="222A2D"/>
                          </a:solidFill>
                          <a:latin typeface="NanumGothic"/>
                          <a:ea typeface="NanumGothic"/>
                          <a:cs typeface="NanumGothic"/>
                        </a:rPr>
                        <a:t>/replays/{id}/advance</a:t>
                      </a:r>
                    </a:p>
                  </a:txBody>
                  <a:tcPr marL="91440" marR="91440" marT="45720" marB="45720">
                    <a:solidFill>
                      <a:srgbClr val="FAFBF9"/>
                    </a:solidFill>
                  </a:tcPr>
                </a:tc>
                <a:tc>
                  <a:txBody>
                    <a:bodyPr/>
                    <a:lstStyle/>
                    <a:p>
                      <a:r>
                        <a:rPr sz="1200" b="0">
                          <a:solidFill>
                            <a:srgbClr val="222A2D"/>
                          </a:solidFill>
                          <a:latin typeface="NanumGothic"/>
                          <a:ea typeface="NanumGothic"/>
                          <a:cs typeface="NanumGothic"/>
                        </a:rPr>
                        <a:t>days: 1~180 → 순차 배치 평가 작업 202</a:t>
                      </a:r>
                    </a:p>
                  </a:txBody>
                  <a:tcPr marL="91440" marR="91440" marT="45720" marB="45720">
                    <a:solidFill>
                      <a:srgbClr val="FAFBF9"/>
                    </a:solidFill>
                  </a:tcPr>
                </a:tc>
              </a:tr>
              <a:tr h="375047">
                <a:tc>
                  <a:txBody>
                    <a:bodyPr/>
                    <a:lstStyle/>
                    <a:p>
                      <a:r>
                        <a:rPr sz="1200" b="0">
                          <a:solidFill>
                            <a:srgbClr val="222A2D"/>
                          </a:solidFill>
                          <a:latin typeface="NanumGothic"/>
                          <a:ea typeface="NanumGothic"/>
                          <a:cs typeface="NanumGothic"/>
                        </a:rPr>
                        <a:t>GET</a:t>
                      </a:r>
                    </a:p>
                  </a:txBody>
                  <a:tcPr marL="91440" marR="91440" marT="45720" marB="45720">
                    <a:solidFill>
                      <a:srgbClr val="F2F6F3"/>
                    </a:solidFill>
                  </a:tcPr>
                </a:tc>
                <a:tc>
                  <a:txBody>
                    <a:bodyPr/>
                    <a:lstStyle/>
                    <a:p>
                      <a:r>
                        <a:rPr sz="1200" b="0">
                          <a:solidFill>
                            <a:srgbClr val="222A2D"/>
                          </a:solidFill>
                          <a:latin typeface="NanumGothic"/>
                          <a:ea typeface="NanumGothic"/>
                          <a:cs typeface="NanumGothic"/>
                        </a:rPr>
                        <a:t>/events · /jobs · /models</a:t>
                      </a:r>
                    </a:p>
                  </a:txBody>
                  <a:tcPr marL="91440" marR="91440" marT="45720" marB="45720">
                    <a:solidFill>
                      <a:srgbClr val="F2F6F3"/>
                    </a:solidFill>
                  </a:tcPr>
                </a:tc>
                <a:tc>
                  <a:txBody>
                    <a:bodyPr/>
                    <a:lstStyle/>
                    <a:p>
                      <a:r>
                        <a:rPr sz="1200" b="0">
                          <a:solidFill>
                            <a:srgbClr val="222A2D"/>
                          </a:solidFill>
                          <a:latin typeface="NanumGothic"/>
                          <a:ea typeface="NanumGothic"/>
                          <a:cs typeface="NanumGothic"/>
                        </a:rPr>
                        <a:t>이벤트·로그성 기록·작업·모델 이력 조회</a:t>
                      </a:r>
                    </a:p>
                  </a:txBody>
                  <a:tcPr marL="91440" marR="91440" marT="45720" marB="45720">
                    <a:solidFill>
                      <a:srgbClr val="F2F6F3"/>
                    </a:solidFill>
                  </a:tcPr>
                </a:tc>
              </a:tr>
              <a:tr h="375047">
                <a:tc>
                  <a:txBody>
                    <a:bodyPr/>
                    <a:lstStyle/>
                    <a:p>
                      <a:r>
                        <a:rPr sz="1200" b="0">
                          <a:solidFill>
                            <a:srgbClr val="222A2D"/>
                          </a:solidFill>
                          <a:latin typeface="NanumGothic"/>
                          <a:ea typeface="NanumGothic"/>
                          <a:cs typeface="NanumGothic"/>
                        </a:rPr>
                        <a:t>POST</a:t>
                      </a:r>
                    </a:p>
                  </a:txBody>
                  <a:tcPr marL="91440" marR="91440" marT="45720" marB="45720">
                    <a:solidFill>
                      <a:srgbClr val="FAFBF9"/>
                    </a:solidFill>
                  </a:tcPr>
                </a:tc>
                <a:tc>
                  <a:txBody>
                    <a:bodyPr/>
                    <a:lstStyle/>
                    <a:p>
                      <a:r>
                        <a:rPr sz="1200" b="0">
                          <a:solidFill>
                            <a:srgbClr val="222A2D"/>
                          </a:solidFill>
                          <a:latin typeface="NanumGothic"/>
                          <a:ea typeface="NanumGothic"/>
                          <a:cs typeface="NanumGothic"/>
                        </a:rPr>
                        <a:t>/models/{code}/rollback</a:t>
                      </a:r>
                    </a:p>
                  </a:txBody>
                  <a:tcPr marL="91440" marR="91440" marT="45720" marB="45720">
                    <a:solidFill>
                      <a:srgbClr val="FAFBF9"/>
                    </a:solidFill>
                  </a:tcPr>
                </a:tc>
                <a:tc>
                  <a:txBody>
                    <a:bodyPr/>
                    <a:lstStyle/>
                    <a:p>
                      <a:r>
                        <a:rPr sz="1200" b="0">
                          <a:solidFill>
                            <a:srgbClr val="222A2D"/>
                          </a:solidFill>
                          <a:latin typeface="NanumGothic"/>
                          <a:ea typeface="NanumGothic"/>
                          <a:cs typeface="NanumGothic"/>
                        </a:rPr>
                        <a:t>reason·version·replay_id → 복귀 작업 202</a:t>
                      </a:r>
                    </a:p>
                  </a:txBody>
                  <a:tcPr marL="91440" marR="91440" marT="45720" marB="45720">
                    <a:solidFill>
                      <a:srgbClr val="FAFBF9"/>
                    </a:solidFill>
                  </a:tcPr>
                </a:tc>
              </a:tr>
            </a:tbl>
          </a:graphicData>
        </a:graphic>
      </p:graphicFrame>
    </p:spTree>
    <p:extLst>
      <p:ext uri="{BB962C8B-B14F-4D97-AF65-F5344CB8AC3E}">
        <p14:creationId xmlns:p14="http://schemas.microsoft.com/office/powerpoint/2010/main" val="251295943"/>
      </p:ext>
    </p:extLst>
  </p:cSld>
</p:sld>
</file>

<file path=ppt/slides/slide17.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9E98373-F610-4013-A16B-CA0764520D99}"/>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⑤ API 명세</a:t>
            </a:r>
          </a:p>
        </p:txBody>
      </p:sp>
      <p:sp>
        <p:nvSpPr>
          <p:cNvPr id="2" name="">
            <a:extLst xmlns:a="http://schemas.openxmlformats.org/drawingml/2006/main">
              <a:ext uri="{FF2B5EF4-FFF2-40B4-BE49-F238E27FC236}">
                <a16:creationId xmlns:a16="http://schemas.microsoft.com/office/drawing/2014/main" id="{386BA53E-3B48-429E-B933-D08FEC2FBF4D}"/>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Swagger 계약과 실제 200·422 응답</a:t>
            </a:r>
          </a:p>
        </p:txBody>
      </p:sp>
      <p:sp>
        <p:nvSpPr>
          <p:cNvPr id="3" name="">
            <a:extLst xmlns:a="http://schemas.openxmlformats.org/drawingml/2006/main">
              <a:ext uri="{FF2B5EF4-FFF2-40B4-BE49-F238E27FC236}">
                <a16:creationId xmlns:a16="http://schemas.microsoft.com/office/drawing/2014/main" id="{47BA87FD-3EBE-419F-902C-E10978D817DB}"/>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POST /api/v1/districts/11110/predict · 실제 20일 요청 중 한 행</a:t>
            </a:r>
          </a:p>
        </p:txBody>
      </p:sp>
      <p:sp>
        <p:nvSpPr>
          <p:cNvPr id="4" name="">
            <a:extLst xmlns:a="http://schemas.openxmlformats.org/drawingml/2006/main">
              <a:ext uri="{FF2B5EF4-FFF2-40B4-BE49-F238E27FC236}">
                <a16:creationId xmlns:a16="http://schemas.microsoft.com/office/drawing/2014/main" id="{1538377F-6816-4073-9D40-9A4263518186}"/>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17</a:t>
            </a:r>
          </a:p>
        </p:txBody>
      </p:sp>
      <p:sp>
        <p:nvSpPr>
          <p:cNvPr id="5" name="">
            <a:extLst xmlns:a="http://schemas.openxmlformats.org/drawingml/2006/main">
              <a:ext uri="{FF2B5EF4-FFF2-40B4-BE49-F238E27FC236}">
                <a16:creationId xmlns:a16="http://schemas.microsoft.com/office/drawing/2014/main" id="{2705A1DC-7A2F-4BC4-A2CF-FA5AEA6D1841}"/>
              </a:ext>
            </a:extLst>
          </p:cNvPr>
          <p:cNvSpPr>
            <a:spLocks xmlns:a="http://schemas.openxmlformats.org/drawingml/2006/main" noGrp="1"/>
          </p:cNvSpPr>
          <p:nvPr/>
        </p:nvSpPr>
        <p:spPr>
          <a:xfrm xmlns:a="http://schemas.openxmlformats.org/drawingml/2006/main">
            <a:off x="571500" y="148590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007D68"/>
                </a:solidFill>
                <a:latin typeface="NanumGothic"/>
                <a:ea typeface="NanumGothic"/>
                <a:cs typeface="NanumGothic"/>
              </a:defRPr>
            </a:defPPr>
          </a:lstStyle>
          <a:p xmlns:a="http://schemas.openxmlformats.org/drawingml/2006/main">
            <a:pPr>
              <a:buNone/>
              <a:defRPr sz="1425" b="1">
                <a:solidFill>
                  <a:srgbClr val="007D68"/>
                </a:solidFill>
                <a:latin typeface="NanumGothic"/>
                <a:ea typeface="NanumGothic"/>
                <a:cs typeface="NanumGothic"/>
              </a:defRPr>
            </a:pPr>
            <a:r>
              <a:rPr sz="1425" b="1">
                <a:solidFill>
                  <a:srgbClr val="007D68"/>
                </a:solidFill>
                <a:latin typeface="NanumGothic"/>
                <a:ea typeface="NanumGothic"/>
                <a:cs typeface="NanumGothic"/>
              </a:rPr>
              <a:t>Request: sequence[0] 한 행</a:t>
            </a:r>
          </a:p>
        </p:txBody>
      </p:sp>
      <p:sp>
        <p:nvSpPr>
          <p:cNvPr id="6" name="">
            <a:extLst xmlns:a="http://schemas.openxmlformats.org/drawingml/2006/main">
              <a:ext uri="{FF2B5EF4-FFF2-40B4-BE49-F238E27FC236}">
                <a16:creationId xmlns:a16="http://schemas.microsoft.com/office/drawing/2014/main" id="{C0E6C3DA-C7A3-49EF-9EB0-5A963B178920}"/>
              </a:ext>
            </a:extLst>
          </p:cNvPr>
          <p:cNvSpPr>
            <a:spLocks xmlns:a="http://schemas.openxmlformats.org/drawingml/2006/main" noGrp="1"/>
          </p:cNvSpPr>
          <p:nvPr/>
        </p:nvSpPr>
        <p:spPr>
          <a:xfrm xmlns:a="http://schemas.openxmlformats.org/drawingml/2006/main">
            <a:off x="571500" y="1914525"/>
            <a:ext cx="39052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222A2D"/>
                </a:solidFill>
                <a:latin typeface="NanumGothic"/>
                <a:ea typeface="NanumGothic"/>
                <a:cs typeface="NanumGothic"/>
              </a:defRPr>
            </a:defPPr>
          </a:lstStyle>
          <a:p xmlns:a="http://schemas.openxmlformats.org/drawingml/2006/main">
            <a:pPr>
              <a:buNone/>
              <a:defRPr sz="1425" b="0">
                <a:solidFill>
                  <a:srgbClr val="222A2D"/>
                </a:solidFill>
                <a:latin typeface="NanumGothic"/>
                <a:ea typeface="NanumGothic"/>
                <a:cs typeface="NanumGothic"/>
              </a:defRPr>
            </a:pPr>
            <a:r>
              <a:rPr sz="1425" b="0">
                <a:solidFill>
                  <a:srgbClr val="222A2D"/>
                </a:solidFill>
                <a:latin typeface="NanumGothic"/>
                <a:ea typeface="NanumGothic"/>
                <a:cs typeface="NanumGothic"/>
              </a:rPr>
              <a:t>{</a:t>
            </a:r>
          </a:p>
          <a:p xmlns:a="http://schemas.openxmlformats.org/drawingml/2006/main">
            <a:pPr>
              <a:buNone/>
              <a:defRPr sz="1425" b="0">
                <a:solidFill>
                  <a:srgbClr val="222A2D"/>
                </a:solidFill>
                <a:latin typeface="NanumGothic"/>
                <a:ea typeface="NanumGothic"/>
                <a:cs typeface="NanumGothic"/>
              </a:defRPr>
            </a:pPr>
            <a:r>
              <a:rPr sz="1425" b="0">
                <a:solidFill>
                  <a:srgbClr val="222A2D"/>
                </a:solidFill>
                <a:latin typeface="NanumGothic"/>
                <a:ea typeface="NanumGothic"/>
                <a:cs typeface="NanumGothic"/>
              </a:rPr>
              <a:t>  "station_id": "SU-JNO-G1-0007",</a:t>
            </a:r>
          </a:p>
          <a:p xmlns:a="http://schemas.openxmlformats.org/drawingml/2006/main">
            <a:pPr>
              <a:buNone/>
              <a:defRPr sz="1425" b="0">
                <a:solidFill>
                  <a:srgbClr val="222A2D"/>
                </a:solidFill>
                <a:latin typeface="NanumGothic"/>
                <a:ea typeface="NanumGothic"/>
                <a:cs typeface="NanumGothic"/>
              </a:defRPr>
            </a:pPr>
            <a:r>
              <a:rPr sz="1425" b="0">
                <a:solidFill>
                  <a:srgbClr val="222A2D"/>
                </a:solidFill>
                <a:latin typeface="NanumGothic"/>
                <a:ea typeface="NanumGothic"/>
                <a:cs typeface="NanumGothic"/>
              </a:rPr>
              <a:t>  "date": "2026-09-19",</a:t>
            </a:r>
          </a:p>
          <a:p xmlns:a="http://schemas.openxmlformats.org/drawingml/2006/main">
            <a:pPr>
              <a:buNone/>
              <a:defRPr sz="1425" b="0">
                <a:solidFill>
                  <a:srgbClr val="222A2D"/>
                </a:solidFill>
                <a:latin typeface="NanumGothic"/>
                <a:ea typeface="NanumGothic"/>
                <a:cs typeface="NanumGothic"/>
              </a:defRPr>
            </a:pPr>
            <a:r>
              <a:rPr sz="1425" b="0">
                <a:solidFill>
                  <a:srgbClr val="222A2D"/>
                </a:solidFill>
                <a:latin typeface="NanumGothic"/>
                <a:ea typeface="NanumGothic"/>
                <a:cs typeface="NanumGothic"/>
              </a:rPr>
              <a:t>  "groundwater_level": -21.43695302,</a:t>
            </a:r>
          </a:p>
          <a:p xmlns:a="http://schemas.openxmlformats.org/drawingml/2006/main">
            <a:pPr>
              <a:buNone/>
              <a:defRPr sz="1425" b="0">
                <a:solidFill>
                  <a:srgbClr val="222A2D"/>
                </a:solidFill>
                <a:latin typeface="NanumGothic"/>
                <a:ea typeface="NanumGothic"/>
                <a:cs typeface="NanumGothic"/>
              </a:defRPr>
            </a:pPr>
            <a:r>
              <a:rPr sz="1425" b="0">
                <a:solidFill>
                  <a:srgbClr val="222A2D"/>
                </a:solidFill>
                <a:latin typeface="NanumGothic"/>
                <a:ea typeface="NanumGothic"/>
                <a:cs typeface="NanumGothic"/>
              </a:rPr>
              <a:t>  "rainfall_mm": 0,</a:t>
            </a:r>
          </a:p>
          <a:p xmlns:a="http://schemas.openxmlformats.org/drawingml/2006/main">
            <a:pPr>
              <a:buNone/>
              <a:defRPr sz="1425" b="0">
                <a:solidFill>
                  <a:srgbClr val="222A2D"/>
                </a:solidFill>
                <a:latin typeface="NanumGothic"/>
                <a:ea typeface="NanumGothic"/>
                <a:cs typeface="NanumGothic"/>
              </a:defRPr>
            </a:pPr>
            <a:r>
              <a:rPr sz="1425" b="0">
                <a:solidFill>
                  <a:srgbClr val="222A2D"/>
                </a:solidFill>
                <a:latin typeface="NanumGothic"/>
                <a:ea typeface="NanumGothic"/>
                <a:cs typeface="NanumGothic"/>
              </a:rPr>
              <a:t>  "level_unit": "gl.-m"</a:t>
            </a:r>
          </a:p>
          <a:p xmlns:a="http://schemas.openxmlformats.org/drawingml/2006/main">
            <a:pPr>
              <a:buNone/>
              <a:defRPr sz="1425" b="0">
                <a:solidFill>
                  <a:srgbClr val="222A2D"/>
                </a:solidFill>
                <a:latin typeface="NanumGothic"/>
                <a:ea typeface="NanumGothic"/>
                <a:cs typeface="NanumGothic"/>
              </a:defRPr>
            </a:pPr>
            <a:r>
              <a:rPr sz="1425" b="0">
                <a:solidFill>
                  <a:srgbClr val="222A2D"/>
                </a:solidFill>
                <a:latin typeface="NanumGothic"/>
                <a:ea typeface="NanumGothic"/>
                <a:cs typeface="NanumGothic"/>
              </a:rPr>
              <a:t>}</a:t>
            </a:r>
          </a:p>
        </p:txBody>
      </p:sp>
      <p:sp>
        <p:nvSpPr>
          <p:cNvPr id="7" name="">
            <a:extLst xmlns:a="http://schemas.openxmlformats.org/drawingml/2006/main">
              <a:ext uri="{FF2B5EF4-FFF2-40B4-BE49-F238E27FC236}">
                <a16:creationId xmlns:a16="http://schemas.microsoft.com/office/drawing/2014/main" id="{ABE8C53E-EC81-41E3-84AC-7C08E3A429A8}"/>
              </a:ext>
            </a:extLst>
          </p:cNvPr>
          <p:cNvSpPr>
            <a:spLocks xmlns:a="http://schemas.openxmlformats.org/drawingml/2006/main" noGrp="1"/>
          </p:cNvSpPr>
          <p:nvPr/>
        </p:nvSpPr>
        <p:spPr>
          <a:xfrm xmlns:a="http://schemas.openxmlformats.org/drawingml/2006/main">
            <a:off x="4810125" y="1485900"/>
            <a:ext cx="3762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007D68"/>
                </a:solidFill>
                <a:latin typeface="NanumGothic"/>
                <a:ea typeface="NanumGothic"/>
                <a:cs typeface="NanumGothic"/>
              </a:defRPr>
            </a:defPPr>
          </a:lstStyle>
          <a:p xmlns:a="http://schemas.openxmlformats.org/drawingml/2006/main">
            <a:pPr>
              <a:buNone/>
              <a:defRPr sz="1425" b="1">
                <a:solidFill>
                  <a:srgbClr val="007D68"/>
                </a:solidFill>
                <a:latin typeface="NanumGothic"/>
                <a:ea typeface="NanumGothic"/>
                <a:cs typeface="NanumGothic"/>
              </a:defRPr>
            </a:pPr>
            <a:r>
              <a:rPr sz="1425" b="1">
                <a:solidFill>
                  <a:srgbClr val="007D68"/>
                </a:solidFill>
                <a:latin typeface="NanumGothic"/>
                <a:ea typeface="NanumGothic"/>
                <a:cs typeface="NanumGothic"/>
              </a:rPr>
              <a:t>Response 200: 실제 응답 발췌</a:t>
            </a:r>
          </a:p>
        </p:txBody>
      </p:sp>
      <p:sp>
        <p:nvSpPr>
          <p:cNvPr id="8" name="">
            <a:extLst xmlns:a="http://schemas.openxmlformats.org/drawingml/2006/main">
              <a:ext uri="{FF2B5EF4-FFF2-40B4-BE49-F238E27FC236}">
                <a16:creationId xmlns:a16="http://schemas.microsoft.com/office/drawing/2014/main" id="{2FD98FD8-71DE-4435-BD02-8C218D5E074F}"/>
              </a:ext>
            </a:extLst>
          </p:cNvPr>
          <p:cNvSpPr>
            <a:spLocks xmlns:a="http://schemas.openxmlformats.org/drawingml/2006/main" noGrp="1"/>
          </p:cNvSpPr>
          <p:nvPr/>
        </p:nvSpPr>
        <p:spPr>
          <a:xfrm xmlns:a="http://schemas.openxmlformats.org/drawingml/2006/main">
            <a:off x="4810125" y="1914525"/>
            <a:ext cx="376237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222A2D"/>
                </a:solidFill>
                <a:latin typeface="NanumGothic"/>
                <a:ea typeface="NanumGothic"/>
                <a:cs typeface="NanumGothic"/>
              </a:defRPr>
            </a:defPPr>
          </a:lstStyle>
          <a:p xmlns:a="http://schemas.openxmlformats.org/drawingml/2006/main">
            <a:pPr>
              <a:buNone/>
              <a:defRPr sz="1425" b="0">
                <a:solidFill>
                  <a:srgbClr val="222A2D"/>
                </a:solidFill>
                <a:latin typeface="NanumGothic"/>
                <a:ea typeface="NanumGothic"/>
                <a:cs typeface="NanumGothic"/>
              </a:defRPr>
            </a:pPr>
            <a:r>
              <a:rPr sz="1425" b="0">
                <a:solidFill>
                  <a:srgbClr val="222A2D"/>
                </a:solidFill>
                <a:latin typeface="NanumGothic"/>
                <a:ea typeface="NanumGothic"/>
                <a:cs typeface="NanumGothic"/>
              </a:rPr>
              <a:t>"prediction": -21.5107411911</a:t>
            </a:r>
          </a:p>
          <a:p xmlns:a="http://schemas.openxmlformats.org/drawingml/2006/main">
            <a:pPr>
              <a:buNone/>
              <a:defRPr sz="1425" b="0">
                <a:solidFill>
                  <a:srgbClr val="222A2D"/>
                </a:solidFill>
                <a:latin typeface="NanumGothic"/>
                <a:ea typeface="NanumGothic"/>
                <a:cs typeface="NanumGothic"/>
              </a:defRPr>
            </a:pPr>
            <a:r>
              <a:rPr sz="1425" b="0">
                <a:solidFill>
                  <a:srgbClr val="222A2D"/>
                </a:solidFill>
                <a:latin typeface="NanumGothic"/>
                <a:ea typeface="NanumGothic"/>
                <a:cs typeface="NanumGothic"/>
              </a:rPr>
              <a:t>"model_version": "2"</a:t>
            </a:r>
          </a:p>
          <a:p xmlns:a="http://schemas.openxmlformats.org/drawingml/2006/main">
            <a:pPr>
              <a:buNone/>
              <a:defRPr sz="1425" b="0">
                <a:solidFill>
                  <a:srgbClr val="222A2D"/>
                </a:solidFill>
                <a:latin typeface="NanumGothic"/>
                <a:ea typeface="NanumGothic"/>
                <a:cs typeface="NanumGothic"/>
              </a:defRPr>
            </a:pPr>
            <a:r>
              <a:rPr sz="1425" b="0">
                <a:solidFill>
                  <a:srgbClr val="222A2D"/>
                </a:solidFill>
                <a:latin typeface="NanumGothic"/>
                <a:ea typeface="NanumGothic"/>
                <a:cs typeface="NanumGothic"/>
              </a:rPr>
              <a:t>"observed_date": "2026-10-08"</a:t>
            </a:r>
          </a:p>
          <a:p xmlns:a="http://schemas.openxmlformats.org/drawingml/2006/main">
            <a:pPr>
              <a:buNone/>
              <a:defRPr sz="1425" b="0">
                <a:solidFill>
                  <a:srgbClr val="222A2D"/>
                </a:solidFill>
                <a:latin typeface="NanumGothic"/>
                <a:ea typeface="NanumGothic"/>
                <a:cs typeface="NanumGothic"/>
              </a:defRPr>
            </a:pPr>
            <a:r>
              <a:rPr sz="1425" b="0">
                <a:solidFill>
                  <a:srgbClr val="222A2D"/>
                </a:solidFill>
                <a:latin typeface="NanumGothic"/>
                <a:ea typeface="NanumGothic"/>
                <a:cs typeface="NanumGothic"/>
              </a:rPr>
              <a:t>"forecast_date": "2026-10-09"</a:t>
            </a:r>
          </a:p>
          <a:p xmlns:a="http://schemas.openxmlformats.org/drawingml/2006/main">
            <a:pPr>
              <a:buNone/>
              <a:defRPr sz="1425" b="0">
                <a:solidFill>
                  <a:srgbClr val="222A2D"/>
                </a:solidFill>
                <a:latin typeface="NanumGothic"/>
                <a:ea typeface="NanumGothic"/>
                <a:cs typeface="NanumGothic"/>
              </a:defRPr>
            </a:pPr>
            <a:r>
              <a:rPr sz="1425" b="0">
                <a:solidFill>
                  <a:srgbClr val="222A2D"/>
                </a:solidFill>
                <a:latin typeface="NanumGothic"/>
                <a:ea typeface="NanumGothic"/>
                <a:cs typeface="NanumGothic"/>
              </a:rPr>
              <a:t>"unit": "gl.-m"</a:t>
            </a:r>
          </a:p>
        </p:txBody>
      </p:sp>
      <p:sp>
        <p:nvSpPr>
          <p:cNvPr id="9" name="">
            <a:extLst xmlns:a="http://schemas.openxmlformats.org/drawingml/2006/main">
              <a:ext uri="{FF2B5EF4-FFF2-40B4-BE49-F238E27FC236}">
                <a16:creationId xmlns:a16="http://schemas.microsoft.com/office/drawing/2014/main" id="{01B950CE-FE22-4F39-95C1-8F1D8E9CD514}"/>
              </a:ext>
            </a:extLst>
          </p:cNvPr>
          <p:cNvSpPr>
            <a:spLocks xmlns:a="http://schemas.openxmlformats.org/drawingml/2006/main" noGrp="1"/>
          </p:cNvSpPr>
          <p:nvPr/>
        </p:nvSpPr>
        <p:spPr>
          <a:xfrm xmlns:a="http://schemas.openxmlformats.org/drawingml/2006/main">
            <a:off x="4810125" y="3581400"/>
            <a:ext cx="3762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9D4D3E"/>
                </a:solidFill>
                <a:latin typeface="NanumGothic"/>
                <a:ea typeface="NanumGothic"/>
                <a:cs typeface="NanumGothic"/>
              </a:defRPr>
            </a:defPPr>
          </a:lstStyle>
          <a:p xmlns:a="http://schemas.openxmlformats.org/drawingml/2006/main">
            <a:pPr>
              <a:buNone/>
              <a:defRPr sz="1350" b="0">
                <a:solidFill>
                  <a:srgbClr val="9D4D3E"/>
                </a:solidFill>
                <a:latin typeface="NanumGothic"/>
                <a:ea typeface="NanumGothic"/>
                <a:cs typeface="NanumGothic"/>
              </a:defRPr>
            </a:pPr>
            <a:r>
              <a:rPr sz="1350" b="0">
                <a:solidFill>
                  <a:srgbClr val="9D4D3E"/>
                </a:solidFill>
                <a:latin typeface="NanumGothic"/>
                <a:ea typeface="NanumGothic"/>
                <a:cs typeface="NanumGothic"/>
              </a:rPr>
              <a:t>422: {"sequence": []}</a:t>
            </a:r>
          </a:p>
          <a:p xmlns:a="http://schemas.openxmlformats.org/drawingml/2006/main">
            <a:pPr>
              <a:buNone/>
              <a:defRPr sz="1350" b="0">
                <a:solidFill>
                  <a:srgbClr val="9D4D3E"/>
                </a:solidFill>
                <a:latin typeface="NanumGothic"/>
                <a:ea typeface="NanumGothic"/>
                <a:cs typeface="NanumGothic"/>
              </a:defRPr>
            </a:pPr>
            <a:r>
              <a:rPr sz="1350" b="0">
                <a:solidFill>
                  <a:srgbClr val="9D4D3E"/>
                </a:solidFill>
                <a:latin typeface="NanumGothic"/>
                <a:ea typeface="NanumGothic"/>
                <a:cs typeface="NanumGothic"/>
              </a:rPr>
              <a:t>detail[0].type = "too_short"</a:t>
            </a:r>
          </a:p>
          <a:p xmlns:a="http://schemas.openxmlformats.org/drawingml/2006/main">
            <a:pPr>
              <a:buNone/>
              <a:defRPr sz="1350" b="0">
                <a:solidFill>
                  <a:srgbClr val="9D4D3E"/>
                </a:solidFill>
                <a:latin typeface="NanumGothic"/>
                <a:ea typeface="NanumGothic"/>
                <a:cs typeface="NanumGothic"/>
              </a:defRPr>
            </a:pPr>
            <a:r>
              <a:rPr sz="1350" b="0">
                <a:solidFill>
                  <a:srgbClr val="9D4D3E"/>
                </a:solidFill>
                <a:latin typeface="NanumGothic"/>
                <a:ea typeface="NanumGothic"/>
                <a:cs typeface="NanumGothic"/>
              </a:rPr>
              <a:t>loc = ["body", "sequence"]</a:t>
            </a:r>
          </a:p>
        </p:txBody>
      </p:sp>
    </p:spTree>
    <p:extLst>
      <p:ext uri="{BB962C8B-B14F-4D97-AF65-F5344CB8AC3E}">
        <p14:creationId xmlns:p14="http://schemas.microsoft.com/office/powerpoint/2010/main" val="219003110"/>
      </p:ext>
    </p:extLst>
  </p:cSld>
</p:sld>
</file>

<file path=ppt/slides/slide18.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80E8139-B158-4F3D-BD7E-86A72EC6C34D}"/>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⑤ API 명세</a:t>
            </a:r>
          </a:p>
        </p:txBody>
      </p:sp>
      <p:sp>
        <p:nvSpPr>
          <p:cNvPr id="2" name="">
            <a:extLst xmlns:a="http://schemas.openxmlformats.org/drawingml/2006/main">
              <a:ext uri="{FF2B5EF4-FFF2-40B4-BE49-F238E27FC236}">
                <a16:creationId xmlns:a16="http://schemas.microsoft.com/office/drawing/2014/main" id="{2BDB9A39-55CF-4A8D-B2E7-995FA3B31889}"/>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업로드·학습·배치 요청 예시</a:t>
            </a:r>
          </a:p>
        </p:txBody>
      </p:sp>
      <p:sp>
        <p:nvSpPr>
          <p:cNvPr id="3" name="">
            <a:extLst xmlns:a="http://schemas.openxmlformats.org/drawingml/2006/main">
              <a:ext uri="{FF2B5EF4-FFF2-40B4-BE49-F238E27FC236}">
                <a16:creationId xmlns:a16="http://schemas.microsoft.com/office/drawing/2014/main" id="{343C860D-55D5-4636-BFA9-F6D9B7252350}"/>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health 외 /api/v1 접두사 · id는 예시 식별자</a:t>
            </a:r>
          </a:p>
        </p:txBody>
      </p:sp>
      <p:sp>
        <p:nvSpPr>
          <p:cNvPr id="4" name="">
            <a:extLst xmlns:a="http://schemas.openxmlformats.org/drawingml/2006/main">
              <a:ext uri="{FF2B5EF4-FFF2-40B4-BE49-F238E27FC236}">
                <a16:creationId xmlns:a16="http://schemas.microsoft.com/office/drawing/2014/main" id="{DC612F95-A881-48D1-8600-E24051749B4F}"/>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18</a:t>
            </a:r>
          </a:p>
        </p:txBody>
      </p:sp>
      <p:graphicFrame>
        <p:nvGraphicFramePr>
          <p:cNvPr id="5" name="">
            <a:extLst xmlns:a="http://schemas.openxmlformats.org/drawingml/2006/main">
              <a:ext uri="{FF2B5EF4-FFF2-40B4-BE49-F238E27FC236}">
                <a16:creationId xmlns:a16="http://schemas.microsoft.com/office/drawing/2014/main" id="{DD407BA5-ADAB-4D76-8D8F-298B0D77DCDF}"/>
              </a:ext>
            </a:extLst>
          </p:cNvPr>
          <p:cNvGraphicFramePr/>
          <p:nvPr/>
        </p:nvGraphicFramePr>
        <p:xfrm>
          <a:off xmlns:a="http://schemas.openxmlformats.org/drawingml/2006/main" x="571500" y="1495425"/>
          <a:ext xmlns:a="http://schemas.openxmlformats.org/drawingml/2006/main" cx="8001000" cy="2952750"/>
        </p:xfrm>
        <a:graphic xmlns:a="http://schemas.openxmlformats.org/drawingml/2006/main">
          <a:graphicData uri="http://schemas.openxmlformats.org/drawingml/2006/table">
            <a:tbl>
              <a:tblPr/>
              <a:tblGrid>
                <a:gridCol w="2286000"/>
                <a:gridCol w="2809875"/>
                <a:gridCol w="2905125"/>
              </a:tblGrid>
              <a:tr h="590550">
                <a:tc>
                  <a:txBody>
                    <a:bodyPr/>
                    <a:lstStyle/>
                    <a:p>
                      <a:r>
                        <a:rPr sz="1275" b="1">
                          <a:solidFill>
                            <a:srgbClr val="007D68"/>
                          </a:solidFill>
                          <a:latin typeface="NanumGothic"/>
                          <a:ea typeface="NanumGothic"/>
                          <a:cs typeface="NanumGothic"/>
                        </a:rPr>
                        <a:t>호출</a:t>
                      </a:r>
                    </a:p>
                  </a:txBody>
                  <a:tcPr marL="91440" marR="91440" marT="45720" marB="45720">
                    <a:solidFill>
                      <a:srgbClr val="E7EFEB"/>
                    </a:solidFill>
                  </a:tcPr>
                </a:tc>
                <a:tc>
                  <a:txBody>
                    <a:bodyPr/>
                    <a:lstStyle/>
                    <a:p>
                      <a:r>
                        <a:rPr sz="1275" b="1">
                          <a:solidFill>
                            <a:srgbClr val="007D68"/>
                          </a:solidFill>
                          <a:latin typeface="NanumGothic"/>
                          <a:ea typeface="NanumGothic"/>
                          <a:cs typeface="NanumGothic"/>
                        </a:rPr>
                        <a:t>Request 예시</a:t>
                      </a:r>
                    </a:p>
                  </a:txBody>
                  <a:tcPr marL="91440" marR="91440" marT="45720" marB="45720">
                    <a:solidFill>
                      <a:srgbClr val="E7EFEB"/>
                    </a:solidFill>
                  </a:tcPr>
                </a:tc>
                <a:tc>
                  <a:txBody>
                    <a:bodyPr/>
                    <a:lstStyle/>
                    <a:p>
                      <a:r>
                        <a:rPr sz="1275" b="1">
                          <a:solidFill>
                            <a:srgbClr val="007D68"/>
                          </a:solidFill>
                          <a:latin typeface="NanumGothic"/>
                          <a:ea typeface="NanumGothic"/>
                          <a:cs typeface="NanumGothic"/>
                        </a:rPr>
                        <a:t>Response 예시</a:t>
                      </a:r>
                    </a:p>
                  </a:txBody>
                  <a:tcPr marL="91440" marR="91440" marT="45720" marB="45720">
                    <a:solidFill>
                      <a:srgbClr val="E7EFEB"/>
                    </a:solidFill>
                  </a:tcPr>
                </a:tc>
              </a:tr>
              <a:tr h="590550">
                <a:tc>
                  <a:txBody>
                    <a:bodyPr/>
                    <a:lstStyle/>
                    <a:p>
                      <a:r>
                        <a:rPr sz="1275" b="0">
                          <a:solidFill>
                            <a:srgbClr val="222A2D"/>
                          </a:solidFill>
                          <a:latin typeface="NanumGothic"/>
                          <a:ea typeface="NanumGothic"/>
                          <a:cs typeface="NanumGothic"/>
                        </a:rPr>
                        <a:t>POST /datasets</a:t>
                      </a:r>
                    </a:p>
                  </a:txBody>
                  <a:tcPr marL="91440" marR="91440" marT="45720" marB="45720">
                    <a:solidFill>
                      <a:srgbClr val="FAFBF9"/>
                    </a:solidFill>
                  </a:tcPr>
                </a:tc>
                <a:tc>
                  <a:txBody>
                    <a:bodyPr/>
                    <a:lstStyle/>
                    <a:p>
                      <a:r>
                        <a:rPr sz="1275" b="0">
                          <a:solidFill>
                            <a:srgbClr val="222A2D"/>
                          </a:solidFill>
                          <a:latin typeface="NanumGothic"/>
                          <a:ea typeface="NanumGothic"/>
                          <a:cs typeface="NanumGothic"/>
                        </a:rPr>
                        <a:t>multipart: file=observations.csv</a:t>
                      </a:r>
                    </a:p>
                    <a:p>
                      <a:r>
                        <a:rPr sz="1275" b="0">
                          <a:solidFill>
                            <a:srgbClr val="222A2D"/>
                          </a:solidFill>
                          <a:latin typeface="NanumGothic"/>
                          <a:ea typeface="NanumGothic"/>
                          <a:cs typeface="NanumGothic"/>
                        </a:rPr>
                        <a:t>manifest=stations.json</a:t>
                      </a:r>
                    </a:p>
                  </a:txBody>
                  <a:tcPr marL="91440" marR="91440" marT="45720" marB="45720">
                    <a:solidFill>
                      <a:srgbClr val="FAFBF9"/>
                    </a:solidFill>
                  </a:tcPr>
                </a:tc>
                <a:tc>
                  <a:txBody>
                    <a:bodyPr/>
                    <a:lstStyle/>
                    <a:p>
                      <a:r>
                        <a:rPr sz="1275" b="0">
                          <a:solidFill>
                            <a:srgbClr val="222A2D"/>
                          </a:solidFill>
                          <a:latin typeface="NanumGothic"/>
                          <a:ea typeface="NanumGothic"/>
                          <a:cs typeface="NanumGothic"/>
                        </a:rPr>
                        <a:t>202 {"dataset_id":"dataset-id",</a:t>
                      </a:r>
                    </a:p>
                    <a:p>
                      <a:r>
                        <a:rPr sz="1275" b="0">
                          <a:solidFill>
                            <a:srgbClr val="222A2D"/>
                          </a:solidFill>
                          <a:latin typeface="NanumGothic"/>
                          <a:ea typeface="NanumGothic"/>
                          <a:cs typeface="NanumGothic"/>
                        </a:rPr>
                        <a:t>"job_id":"job-id","status":"validating"}</a:t>
                      </a:r>
                    </a:p>
                  </a:txBody>
                  <a:tcPr marL="91440" marR="91440" marT="45720" marB="45720">
                    <a:solidFill>
                      <a:srgbClr val="FAFBF9"/>
                    </a:solidFill>
                  </a:tcPr>
                </a:tc>
              </a:tr>
              <a:tr h="590550">
                <a:tc>
                  <a:txBody>
                    <a:bodyPr/>
                    <a:lstStyle/>
                    <a:p>
                      <a:r>
                        <a:rPr sz="1275" b="0">
                          <a:solidFill>
                            <a:srgbClr val="222A2D"/>
                          </a:solidFill>
                          <a:latin typeface="NanumGothic"/>
                          <a:ea typeface="NanumGothic"/>
                          <a:cs typeface="NanumGothic"/>
                        </a:rPr>
                        <a:t>POST /jobs/train</a:t>
                      </a:r>
                    </a:p>
                  </a:txBody>
                  <a:tcPr marL="91440" marR="91440" marT="45720" marB="45720">
                    <a:solidFill>
                      <a:srgbClr val="F2F6F3"/>
                    </a:solidFill>
                  </a:tcPr>
                </a:tc>
                <a:tc>
                  <a:txBody>
                    <a:bodyPr/>
                    <a:lstStyle/>
                    <a:p>
                      <a:r>
                        <a:rPr sz="1275" b="0">
                          <a:solidFill>
                            <a:srgbClr val="222A2D"/>
                          </a:solidFill>
                          <a:latin typeface="NanumGothic"/>
                          <a:ea typeface="NanumGothic"/>
                          <a:cs typeface="NanumGothic"/>
                        </a:rPr>
                        <a:t>{"dataset_id":"dataset-id",</a:t>
                      </a:r>
                    </a:p>
                    <a:p>
                      <a:r>
                        <a:rPr sz="1275" b="0">
                          <a:solidFill>
                            <a:srgbClr val="222A2D"/>
                          </a:solidFill>
                          <a:latin typeface="NanumGothic"/>
                          <a:ea typeface="NanumGothic"/>
                          <a:cs typeface="NanumGothic"/>
                        </a:rPr>
                        <a:t>"district_code":"11110"}</a:t>
                      </a:r>
                    </a:p>
                  </a:txBody>
                  <a:tcPr marL="91440" marR="91440" marT="45720" marB="45720">
                    <a:solidFill>
                      <a:srgbClr val="F2F6F3"/>
                    </a:solidFill>
                  </a:tcPr>
                </a:tc>
                <a:tc>
                  <a:txBody>
                    <a:bodyPr/>
                    <a:lstStyle/>
                    <a:p>
                      <a:r>
                        <a:rPr sz="1275" b="0">
                          <a:solidFill>
                            <a:srgbClr val="222A2D"/>
                          </a:solidFill>
                          <a:latin typeface="NanumGothic"/>
                          <a:ea typeface="NanumGothic"/>
                          <a:cs typeface="NanumGothic"/>
                        </a:rPr>
                        <a:t>202 {"id":"job-id",</a:t>
                      </a:r>
                    </a:p>
                    <a:p>
                      <a:r>
                        <a:rPr sz="1275" b="0">
                          <a:solidFill>
                            <a:srgbClr val="222A2D"/>
                          </a:solidFill>
                          <a:latin typeface="NanumGothic"/>
                          <a:ea typeface="NanumGothic"/>
                          <a:cs typeface="NanumGothic"/>
                        </a:rPr>
                        <a:t>"kind":"train","status":"queued"}</a:t>
                      </a:r>
                    </a:p>
                  </a:txBody>
                  <a:tcPr marL="91440" marR="91440" marT="45720" marB="45720">
                    <a:solidFill>
                      <a:srgbClr val="F2F6F3"/>
                    </a:solidFill>
                  </a:tcPr>
                </a:tc>
              </a:tr>
              <a:tr h="590550">
                <a:tc>
                  <a:txBody>
                    <a:bodyPr/>
                    <a:lstStyle/>
                    <a:p>
                      <a:r>
                        <a:rPr sz="1275" b="0">
                          <a:solidFill>
                            <a:srgbClr val="222A2D"/>
                          </a:solidFill>
                          <a:latin typeface="NanumGothic"/>
                          <a:ea typeface="NanumGothic"/>
                          <a:cs typeface="NanumGothic"/>
                        </a:rPr>
                        <a:t>POST /replays/{id}/advance</a:t>
                      </a:r>
                    </a:p>
                  </a:txBody>
                  <a:tcPr marL="91440" marR="91440" marT="45720" marB="45720">
                    <a:solidFill>
                      <a:srgbClr val="FAFBF9"/>
                    </a:solidFill>
                  </a:tcPr>
                </a:tc>
                <a:tc>
                  <a:txBody>
                    <a:bodyPr/>
                    <a:lstStyle/>
                    <a:p>
                      <a:r>
                        <a:rPr sz="1275" b="0">
                          <a:solidFill>
                            <a:srgbClr val="222A2D"/>
                          </a:solidFill>
                          <a:latin typeface="NanumGothic"/>
                          <a:ea typeface="NanumGothic"/>
                          <a:cs typeface="NanumGothic"/>
                        </a:rPr>
                        <a:t>{"days":11}</a:t>
                      </a:r>
                    </a:p>
                  </a:txBody>
                  <a:tcPr marL="91440" marR="91440" marT="45720" marB="45720">
                    <a:solidFill>
                      <a:srgbClr val="FAFBF9"/>
                    </a:solidFill>
                  </a:tcPr>
                </a:tc>
                <a:tc>
                  <a:txBody>
                    <a:bodyPr/>
                    <a:lstStyle/>
                    <a:p>
                      <a:r>
                        <a:rPr sz="1275" b="0">
                          <a:solidFill>
                            <a:srgbClr val="222A2D"/>
                          </a:solidFill>
                          <a:latin typeface="NanumGothic"/>
                          <a:ea typeface="NanumGothic"/>
                          <a:cs typeface="NanumGothic"/>
                        </a:rPr>
                        <a:t>202 {"id":"job-id",</a:t>
                      </a:r>
                    </a:p>
                    <a:p>
                      <a:r>
                        <a:rPr sz="1275" b="0">
                          <a:solidFill>
                            <a:srgbClr val="222A2D"/>
                          </a:solidFill>
                          <a:latin typeface="NanumGothic"/>
                          <a:ea typeface="NanumGothic"/>
                          <a:cs typeface="NanumGothic"/>
                        </a:rPr>
                        <a:t>"kind":"advance","status":"queued"}</a:t>
                      </a:r>
                    </a:p>
                  </a:txBody>
                  <a:tcPr marL="91440" marR="91440" marT="45720" marB="45720">
                    <a:solidFill>
                      <a:srgbClr val="FAFBF9"/>
                    </a:solidFill>
                  </a:tcPr>
                </a:tc>
              </a:tr>
              <a:tr h="590550">
                <a:tc>
                  <a:txBody>
                    <a:bodyPr/>
                    <a:lstStyle/>
                    <a:p>
                      <a:r>
                        <a:rPr sz="1275" b="0">
                          <a:solidFill>
                            <a:srgbClr val="222A2D"/>
                          </a:solidFill>
                          <a:latin typeface="NanumGothic"/>
                          <a:ea typeface="NanumGothic"/>
                          <a:cs typeface="NanumGothic"/>
                        </a:rPr>
                        <a:t>GET /jobs/{id}</a:t>
                      </a:r>
                    </a:p>
                  </a:txBody>
                  <a:tcPr marL="91440" marR="91440" marT="45720" marB="45720">
                    <a:solidFill>
                      <a:srgbClr val="F2F6F3"/>
                    </a:solidFill>
                  </a:tcPr>
                </a:tc>
                <a:tc>
                  <a:txBody>
                    <a:bodyPr/>
                    <a:lstStyle/>
                    <a:p>
                      <a:r>
                        <a:rPr sz="1275" b="0">
                          <a:solidFill>
                            <a:srgbClr val="222A2D"/>
                          </a:solidFill>
                          <a:latin typeface="NanumGothic"/>
                          <a:ea typeface="NanumGothic"/>
                          <a:cs typeface="NanumGothic"/>
                        </a:rPr>
                        <a:t>body 없음</a:t>
                      </a:r>
                    </a:p>
                  </a:txBody>
                  <a:tcPr marL="91440" marR="91440" marT="45720" marB="45720">
                    <a:solidFill>
                      <a:srgbClr val="F2F6F3"/>
                    </a:solidFill>
                  </a:tcPr>
                </a:tc>
                <a:tc>
                  <a:txBody>
                    <a:bodyPr/>
                    <a:lstStyle/>
                    <a:p>
                      <a:r>
                        <a:rPr sz="1275" b="0">
                          <a:solidFill>
                            <a:srgbClr val="222A2D"/>
                          </a:solidFill>
                          <a:latin typeface="NanumGothic"/>
                          <a:ea typeface="NanumGothic"/>
                          <a:cs typeface="NanumGothic"/>
                        </a:rPr>
                        <a:t>200 {"id":"job-id",</a:t>
                      </a:r>
                    </a:p>
                    <a:p>
                      <a:r>
                        <a:rPr sz="1275" b="0">
                          <a:solidFill>
                            <a:srgbClr val="222A2D"/>
                          </a:solidFill>
                          <a:latin typeface="NanumGothic"/>
                          <a:ea typeface="NanumGothic"/>
                          <a:cs typeface="NanumGothic"/>
                        </a:rPr>
                        <a:t>"status":"completed","result":{…}}</a:t>
                      </a:r>
                    </a:p>
                  </a:txBody>
                  <a:tcPr marL="91440" marR="91440" marT="45720" marB="45720">
                    <a:solidFill>
                      <a:srgbClr val="F2F6F3"/>
                    </a:solidFill>
                  </a:tcPr>
                </a:tc>
              </a:tr>
            </a:tbl>
          </a:graphicData>
        </a:graphic>
      </p:graphicFrame>
    </p:spTree>
    <p:extLst>
      <p:ext uri="{BB962C8B-B14F-4D97-AF65-F5344CB8AC3E}">
        <p14:creationId xmlns:p14="http://schemas.microsoft.com/office/powerpoint/2010/main" val="1941524447"/>
      </p:ext>
    </p:extLst>
  </p:cSld>
</p:sld>
</file>

<file path=ppt/slides/slide19.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B2474B7-CB1E-4B64-A552-39F030FF48E9}"/>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⑤ API 명세</a:t>
            </a:r>
          </a:p>
        </p:txBody>
      </p:sp>
      <p:sp>
        <p:nvSpPr>
          <p:cNvPr id="2" name="">
            <a:extLst xmlns:a="http://schemas.openxmlformats.org/drawingml/2006/main">
              <a:ext uri="{FF2B5EF4-FFF2-40B4-BE49-F238E27FC236}">
                <a16:creationId xmlns:a16="http://schemas.microsoft.com/office/drawing/2014/main" id="{D2EA9017-677D-4FD5-8208-88CB56F7B567}"/>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헬스·로그 조회와 오류 예시</a:t>
            </a:r>
          </a:p>
        </p:txBody>
      </p:sp>
      <p:sp>
        <p:nvSpPr>
          <p:cNvPr id="3" name="">
            <a:extLst xmlns:a="http://schemas.openxmlformats.org/drawingml/2006/main">
              <a:ext uri="{FF2B5EF4-FFF2-40B4-BE49-F238E27FC236}">
                <a16:creationId xmlns:a16="http://schemas.microsoft.com/office/drawing/2014/main" id="{B145875D-5752-4A5F-A8AD-4339B3DEB3E8}"/>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health 외 /api/v1 접두사 · 응답은 필요한 필드만 발췌</a:t>
            </a:r>
          </a:p>
        </p:txBody>
      </p:sp>
      <p:sp>
        <p:nvSpPr>
          <p:cNvPr id="4" name="">
            <a:extLst xmlns:a="http://schemas.openxmlformats.org/drawingml/2006/main">
              <a:ext uri="{FF2B5EF4-FFF2-40B4-BE49-F238E27FC236}">
                <a16:creationId xmlns:a16="http://schemas.microsoft.com/office/drawing/2014/main" id="{89EAB64D-477C-4E5E-A702-01436283109E}"/>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19</a:t>
            </a:r>
          </a:p>
        </p:txBody>
      </p:sp>
      <p:graphicFrame>
        <p:nvGraphicFramePr>
          <p:cNvPr id="5" name="">
            <a:extLst xmlns:a="http://schemas.openxmlformats.org/drawingml/2006/main">
              <a:ext uri="{FF2B5EF4-FFF2-40B4-BE49-F238E27FC236}">
                <a16:creationId xmlns:a16="http://schemas.microsoft.com/office/drawing/2014/main" id="{F1D4C707-FFBC-4099-AF52-3F4B49D51B9D}"/>
              </a:ext>
            </a:extLst>
          </p:cNvPr>
          <p:cNvGraphicFramePr/>
          <p:nvPr/>
        </p:nvGraphicFramePr>
        <p:xfrm>
          <a:off xmlns:a="http://schemas.openxmlformats.org/drawingml/2006/main" x="571500" y="1485900"/>
          <a:ext xmlns:a="http://schemas.openxmlformats.org/drawingml/2006/main" cx="8001000" cy="3000375"/>
        </p:xfrm>
        <a:graphic xmlns:a="http://schemas.openxmlformats.org/drawingml/2006/main">
          <a:graphicData uri="http://schemas.openxmlformats.org/drawingml/2006/table">
            <a:tbl>
              <a:tblPr/>
              <a:tblGrid>
                <a:gridCol w="2667000"/>
                <a:gridCol w="2619375"/>
                <a:gridCol w="2714625"/>
              </a:tblGrid>
              <a:tr h="500063">
                <a:tc>
                  <a:txBody>
                    <a:bodyPr/>
                    <a:lstStyle/>
                    <a:p>
                      <a:r>
                        <a:rPr sz="1200" b="1">
                          <a:solidFill>
                            <a:srgbClr val="007D68"/>
                          </a:solidFill>
                          <a:latin typeface="NanumGothic"/>
                          <a:ea typeface="NanumGothic"/>
                          <a:cs typeface="NanumGothic"/>
                        </a:rPr>
                        <a:t>Method / URL</a:t>
                      </a:r>
                    </a:p>
                  </a:txBody>
                  <a:tcPr marL="91440" marR="91440" marT="45720" marB="45720">
                    <a:solidFill>
                      <a:srgbClr val="E7EFEB"/>
                    </a:solidFill>
                  </a:tcPr>
                </a:tc>
                <a:tc>
                  <a:txBody>
                    <a:bodyPr/>
                    <a:lstStyle/>
                    <a:p>
                      <a:r>
                        <a:rPr sz="1200" b="1">
                          <a:solidFill>
                            <a:srgbClr val="007D68"/>
                          </a:solidFill>
                          <a:latin typeface="NanumGothic"/>
                          <a:ea typeface="NanumGothic"/>
                          <a:cs typeface="NanumGothic"/>
                        </a:rPr>
                        <a:t>정상 응답 예시</a:t>
                      </a:r>
                    </a:p>
                  </a:txBody>
                  <a:tcPr marL="91440" marR="91440" marT="45720" marB="45720">
                    <a:solidFill>
                      <a:srgbClr val="E7EFEB"/>
                    </a:solidFill>
                  </a:tcPr>
                </a:tc>
                <a:tc>
                  <a:txBody>
                    <a:bodyPr/>
                    <a:lstStyle/>
                    <a:p>
                      <a:r>
                        <a:rPr sz="1200" b="1">
                          <a:solidFill>
                            <a:srgbClr val="007D68"/>
                          </a:solidFill>
                          <a:latin typeface="NanumGothic"/>
                          <a:ea typeface="NanumGothic"/>
                          <a:cs typeface="NanumGothic"/>
                        </a:rPr>
                        <a:t>오류 조건·응답</a:t>
                      </a:r>
                    </a:p>
                  </a:txBody>
                  <a:tcPr marL="91440" marR="91440" marT="45720" marB="45720">
                    <a:solidFill>
                      <a:srgbClr val="E7EFEB"/>
                    </a:solidFill>
                  </a:tcPr>
                </a:tc>
              </a:tr>
              <a:tr h="500063">
                <a:tc>
                  <a:txBody>
                    <a:bodyPr/>
                    <a:lstStyle/>
                    <a:p>
                      <a:r>
                        <a:rPr sz="1200" b="0">
                          <a:solidFill>
                            <a:srgbClr val="222A2D"/>
                          </a:solidFill>
                          <a:latin typeface="NanumGothic"/>
                          <a:ea typeface="NanumGothic"/>
                          <a:cs typeface="NanumGothic"/>
                        </a:rPr>
                        <a:t>GET /health/live</a:t>
                      </a:r>
                    </a:p>
                  </a:txBody>
                  <a:tcPr marL="91440" marR="91440" marT="45720" marB="45720">
                    <a:solidFill>
                      <a:srgbClr val="FAFBF9"/>
                    </a:solidFill>
                  </a:tcPr>
                </a:tc>
                <a:tc>
                  <a:txBody>
                    <a:bodyPr/>
                    <a:lstStyle/>
                    <a:p>
                      <a:r>
                        <a:rPr sz="1200" b="0">
                          <a:solidFill>
                            <a:srgbClr val="222A2D"/>
                          </a:solidFill>
                          <a:latin typeface="NanumGothic"/>
                          <a:ea typeface="NanumGothic"/>
                          <a:cs typeface="NanumGothic"/>
                        </a:rPr>
                        <a:t>200 {"status":"alive"}</a:t>
                      </a:r>
                    </a:p>
                  </a:txBody>
                  <a:tcPr marL="91440" marR="91440" marT="45720" marB="45720">
                    <a:solidFill>
                      <a:srgbClr val="FAFBF9"/>
                    </a:solidFill>
                  </a:tcPr>
                </a:tc>
                <a:tc>
                  <a:txBody>
                    <a:bodyPr/>
                    <a:lstStyle/>
                    <a:p>
                      <a:r>
                        <a:rPr sz="1200" b="0">
                          <a:solidFill>
                            <a:srgbClr val="222A2D"/>
                          </a:solidFill>
                          <a:latin typeface="NanumGothic"/>
                          <a:ea typeface="NanumGothic"/>
                          <a:cs typeface="NanumGothic"/>
                        </a:rPr>
                        <a:t>프로세스 생존 확인</a:t>
                      </a:r>
                    </a:p>
                  </a:txBody>
                  <a:tcPr marL="91440" marR="91440" marT="45720" marB="45720">
                    <a:solidFill>
                      <a:srgbClr val="FAFBF9"/>
                    </a:solidFill>
                  </a:tcPr>
                </a:tc>
              </a:tr>
              <a:tr h="500063">
                <a:tc>
                  <a:txBody>
                    <a:bodyPr/>
                    <a:lstStyle/>
                    <a:p>
                      <a:r>
                        <a:rPr sz="1200" b="0">
                          <a:solidFill>
                            <a:srgbClr val="222A2D"/>
                          </a:solidFill>
                          <a:latin typeface="NanumGothic"/>
                          <a:ea typeface="NanumGothic"/>
                          <a:cs typeface="NanumGothic"/>
                        </a:rPr>
                        <a:t>GET /health/ready</a:t>
                      </a:r>
                    </a:p>
                  </a:txBody>
                  <a:tcPr marL="91440" marR="91440" marT="45720" marB="45720">
                    <a:solidFill>
                      <a:srgbClr val="F2F6F3"/>
                    </a:solidFill>
                  </a:tcPr>
                </a:tc>
                <a:tc>
                  <a:txBody>
                    <a:bodyPr/>
                    <a:lstStyle/>
                    <a:p>
                      <a:r>
                        <a:rPr sz="1200" b="0">
                          <a:solidFill>
                            <a:srgbClr val="222A2D"/>
                          </a:solidFill>
                          <a:latin typeface="NanumGothic"/>
                          <a:ea typeface="NanumGothic"/>
                          <a:cs typeface="NanumGothic"/>
                        </a:rPr>
                        <a:t>200 {"status":"ready",…}</a:t>
                      </a:r>
                    </a:p>
                  </a:txBody>
                  <a:tcPr marL="91440" marR="91440" marT="45720" marB="45720">
                    <a:solidFill>
                      <a:srgbClr val="F2F6F3"/>
                    </a:solidFill>
                  </a:tcPr>
                </a:tc>
                <a:tc>
                  <a:txBody>
                    <a:bodyPr/>
                    <a:lstStyle/>
                    <a:p>
                      <a:r>
                        <a:rPr sz="1200" b="0">
                          <a:solidFill>
                            <a:srgbClr val="222A2D"/>
                          </a:solidFill>
                          <a:latin typeface="NanumGothic"/>
                          <a:ea typeface="NanumGothic"/>
                          <a:cs typeface="NanumGothic"/>
                        </a:rPr>
                        <a:t>503: 입력·모델 준비 부족</a:t>
                      </a:r>
                    </a:p>
                  </a:txBody>
                  <a:tcPr marL="91440" marR="91440" marT="45720" marB="45720">
                    <a:solidFill>
                      <a:srgbClr val="F2F6F3"/>
                    </a:solidFill>
                  </a:tcPr>
                </a:tc>
              </a:tr>
              <a:tr h="500063">
                <a:tc>
                  <a:txBody>
                    <a:bodyPr/>
                    <a:lstStyle/>
                    <a:p>
                      <a:r>
                        <a:rPr sz="1200" b="0">
                          <a:solidFill>
                            <a:srgbClr val="222A2D"/>
                          </a:solidFill>
                          <a:latin typeface="NanumGothic"/>
                          <a:ea typeface="NanumGothic"/>
                          <a:cs typeface="NanumGothic"/>
                        </a:rPr>
                        <a:t>GET /events?replay_id={id}</a:t>
                      </a:r>
                    </a:p>
                  </a:txBody>
                  <a:tcPr marL="91440" marR="91440" marT="45720" marB="45720">
                    <a:solidFill>
                      <a:srgbClr val="FAFBF9"/>
                    </a:solidFill>
                  </a:tcPr>
                </a:tc>
                <a:tc>
                  <a:txBody>
                    <a:bodyPr/>
                    <a:lstStyle/>
                    <a:p>
                      <a:r>
                        <a:rPr sz="1200" b="0">
                          <a:solidFill>
                            <a:srgbClr val="222A2D"/>
                          </a:solidFill>
                          <a:latin typeface="NanumGothic"/>
                          <a:ea typeface="NanumGothic"/>
                          <a:cs typeface="NanumGothic"/>
                        </a:rPr>
                        <a:t>200 {"events":[…]}</a:t>
                      </a:r>
                    </a:p>
                  </a:txBody>
                  <a:tcPr marL="91440" marR="91440" marT="45720" marB="45720">
                    <a:solidFill>
                      <a:srgbClr val="FAFBF9"/>
                    </a:solidFill>
                  </a:tcPr>
                </a:tc>
                <a:tc>
                  <a:txBody>
                    <a:bodyPr/>
                    <a:lstStyle/>
                    <a:p>
                      <a:r>
                        <a:rPr sz="1200" b="0">
                          <a:solidFill>
                            <a:srgbClr val="222A2D"/>
                          </a:solidFill>
                          <a:latin typeface="NanumGothic"/>
                          <a:ea typeface="NanumGothic"/>
                          <a:cs typeface="NanumGothic"/>
                        </a:rPr>
                        <a:t>없는 시연: 404</a:t>
                      </a:r>
                    </a:p>
                  </a:txBody>
                  <a:tcPr marL="91440" marR="91440" marT="45720" marB="45720">
                    <a:solidFill>
                      <a:srgbClr val="FAFBF9"/>
                    </a:solidFill>
                  </a:tcPr>
                </a:tc>
              </a:tr>
              <a:tr h="500063">
                <a:tc>
                  <a:txBody>
                    <a:bodyPr/>
                    <a:lstStyle/>
                    <a:p>
                      <a:r>
                        <a:rPr sz="1200" b="0">
                          <a:solidFill>
                            <a:srgbClr val="222A2D"/>
                          </a:solidFill>
                          <a:latin typeface="NanumGothic"/>
                          <a:ea typeface="NanumGothic"/>
                          <a:cs typeface="NanumGothic"/>
                        </a:rPr>
                        <a:t>GET /jobs?replay_id={id}</a:t>
                      </a:r>
                    </a:p>
                  </a:txBody>
                  <a:tcPr marL="91440" marR="91440" marT="45720" marB="45720">
                    <a:solidFill>
                      <a:srgbClr val="F2F6F3"/>
                    </a:solidFill>
                  </a:tcPr>
                </a:tc>
                <a:tc>
                  <a:txBody>
                    <a:bodyPr/>
                    <a:lstStyle/>
                    <a:p>
                      <a:r>
                        <a:rPr sz="1200" b="0">
                          <a:solidFill>
                            <a:srgbClr val="222A2D"/>
                          </a:solidFill>
                          <a:latin typeface="NanumGothic"/>
                          <a:ea typeface="NanumGothic"/>
                          <a:cs typeface="NanumGothic"/>
                        </a:rPr>
                        <a:t>200 {"jobs":[…]}</a:t>
                      </a:r>
                    </a:p>
                  </a:txBody>
                  <a:tcPr marL="91440" marR="91440" marT="45720" marB="45720">
                    <a:solidFill>
                      <a:srgbClr val="F2F6F3"/>
                    </a:solidFill>
                  </a:tcPr>
                </a:tc>
                <a:tc>
                  <a:txBody>
                    <a:bodyPr/>
                    <a:lstStyle/>
                    <a:p>
                      <a:r>
                        <a:rPr sz="1200" b="0">
                          <a:solidFill>
                            <a:srgbClr val="222A2D"/>
                          </a:solidFill>
                          <a:latin typeface="NanumGothic"/>
                          <a:ea typeface="NanumGothic"/>
                          <a:cs typeface="NanumGothic"/>
                        </a:rPr>
                        <a:t>작업 결과·오류 기록 조회</a:t>
                      </a:r>
                    </a:p>
                  </a:txBody>
                  <a:tcPr marL="91440" marR="91440" marT="45720" marB="45720">
                    <a:solidFill>
                      <a:srgbClr val="F2F6F3"/>
                    </a:solidFill>
                  </a:tcPr>
                </a:tc>
              </a:tr>
              <a:tr h="500063">
                <a:tc>
                  <a:txBody>
                    <a:bodyPr/>
                    <a:lstStyle/>
                    <a:p>
                      <a:r>
                        <a:rPr sz="1200" b="0">
                          <a:solidFill>
                            <a:srgbClr val="222A2D"/>
                          </a:solidFill>
                          <a:latin typeface="NanumGothic"/>
                          <a:ea typeface="NanumGothic"/>
                          <a:cs typeface="NanumGothic"/>
                        </a:rPr>
                        <a:t>POST /replays/{id}/advance</a:t>
                      </a:r>
                    </a:p>
                  </a:txBody>
                  <a:tcPr marL="91440" marR="91440" marT="45720" marB="45720">
                    <a:solidFill>
                      <a:srgbClr val="FAFBF9"/>
                    </a:solidFill>
                  </a:tcPr>
                </a:tc>
                <a:tc>
                  <a:txBody>
                    <a:bodyPr/>
                    <a:lstStyle/>
                    <a:p>
                      <a:r>
                        <a:rPr sz="1200" b="0">
                          <a:solidFill>
                            <a:srgbClr val="222A2D"/>
                          </a:solidFill>
                          <a:latin typeface="NanumGothic"/>
                          <a:ea typeface="NanumGothic"/>
                          <a:cs typeface="NanumGothic"/>
                        </a:rPr>
                        <a:t>202 {"id":"job-id",…}</a:t>
                      </a:r>
                    </a:p>
                  </a:txBody>
                  <a:tcPr marL="91440" marR="91440" marT="45720" marB="45720">
                    <a:solidFill>
                      <a:srgbClr val="FAFBF9"/>
                    </a:solidFill>
                  </a:tcPr>
                </a:tc>
                <a:tc>
                  <a:txBody>
                    <a:bodyPr/>
                    <a:lstStyle/>
                    <a:p>
                      <a:r>
                        <a:rPr sz="1200" b="0">
                          <a:solidFill>
                            <a:srgbClr val="222A2D"/>
                          </a:solidFill>
                          <a:latin typeface="NanumGothic"/>
                          <a:ea typeface="NanumGothic"/>
                          <a:cs typeface="NanumGothic"/>
                        </a:rPr>
                        <a:t>409: 초기 모델 준비 중</a:t>
                      </a:r>
                    </a:p>
                    <a:p>
                      <a:r>
                        <a:rPr sz="1200" b="0">
                          <a:solidFill>
                            <a:srgbClr val="222A2D"/>
                          </a:solidFill>
                          <a:latin typeface="NanumGothic"/>
                          <a:ea typeface="NanumGothic"/>
                          <a:cs typeface="NanumGothic"/>
                        </a:rPr>
                        <a:t>{"detail":"…"}</a:t>
                      </a:r>
                    </a:p>
                  </a:txBody>
                  <a:tcPr marL="91440" marR="91440" marT="45720" marB="45720">
                    <a:solidFill>
                      <a:srgbClr val="FAFBF9"/>
                    </a:solidFill>
                  </a:tcPr>
                </a:tc>
              </a:tr>
            </a:tbl>
          </a:graphicData>
        </a:graphic>
      </p:graphicFrame>
    </p:spTree>
    <p:extLst>
      <p:ext uri="{BB962C8B-B14F-4D97-AF65-F5344CB8AC3E}">
        <p14:creationId xmlns:p14="http://schemas.microsoft.com/office/powerpoint/2010/main" val="1234998893"/>
      </p:ext>
    </p:extLst>
  </p:cSld>
</p:sld>
</file>

<file path=ppt/slides/slide20.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E66CE19-BEC3-4056-A4BD-72861783C6F9}"/>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⑥ 기존 서울 합성 시연의 실제 실행 화면</a:t>
            </a:r>
          </a:p>
        </p:txBody>
      </p:sp>
      <p:sp>
        <p:nvSpPr>
          <p:cNvPr id="2" name="">
            <a:extLst xmlns:a="http://schemas.openxmlformats.org/drawingml/2006/main">
              <a:ext uri="{FF2B5EF4-FFF2-40B4-BE49-F238E27FC236}">
                <a16:creationId xmlns:a16="http://schemas.microsoft.com/office/drawing/2014/main" id="{F469D41C-EEF9-422C-8395-3013C8D35F74}"/>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컨테이너 실행</a:t>
            </a:r>
          </a:p>
        </p:txBody>
      </p:sp>
      <p:sp>
        <p:nvSpPr>
          <p:cNvPr id="3" name="">
            <a:extLst xmlns:a="http://schemas.openxmlformats.org/drawingml/2006/main">
              <a:ext uri="{FF2B5EF4-FFF2-40B4-BE49-F238E27FC236}">
                <a16:creationId xmlns:a16="http://schemas.microsoft.com/office/drawing/2014/main" id="{B4E9F2D6-F134-47A0-AE05-018ACF708184}"/>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2026-10-08 직접 캡처 · 별도 검증 환경</a:t>
            </a:r>
          </a:p>
        </p:txBody>
      </p:sp>
      <p:sp>
        <p:nvSpPr>
          <p:cNvPr id="4" name="">
            <a:extLst xmlns:a="http://schemas.openxmlformats.org/drawingml/2006/main">
              <a:ext uri="{FF2B5EF4-FFF2-40B4-BE49-F238E27FC236}">
                <a16:creationId xmlns:a16="http://schemas.microsoft.com/office/drawing/2014/main" id="{CD3716C5-7ABC-4704-8F0D-BBA7C903F8F3}"/>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20</a:t>
            </a:r>
          </a:p>
        </p:txBody>
      </p:sp>
      <p:pic>
        <p:nvPicPr>
          <p:cNvPr id="5" name="">
            <a:extLst xmlns:a="http://schemas.openxmlformats.org/drawingml/2006/main">
              <a:ext uri="{FF2B5EF4-FFF2-40B4-BE49-F238E27FC236}">
                <a16:creationId xmlns:a16="http://schemas.microsoft.com/office/drawing/2014/main" id="{264373B2-4189-48BE-8DB0-CC42549010F2}"/>
              </a:ext>
            </a:extLst>
          </p:cNvPr>
          <p:cNvPicPr>
            <a:picLocks xmlns:a="http://schemas.openxmlformats.org/drawingml/2006/main" noChangeAspect="1"/>
          </p:cNvPicPr>
          <p:nvPr/>
        </p:nvPicPr>
        <p:blipFill>
          <a:blip xmlns:r="http://schemas.openxmlformats.org/officeDocument/2006/relationships" xmlns:a="http://schemas.openxmlformats.org/drawingml/2006/main" r:embed="Rf6a91a74acc84631"/>
          <a:stretch xmlns:a="http://schemas.openxmlformats.org/drawingml/2006/main"/>
        </p:blipFill>
        <p:spPr>
          <a:xfrm xmlns:a="http://schemas.openxmlformats.org/drawingml/2006/main">
            <a:off x="571500" y="2006856"/>
            <a:ext cx="5429250" cy="199656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F57B9AD-A144-4912-A62F-DB4CA8B760A7}"/>
              </a:ext>
            </a:extLst>
          </p:cNvPr>
          <p:cNvSpPr>
            <a:spLocks xmlns:a="http://schemas.openxmlformats.org/drawingml/2006/main" noGrp="1"/>
          </p:cNvSpPr>
          <p:nvPr/>
        </p:nvSpPr>
        <p:spPr>
          <a:xfrm xmlns:a="http://schemas.openxmlformats.org/drawingml/2006/main">
            <a:off x="6381750" y="2047875"/>
            <a:ext cx="2190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007D68"/>
                </a:solidFill>
                <a:latin typeface="NanumGothic"/>
                <a:ea typeface="NanumGothic"/>
                <a:cs typeface="NanumGothic"/>
              </a:defRPr>
            </a:defPPr>
          </a:lstStyle>
          <a:p xmlns:a="http://schemas.openxmlformats.org/drawingml/2006/main">
            <a:pPr>
              <a:buNone/>
              <a:defRPr sz="1950" b="1">
                <a:solidFill>
                  <a:srgbClr val="007D68"/>
                </a:solidFill>
                <a:latin typeface="NanumGothic"/>
                <a:ea typeface="NanumGothic"/>
                <a:cs typeface="NanumGothic"/>
              </a:defRPr>
            </a:pPr>
            <a:r>
              <a:rPr sz="1950" b="1">
                <a:solidFill>
                  <a:srgbClr val="007D68"/>
                </a:solidFill>
                <a:latin typeface="NanumGothic"/>
                <a:ea typeface="NanumGothic"/>
                <a:cs typeface="NanumGothic"/>
              </a:rPr>
              <a:t>API PID 9</a:t>
            </a:r>
          </a:p>
          <a:p xmlns:a="http://schemas.openxmlformats.org/drawingml/2006/main">
            <a:pPr>
              <a:buNone/>
              <a:defRPr sz="1950" b="1">
                <a:solidFill>
                  <a:srgbClr val="007D68"/>
                </a:solidFill>
                <a:latin typeface="NanumGothic"/>
                <a:ea typeface="NanumGothic"/>
                <a:cs typeface="NanumGothic"/>
              </a:defRPr>
            </a:pPr>
            <a:r>
              <a:rPr sz="1950" b="1">
                <a:solidFill>
                  <a:srgbClr val="007D68"/>
                </a:solidFill>
                <a:latin typeface="NanumGothic"/>
                <a:ea typeface="NanumGothic"/>
                <a:cs typeface="NanumGothic"/>
              </a:rPr>
              <a:t>worker PID 7</a:t>
            </a:r>
          </a:p>
          <a:p xmlns:a="http://schemas.openxmlformats.org/drawingml/2006/main">
            <a:pPr>
              <a:buNone/>
              <a:defRPr sz="1950" b="1">
                <a:solidFill>
                  <a:srgbClr val="007D68"/>
                </a:solidFill>
                <a:latin typeface="NanumGothic"/>
                <a:ea typeface="NanumGothic"/>
                <a:cs typeface="NanumGothic"/>
              </a:defRPr>
            </a:pPr>
            <a:r>
              <a:rPr sz="1950" b="1">
                <a:solidFill>
                  <a:srgbClr val="007D68"/>
                </a:solidFill>
                <a:latin typeface="NanumGothic"/>
                <a:ea typeface="NanumGothic"/>
                <a:cs typeface="NanumGothic"/>
              </a:rPr>
              <a:t>worker 실행 중</a:t>
            </a:r>
          </a:p>
        </p:txBody>
      </p:sp>
    </p:spTree>
    <p:extLst>
      <p:ext uri="{BB962C8B-B14F-4D97-AF65-F5344CB8AC3E}">
        <p14:creationId xmlns:p14="http://schemas.microsoft.com/office/powerpoint/2010/main" val="1500267973"/>
      </p:ext>
    </p:extLst>
  </p:cSld>
</p:sld>
</file>

<file path=ppt/slides/slide21.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63B2ED9-599F-4CB9-987E-2AF5380AC641}"/>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⑥ 기존 서울 합성 시연의 실제 실행 화면</a:t>
            </a:r>
          </a:p>
        </p:txBody>
      </p:sp>
      <p:sp>
        <p:nvSpPr>
          <p:cNvPr id="2" name="">
            <a:extLst xmlns:a="http://schemas.openxmlformats.org/drawingml/2006/main">
              <a:ext uri="{FF2B5EF4-FFF2-40B4-BE49-F238E27FC236}">
                <a16:creationId xmlns:a16="http://schemas.microsoft.com/office/drawing/2014/main" id="{E42EF398-0452-47C9-950A-56F51EADA116}"/>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요청 전: v1 예측</a:t>
            </a:r>
          </a:p>
        </p:txBody>
      </p:sp>
      <p:sp>
        <p:nvSpPr>
          <p:cNvPr id="3" name="">
            <a:extLst xmlns:a="http://schemas.openxmlformats.org/drawingml/2006/main">
              <a:ext uri="{FF2B5EF4-FFF2-40B4-BE49-F238E27FC236}">
                <a16:creationId xmlns:a16="http://schemas.microsoft.com/office/drawing/2014/main" id="{1271F265-0245-40F5-83FF-9B386ACEF2C3}"/>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종로구 · 동일 시연 세션 6d00ba · 합성 자료</a:t>
            </a:r>
          </a:p>
        </p:txBody>
      </p:sp>
      <p:sp>
        <p:nvSpPr>
          <p:cNvPr id="4" name="">
            <a:extLst xmlns:a="http://schemas.openxmlformats.org/drawingml/2006/main">
              <a:ext uri="{FF2B5EF4-FFF2-40B4-BE49-F238E27FC236}">
                <a16:creationId xmlns:a16="http://schemas.microsoft.com/office/drawing/2014/main" id="{C5918C0B-EEAC-4145-9279-FAEABFBBE5A5}"/>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21</a:t>
            </a:r>
          </a:p>
        </p:txBody>
      </p:sp>
      <p:pic>
        <p:nvPicPr>
          <p:cNvPr id="5" name="">
            <a:extLst xmlns:a="http://schemas.openxmlformats.org/drawingml/2006/main">
              <a:ext uri="{FF2B5EF4-FFF2-40B4-BE49-F238E27FC236}">
                <a16:creationId xmlns:a16="http://schemas.microsoft.com/office/drawing/2014/main" id="{9403C0AC-9AE4-4675-9070-7B57F480AEE2}"/>
              </a:ext>
            </a:extLst>
          </p:cNvPr>
          <p:cNvPicPr>
            <a:picLocks xmlns:a="http://schemas.openxmlformats.org/drawingml/2006/main" noChangeAspect="1"/>
          </p:cNvPicPr>
          <p:nvPr/>
        </p:nvPicPr>
        <p:blipFill>
          <a:blip xmlns:r="http://schemas.openxmlformats.org/officeDocument/2006/relationships" xmlns:a="http://schemas.openxmlformats.org/drawingml/2006/main" r:embed="R6b58e490c97144b9"/>
          <a:stretch xmlns:a="http://schemas.openxmlformats.org/drawingml/2006/main"/>
        </p:blipFill>
        <p:spPr>
          <a:xfrm xmlns:a="http://schemas.openxmlformats.org/drawingml/2006/main">
            <a:off x="1140554" y="1447800"/>
            <a:ext cx="2100392" cy="30670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87B6A16-2CB7-486A-AB67-FB44EB58825D}"/>
              </a:ext>
            </a:extLst>
          </p:cNvPr>
          <p:cNvSpPr>
            <a:spLocks xmlns:a="http://schemas.openxmlformats.org/drawingml/2006/main" noGrp="1"/>
          </p:cNvSpPr>
          <p:nvPr/>
        </p:nvSpPr>
        <p:spPr>
          <a:xfrm xmlns:a="http://schemas.openxmlformats.org/drawingml/2006/main">
            <a:off x="4429125" y="1704975"/>
            <a:ext cx="4143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007D68"/>
                </a:solidFill>
                <a:latin typeface="NanumGothic"/>
                <a:ea typeface="NanumGothic"/>
                <a:cs typeface="NanumGothic"/>
              </a:defRPr>
            </a:defPPr>
          </a:lstStyle>
          <a:p xmlns:a="http://schemas.openxmlformats.org/drawingml/2006/main">
            <a:pPr>
              <a:buNone/>
              <a:defRPr sz="2550" b="1">
                <a:solidFill>
                  <a:srgbClr val="007D68"/>
                </a:solidFill>
                <a:latin typeface="NanumGothic"/>
                <a:ea typeface="NanumGothic"/>
                <a:cs typeface="NanumGothic"/>
              </a:defRPr>
            </a:pPr>
            <a:r>
              <a:rPr sz="2550" b="1">
                <a:solidFill>
                  <a:srgbClr val="007D68"/>
                </a:solidFill>
                <a:latin typeface="NanumGothic"/>
                <a:ea typeface="NanumGothic"/>
                <a:cs typeface="NanumGothic"/>
              </a:rPr>
              <a:t>모델 v1</a:t>
            </a:r>
          </a:p>
        </p:txBody>
      </p:sp>
      <p:sp>
        <p:nvSpPr>
          <p:cNvPr id="7" name="">
            <a:extLst xmlns:a="http://schemas.openxmlformats.org/drawingml/2006/main">
              <a:ext uri="{FF2B5EF4-FFF2-40B4-BE49-F238E27FC236}">
                <a16:creationId xmlns:a16="http://schemas.microsoft.com/office/drawing/2014/main" id="{29687E2B-BE75-4474-926E-D24F0D777DE0}"/>
              </a:ext>
            </a:extLst>
          </p:cNvPr>
          <p:cNvSpPr>
            <a:spLocks xmlns:a="http://schemas.openxmlformats.org/drawingml/2006/main" noGrp="1"/>
          </p:cNvSpPr>
          <p:nvPr/>
        </p:nvSpPr>
        <p:spPr>
          <a:xfrm xmlns:a="http://schemas.openxmlformats.org/drawingml/2006/main">
            <a:off x="4429125" y="2466975"/>
            <a:ext cx="414337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22A2D"/>
                </a:solidFill>
                <a:latin typeface="NanumGothic"/>
                <a:ea typeface="NanumGothic"/>
                <a:cs typeface="NanumGothic"/>
              </a:defRPr>
            </a:defPPr>
          </a:lstStyle>
          <a:p xmlns:a="http://schemas.openxmlformats.org/drawingml/2006/main">
            <a:pPr>
              <a:buNone/>
              <a:defRPr sz="1875" b="0">
                <a:solidFill>
                  <a:srgbClr val="222A2D"/>
                </a:solidFill>
                <a:latin typeface="NanumGothic"/>
                <a:ea typeface="NanumGothic"/>
                <a:cs typeface="NanumGothic"/>
              </a:defRPr>
            </a:pPr>
            <a:r>
              <a:rPr sz="1875" b="0">
                <a:solidFill>
                  <a:srgbClr val="222A2D"/>
                </a:solidFill>
                <a:latin typeface="NanumGothic"/>
                <a:ea typeface="NanumGothic"/>
                <a:cs typeface="NanumGothic"/>
              </a:rPr>
              <a:t>예측 대상일 2026-07-11</a:t>
            </a:r>
          </a:p>
          <a:p xmlns:a="http://schemas.openxmlformats.org/drawingml/2006/main">
            <a:pPr>
              <a:buNone/>
              <a:defRPr sz="1875" b="0">
                <a:solidFill>
                  <a:srgbClr val="222A2D"/>
                </a:solidFill>
                <a:latin typeface="NanumGothic"/>
                <a:ea typeface="NanumGothic"/>
                <a:cs typeface="NanumGothic"/>
              </a:defRPr>
            </a:pPr>
            <a:r>
              <a:rPr sz="1875" b="0">
                <a:solidFill>
                  <a:srgbClr val="222A2D"/>
                </a:solidFill>
                <a:latin typeface="NanumGothic"/>
                <a:ea typeface="NanumGothic"/>
                <a:cs typeface="NanumGothic"/>
              </a:rPr>
              <a:t>예측 수위 -22.6053015 gl.-m</a:t>
            </a:r>
          </a:p>
          <a:p xmlns:a="http://schemas.openxmlformats.org/drawingml/2006/main">
            <a:pPr>
              <a:buNone/>
              <a:defRPr sz="1875" b="0">
                <a:solidFill>
                  <a:srgbClr val="222A2D"/>
                </a:solidFill>
                <a:latin typeface="NanumGothic"/>
                <a:ea typeface="NanumGothic"/>
                <a:cs typeface="NanumGothic"/>
              </a:defRPr>
            </a:pPr>
            <a:r>
              <a:rPr sz="1875" b="0">
                <a:solidFill>
                  <a:srgbClr val="222A2D"/>
                </a:solidFill>
                <a:latin typeface="NanumGothic"/>
                <a:ea typeface="NanumGothic"/>
                <a:cs typeface="NanumGothic"/>
              </a:rPr>
              <a:t>정답 0일 · 오차 평가 대기</a:t>
            </a:r>
          </a:p>
        </p:txBody>
      </p:sp>
    </p:spTree>
    <p:extLst>
      <p:ext uri="{BB962C8B-B14F-4D97-AF65-F5344CB8AC3E}">
        <p14:creationId xmlns:p14="http://schemas.microsoft.com/office/powerpoint/2010/main" val="1111711140"/>
      </p:ext>
    </p:extLst>
  </p:cSld>
</p:sld>
</file>

<file path=ppt/slides/slide22.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53C4DA7-1AE5-4439-851A-A5C074D92CAA}"/>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⑥ 기존 서울 합성 시연의 실제 실행 화면</a:t>
            </a:r>
          </a:p>
        </p:txBody>
      </p:sp>
      <p:sp>
        <p:nvSpPr>
          <p:cNvPr id="2" name="">
            <a:extLst xmlns:a="http://schemas.openxmlformats.org/drawingml/2006/main">
              <a:ext uri="{FF2B5EF4-FFF2-40B4-BE49-F238E27FC236}">
                <a16:creationId xmlns:a16="http://schemas.microsoft.com/office/drawing/2014/main" id="{C9C2B3D2-34DF-4DFF-9FC4-129817316049}"/>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변화 주입 후: 감지·재학습</a:t>
            </a:r>
          </a:p>
        </p:txBody>
      </p:sp>
      <p:sp>
        <p:nvSpPr>
          <p:cNvPr id="3" name="">
            <a:extLst xmlns:a="http://schemas.openxmlformats.org/drawingml/2006/main">
              <a:ext uri="{FF2B5EF4-FFF2-40B4-BE49-F238E27FC236}">
                <a16:creationId xmlns:a16="http://schemas.microsoft.com/office/drawing/2014/main" id="{4EC335E8-1B6B-4A51-B9B6-E8E75003BCE4}"/>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합성 변화 +0.2 gl.-m · 새 정답 30일 확보 전 교체 대기</a:t>
            </a:r>
          </a:p>
        </p:txBody>
      </p:sp>
      <p:sp>
        <p:nvSpPr>
          <p:cNvPr id="4" name="">
            <a:extLst xmlns:a="http://schemas.openxmlformats.org/drawingml/2006/main">
              <a:ext uri="{FF2B5EF4-FFF2-40B4-BE49-F238E27FC236}">
                <a16:creationId xmlns:a16="http://schemas.microsoft.com/office/drawing/2014/main" id="{7B405921-320E-4735-938E-B38C8F5A805C}"/>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22</a:t>
            </a:r>
          </a:p>
        </p:txBody>
      </p:sp>
      <p:pic>
        <p:nvPicPr>
          <p:cNvPr id="5" name="">
            <a:extLst xmlns:a="http://schemas.openxmlformats.org/drawingml/2006/main">
              <a:ext uri="{FF2B5EF4-FFF2-40B4-BE49-F238E27FC236}">
                <a16:creationId xmlns:a16="http://schemas.microsoft.com/office/drawing/2014/main" id="{2CC1EDE8-274D-480E-817C-503B8A6975BA}"/>
              </a:ext>
            </a:extLst>
          </p:cNvPr>
          <p:cNvPicPr>
            <a:picLocks xmlns:a="http://schemas.openxmlformats.org/drawingml/2006/main" noChangeAspect="1"/>
          </p:cNvPicPr>
          <p:nvPr/>
        </p:nvPicPr>
        <p:blipFill>
          <a:blip xmlns:r="http://schemas.openxmlformats.org/officeDocument/2006/relationships" xmlns:a="http://schemas.openxmlformats.org/drawingml/2006/main" r:embed="R13b8db4726fa4980"/>
          <a:stretch xmlns:a="http://schemas.openxmlformats.org/drawingml/2006/main"/>
        </p:blipFill>
        <p:spPr>
          <a:xfrm xmlns:a="http://schemas.openxmlformats.org/drawingml/2006/main">
            <a:off x="1439740" y="1524000"/>
            <a:ext cx="6264519" cy="2857500"/>
          </a:xfrm>
          <a:prstGeom xmlns:a="http://schemas.openxmlformats.org/drawingml/2006/main" prst="rect">
            <a:avLst/>
          </a:prstGeom>
        </p:spPr>
      </p:pic>
    </p:spTree>
    <p:extLst>
      <p:ext uri="{BB962C8B-B14F-4D97-AF65-F5344CB8AC3E}">
        <p14:creationId xmlns:p14="http://schemas.microsoft.com/office/powerpoint/2010/main" val="997179456"/>
      </p:ext>
    </p:extLst>
  </p:cSld>
</p:sld>
</file>

<file path=ppt/slides/slide23.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5D9F135-9C82-40C1-BBA2-44B8F3621E6A}"/>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⑥ 기존 서울 합성 시연의 실제 실행 화면</a:t>
            </a:r>
          </a:p>
        </p:txBody>
      </p:sp>
      <p:sp>
        <p:nvSpPr>
          <p:cNvPr id="2" name="">
            <a:extLst xmlns:a="http://schemas.openxmlformats.org/drawingml/2006/main">
              <a:ext uri="{FF2B5EF4-FFF2-40B4-BE49-F238E27FC236}">
                <a16:creationId xmlns:a16="http://schemas.microsoft.com/office/drawing/2014/main" id="{C899410E-4C04-4F40-95C4-6D51C8D5277A}"/>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품질 알림 기록</a:t>
            </a:r>
          </a:p>
        </p:txBody>
      </p:sp>
      <p:sp>
        <p:nvSpPr>
          <p:cNvPr id="3" name="">
            <a:extLst xmlns:a="http://schemas.openxmlformats.org/drawingml/2006/main">
              <a:ext uri="{FF2B5EF4-FFF2-40B4-BE49-F238E27FC236}">
                <a16:creationId xmlns:a16="http://schemas.microsoft.com/office/drawing/2014/main" id="{2D161B8F-D31D-409D-8B35-B33E6BEDB0F4}"/>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2026-10-08 06:12:24 UTC · 종로구 품질 이벤트</a:t>
            </a:r>
          </a:p>
        </p:txBody>
      </p:sp>
      <p:sp>
        <p:nvSpPr>
          <p:cNvPr id="4" name="">
            <a:extLst xmlns:a="http://schemas.openxmlformats.org/drawingml/2006/main">
              <a:ext uri="{FF2B5EF4-FFF2-40B4-BE49-F238E27FC236}">
                <a16:creationId xmlns:a16="http://schemas.microsoft.com/office/drawing/2014/main" id="{9F2F7AEC-F499-440F-96A1-5FD1AEFCDD65}"/>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23</a:t>
            </a:r>
          </a:p>
        </p:txBody>
      </p:sp>
      <p:pic>
        <p:nvPicPr>
          <p:cNvPr id="5" name="">
            <a:extLst xmlns:a="http://schemas.openxmlformats.org/drawingml/2006/main">
              <a:ext uri="{FF2B5EF4-FFF2-40B4-BE49-F238E27FC236}">
                <a16:creationId xmlns:a16="http://schemas.microsoft.com/office/drawing/2014/main" id="{5D8A2035-4D53-460E-A6CC-4F44C39C4151}"/>
              </a:ext>
            </a:extLst>
          </p:cNvPr>
          <p:cNvPicPr>
            <a:picLocks xmlns:a="http://schemas.openxmlformats.org/drawingml/2006/main" noChangeAspect="1"/>
          </p:cNvPicPr>
          <p:nvPr/>
        </p:nvPicPr>
        <p:blipFill>
          <a:blip xmlns:r="http://schemas.openxmlformats.org/officeDocument/2006/relationships" xmlns:a="http://schemas.openxmlformats.org/drawingml/2006/main" r:embed="R6af1fd01da934bfd"/>
          <a:stretch xmlns:a="http://schemas.openxmlformats.org/drawingml/2006/main"/>
        </p:blipFill>
        <p:spPr>
          <a:xfrm xmlns:a="http://schemas.openxmlformats.org/drawingml/2006/main">
            <a:off x="571500" y="1743446"/>
            <a:ext cx="8001000" cy="742208"/>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0FE513C-402F-41DB-82E3-9BA5D093D602}"/>
              </a:ext>
            </a:extLst>
          </p:cNvPr>
          <p:cNvSpPr>
            <a:spLocks xmlns:a="http://schemas.openxmlformats.org/drawingml/2006/main" noGrp="1"/>
          </p:cNvSpPr>
          <p:nvPr/>
        </p:nvSpPr>
        <p:spPr>
          <a:xfrm xmlns:a="http://schemas.openxmlformats.org/drawingml/2006/main">
            <a:off x="571500" y="2981325"/>
            <a:ext cx="3667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86B"/>
                </a:solidFill>
                <a:latin typeface="NanumGothic"/>
                <a:ea typeface="NanumGothic"/>
                <a:cs typeface="NanumGothic"/>
              </a:defRPr>
            </a:defPPr>
          </a:lstStyle>
          <a:p xmlns:a="http://schemas.openxmlformats.org/drawingml/2006/main">
            <a:pPr>
              <a:buNone/>
              <a:defRPr sz="1575" b="0">
                <a:solidFill>
                  <a:srgbClr val="5C686B"/>
                </a:solidFill>
                <a:latin typeface="NanumGothic"/>
                <a:ea typeface="NanumGothic"/>
                <a:cs typeface="NanumGothic"/>
              </a:defRPr>
            </a:pPr>
            <a:r>
              <a:rPr sz="1575" b="0">
                <a:solidFill>
                  <a:srgbClr val="5C686B"/>
                </a:solidFill>
                <a:latin typeface="NanumGothic"/>
                <a:ea typeface="NanumGothic"/>
                <a:cs typeface="NanumGothic"/>
              </a:rPr>
              <a:t>최근 21일 예측 오차 (RMSE)</a:t>
            </a:r>
          </a:p>
        </p:txBody>
      </p:sp>
      <p:sp>
        <p:nvSpPr>
          <p:cNvPr id="7" name="">
            <a:extLst xmlns:a="http://schemas.openxmlformats.org/drawingml/2006/main">
              <a:ext uri="{FF2B5EF4-FFF2-40B4-BE49-F238E27FC236}">
                <a16:creationId xmlns:a16="http://schemas.microsoft.com/office/drawing/2014/main" id="{DD2A8787-5562-40F1-AA78-E0C1CAB51F64}"/>
              </a:ext>
            </a:extLst>
          </p:cNvPr>
          <p:cNvSpPr>
            <a:spLocks xmlns:a="http://schemas.openxmlformats.org/drawingml/2006/main" noGrp="1"/>
          </p:cNvSpPr>
          <p:nvPr/>
        </p:nvSpPr>
        <p:spPr>
          <a:xfrm xmlns:a="http://schemas.openxmlformats.org/drawingml/2006/main">
            <a:off x="571500" y="3352800"/>
            <a:ext cx="3667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007D68"/>
                </a:solidFill>
                <a:latin typeface="NanumGothic"/>
                <a:ea typeface="NanumGothic"/>
                <a:cs typeface="NanumGothic"/>
              </a:defRPr>
            </a:defPPr>
          </a:lstStyle>
          <a:p xmlns:a="http://schemas.openxmlformats.org/drawingml/2006/main">
            <a:pPr>
              <a:buNone/>
              <a:defRPr sz="3225" b="1">
                <a:solidFill>
                  <a:srgbClr val="007D68"/>
                </a:solidFill>
                <a:latin typeface="NanumGothic"/>
                <a:ea typeface="NanumGothic"/>
                <a:cs typeface="NanumGothic"/>
              </a:defRPr>
            </a:pPr>
            <a:r>
              <a:rPr sz="3225" b="1">
                <a:solidFill>
                  <a:srgbClr val="007D68"/>
                </a:solidFill>
                <a:latin typeface="NanumGothic"/>
                <a:ea typeface="NanumGothic"/>
                <a:cs typeface="NanumGothic"/>
              </a:rPr>
              <a:t>0.0549187</a:t>
            </a:r>
          </a:p>
        </p:txBody>
      </p:sp>
      <p:sp>
        <p:nvSpPr>
          <p:cNvPr id="8" name="">
            <a:extLst xmlns:a="http://schemas.openxmlformats.org/drawingml/2006/main">
              <a:ext uri="{FF2B5EF4-FFF2-40B4-BE49-F238E27FC236}">
                <a16:creationId xmlns:a16="http://schemas.microsoft.com/office/drawing/2014/main" id="{3D09C8BF-BC76-413B-9CFA-E92A3294B632}"/>
              </a:ext>
            </a:extLst>
          </p:cNvPr>
          <p:cNvSpPr>
            <a:spLocks xmlns:a="http://schemas.openxmlformats.org/drawingml/2006/main" noGrp="1"/>
          </p:cNvSpPr>
          <p:nvPr/>
        </p:nvSpPr>
        <p:spPr>
          <a:xfrm xmlns:a="http://schemas.openxmlformats.org/drawingml/2006/main">
            <a:off x="4953000" y="2981325"/>
            <a:ext cx="3619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86B"/>
                </a:solidFill>
                <a:latin typeface="NanumGothic"/>
                <a:ea typeface="NanumGothic"/>
                <a:cs typeface="NanumGothic"/>
              </a:defRPr>
            </a:defPPr>
          </a:lstStyle>
          <a:p xmlns:a="http://schemas.openxmlformats.org/drawingml/2006/main">
            <a:pPr>
              <a:buNone/>
              <a:defRPr sz="1575" b="0">
                <a:solidFill>
                  <a:srgbClr val="5C686B"/>
                </a:solidFill>
                <a:latin typeface="NanumGothic"/>
                <a:ea typeface="NanumGothic"/>
                <a:cs typeface="NanumGothic"/>
              </a:defRPr>
            </a:pPr>
            <a:r>
              <a:rPr sz="1575" b="0">
                <a:solidFill>
                  <a:srgbClr val="5C686B"/>
                </a:solidFill>
                <a:latin typeface="NanumGothic"/>
                <a:ea typeface="NanumGothic"/>
                <a:cs typeface="NanumGothic"/>
              </a:rPr>
              <a:t>경보 기준</a:t>
            </a:r>
          </a:p>
        </p:txBody>
      </p:sp>
      <p:sp>
        <p:nvSpPr>
          <p:cNvPr id="9" name="">
            <a:extLst xmlns:a="http://schemas.openxmlformats.org/drawingml/2006/main">
              <a:ext uri="{FF2B5EF4-FFF2-40B4-BE49-F238E27FC236}">
                <a16:creationId xmlns:a16="http://schemas.microsoft.com/office/drawing/2014/main" id="{3C0F2438-8B12-47DF-AEFC-E578FB47B9EC}"/>
              </a:ext>
            </a:extLst>
          </p:cNvPr>
          <p:cNvSpPr>
            <a:spLocks xmlns:a="http://schemas.openxmlformats.org/drawingml/2006/main" noGrp="1"/>
          </p:cNvSpPr>
          <p:nvPr/>
        </p:nvSpPr>
        <p:spPr>
          <a:xfrm xmlns:a="http://schemas.openxmlformats.org/drawingml/2006/main">
            <a:off x="4953000" y="3352800"/>
            <a:ext cx="3619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222A2D"/>
                </a:solidFill>
                <a:latin typeface="NanumGothic"/>
                <a:ea typeface="NanumGothic"/>
                <a:cs typeface="NanumGothic"/>
              </a:defRPr>
            </a:defPPr>
          </a:lstStyle>
          <a:p xmlns:a="http://schemas.openxmlformats.org/drawingml/2006/main">
            <a:pPr>
              <a:buNone/>
              <a:defRPr sz="3225" b="1">
                <a:solidFill>
                  <a:srgbClr val="222A2D"/>
                </a:solidFill>
                <a:latin typeface="NanumGothic"/>
                <a:ea typeface="NanumGothic"/>
                <a:cs typeface="NanumGothic"/>
              </a:defRPr>
            </a:pPr>
            <a:r>
              <a:rPr sz="3225" b="1">
                <a:solidFill>
                  <a:srgbClr val="222A2D"/>
                </a:solidFill>
                <a:latin typeface="NanumGothic"/>
                <a:ea typeface="NanumGothic"/>
                <a:cs typeface="NanumGothic"/>
              </a:rPr>
              <a:t>0.0172312</a:t>
            </a:r>
          </a:p>
        </p:txBody>
      </p:sp>
      <p:sp>
        <p:nvSpPr>
          <p:cNvPr id="10" name="">
            <a:extLst xmlns:a="http://schemas.openxmlformats.org/drawingml/2006/main">
              <a:ext uri="{FF2B5EF4-FFF2-40B4-BE49-F238E27FC236}">
                <a16:creationId xmlns:a16="http://schemas.microsoft.com/office/drawing/2014/main" id="{43824AE2-D583-471F-AA37-D33296CC2394}"/>
              </a:ext>
            </a:extLst>
          </p:cNvPr>
          <p:cNvSpPr>
            <a:spLocks xmlns:a="http://schemas.openxmlformats.org/drawingml/2006/main" noGrp="1"/>
          </p:cNvSpPr>
          <p:nvPr/>
        </p:nvSpPr>
        <p:spPr>
          <a:xfrm xmlns:a="http://schemas.openxmlformats.org/drawingml/2006/main">
            <a:off x="571500" y="4114800"/>
            <a:ext cx="800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007D68"/>
                </a:solidFill>
                <a:latin typeface="NanumGothic"/>
                <a:ea typeface="NanumGothic"/>
                <a:cs typeface="NanumGothic"/>
              </a:defRPr>
            </a:defPPr>
          </a:lstStyle>
          <a:p xmlns:a="http://schemas.openxmlformats.org/drawingml/2006/main">
            <a:pPr>
              <a:buNone/>
              <a:defRPr sz="1875" b="1">
                <a:solidFill>
                  <a:srgbClr val="007D68"/>
                </a:solidFill>
                <a:latin typeface="NanumGothic"/>
                <a:ea typeface="NanumGothic"/>
                <a:cs typeface="NanumGothic"/>
              </a:defRPr>
            </a:pPr>
            <a:r>
              <a:rPr sz="1875" b="1">
                <a:solidFill>
                  <a:srgbClr val="007D68"/>
                </a:solidFill>
                <a:latin typeface="NanumGothic"/>
                <a:ea typeface="NanumGothic"/>
                <a:cs typeface="NanumGothic"/>
              </a:rPr>
              <a:t>경보 기준 초과 · 재학습 요청 기록</a:t>
            </a:r>
          </a:p>
        </p:txBody>
      </p:sp>
    </p:spTree>
    <p:extLst>
      <p:ext uri="{BB962C8B-B14F-4D97-AF65-F5344CB8AC3E}">
        <p14:creationId xmlns:p14="http://schemas.microsoft.com/office/powerpoint/2010/main" val="231839209"/>
      </p:ext>
    </p:extLst>
  </p:cSld>
</p:sld>
</file>

<file path=ppt/slides/slide24.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0A674B1-7174-4C07-A9E4-392ABEF0AD46}"/>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⑥ 기존 서울 합성 시연의 실제 실행 화면</a:t>
            </a:r>
          </a:p>
        </p:txBody>
      </p:sp>
      <p:sp>
        <p:nvSpPr>
          <p:cNvPr id="2" name="">
            <a:extLst xmlns:a="http://schemas.openxmlformats.org/drawingml/2006/main">
              <a:ext uri="{FF2B5EF4-FFF2-40B4-BE49-F238E27FC236}">
                <a16:creationId xmlns:a16="http://schemas.microsoft.com/office/drawing/2014/main" id="{773A643D-3C8F-42C8-B9F4-3F75867F0398}"/>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자동 재학습 작업 기록</a:t>
            </a:r>
          </a:p>
        </p:txBody>
      </p:sp>
      <p:sp>
        <p:nvSpPr>
          <p:cNvPr id="3" name="">
            <a:extLst xmlns:a="http://schemas.openxmlformats.org/drawingml/2006/main">
              <a:ext uri="{FF2B5EF4-FFF2-40B4-BE49-F238E27FC236}">
                <a16:creationId xmlns:a16="http://schemas.microsoft.com/office/drawing/2014/main" id="{2B7FF598-D5B6-44FA-9DCC-0EA154BA35EF}"/>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재학습 완료 후 후보 등록 · 새 정답으로 교체 판단</a:t>
            </a:r>
          </a:p>
        </p:txBody>
      </p:sp>
      <p:sp>
        <p:nvSpPr>
          <p:cNvPr id="4" name="">
            <a:extLst xmlns:a="http://schemas.openxmlformats.org/drawingml/2006/main">
              <a:ext uri="{FF2B5EF4-FFF2-40B4-BE49-F238E27FC236}">
                <a16:creationId xmlns:a16="http://schemas.microsoft.com/office/drawing/2014/main" id="{822557DD-B3B0-4DAC-A1B2-D902AD0819EC}"/>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24</a:t>
            </a:r>
          </a:p>
        </p:txBody>
      </p:sp>
      <p:pic>
        <p:nvPicPr>
          <p:cNvPr id="5" name="">
            <a:extLst xmlns:a="http://schemas.openxmlformats.org/drawingml/2006/main">
              <a:ext uri="{FF2B5EF4-FFF2-40B4-BE49-F238E27FC236}">
                <a16:creationId xmlns:a16="http://schemas.microsoft.com/office/drawing/2014/main" id="{59A90D61-C252-473D-A7C9-00627A799BA5}"/>
              </a:ext>
            </a:extLst>
          </p:cNvPr>
          <p:cNvPicPr>
            <a:picLocks xmlns:a="http://schemas.openxmlformats.org/drawingml/2006/main" noChangeAspect="1"/>
          </p:cNvPicPr>
          <p:nvPr/>
        </p:nvPicPr>
        <p:blipFill>
          <a:blip xmlns:r="http://schemas.openxmlformats.org/officeDocument/2006/relationships" xmlns:a="http://schemas.openxmlformats.org/drawingml/2006/main" r:embed="Rf5b9d157a65445e5"/>
          <a:stretch xmlns:a="http://schemas.openxmlformats.org/drawingml/2006/main"/>
        </p:blipFill>
        <p:spPr>
          <a:xfrm xmlns:a="http://schemas.openxmlformats.org/drawingml/2006/main">
            <a:off x="739863" y="1476375"/>
            <a:ext cx="4425773" cy="3000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3EFFCC3-0BB1-4EFA-87D8-503181643B76}"/>
              </a:ext>
            </a:extLst>
          </p:cNvPr>
          <p:cNvSpPr>
            <a:spLocks xmlns:a="http://schemas.openxmlformats.org/drawingml/2006/main" noGrp="1"/>
          </p:cNvSpPr>
          <p:nvPr/>
        </p:nvSpPr>
        <p:spPr>
          <a:xfrm xmlns:a="http://schemas.openxmlformats.org/drawingml/2006/main">
            <a:off x="5762625" y="1781175"/>
            <a:ext cx="2809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007D68"/>
                </a:solidFill>
                <a:latin typeface="NanumGothic"/>
                <a:ea typeface="NanumGothic"/>
                <a:cs typeface="NanumGothic"/>
              </a:defRPr>
            </a:defPPr>
          </a:lstStyle>
          <a:p xmlns:a="http://schemas.openxmlformats.org/drawingml/2006/main">
            <a:pPr>
              <a:buNone/>
              <a:defRPr sz="2100" b="1">
                <a:solidFill>
                  <a:srgbClr val="007D68"/>
                </a:solidFill>
                <a:latin typeface="NanumGothic"/>
                <a:ea typeface="NanumGothic"/>
                <a:cs typeface="NanumGothic"/>
              </a:defRPr>
            </a:pPr>
            <a:r>
              <a:rPr sz="2100" b="1">
                <a:solidFill>
                  <a:srgbClr val="007D68"/>
                </a:solidFill>
                <a:latin typeface="NanumGothic"/>
                <a:ea typeface="NanumGothic"/>
                <a:cs typeface="NanumGothic"/>
              </a:rPr>
              <a:t>fine_tune 완료</a:t>
            </a:r>
          </a:p>
        </p:txBody>
      </p:sp>
      <p:sp>
        <p:nvSpPr>
          <p:cNvPr id="7" name="">
            <a:extLst xmlns:a="http://schemas.openxmlformats.org/drawingml/2006/main">
              <a:ext uri="{FF2B5EF4-FFF2-40B4-BE49-F238E27FC236}">
                <a16:creationId xmlns:a16="http://schemas.microsoft.com/office/drawing/2014/main" id="{A089409F-A2EC-42DF-9B7F-8009C72FEC50}"/>
              </a:ext>
            </a:extLst>
          </p:cNvPr>
          <p:cNvSpPr>
            <a:spLocks xmlns:a="http://schemas.openxmlformats.org/drawingml/2006/main" noGrp="1"/>
          </p:cNvSpPr>
          <p:nvPr/>
        </p:nvSpPr>
        <p:spPr>
          <a:xfrm xmlns:a="http://schemas.openxmlformats.org/drawingml/2006/main">
            <a:off x="5762625" y="2476500"/>
            <a:ext cx="28098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22A2D"/>
                </a:solidFill>
                <a:latin typeface="NanumGothic"/>
                <a:ea typeface="NanumGothic"/>
                <a:cs typeface="NanumGothic"/>
              </a:defRPr>
            </a:defPPr>
          </a:lstStyle>
          <a:p xmlns:a="http://schemas.openxmlformats.org/drawingml/2006/main">
            <a:pPr>
              <a:buNone/>
              <a:defRPr sz="1875" b="0">
                <a:solidFill>
                  <a:srgbClr val="222A2D"/>
                </a:solidFill>
                <a:latin typeface="NanumGothic"/>
                <a:ea typeface="NanumGothic"/>
                <a:cs typeface="NanumGothic"/>
              </a:defRPr>
            </a:pPr>
            <a:r>
              <a:rPr sz="1875" b="0">
                <a:solidFill>
                  <a:srgbClr val="222A2D"/>
                </a:solidFill>
                <a:latin typeface="NanumGothic"/>
                <a:ea typeface="NanumGothic"/>
                <a:cs typeface="NanumGothic"/>
              </a:rPr>
              <a:t>후보 모델 v2</a:t>
            </a:r>
          </a:p>
          <a:p xmlns:a="http://schemas.openxmlformats.org/drawingml/2006/main">
            <a:pPr>
              <a:buNone/>
              <a:defRPr sz="1875" b="0">
                <a:solidFill>
                  <a:srgbClr val="222A2D"/>
                </a:solidFill>
                <a:latin typeface="NanumGothic"/>
                <a:ea typeface="NanumGothic"/>
                <a:cs typeface="NanumGothic"/>
              </a:defRPr>
            </a:pPr>
            <a:r>
              <a:rPr sz="1875" b="0">
                <a:solidFill>
                  <a:srgbClr val="222A2D"/>
                </a:solidFill>
                <a:latin typeface="NanumGothic"/>
                <a:ea typeface="NanumGothic"/>
                <a:cs typeface="NanumGothic"/>
              </a:rPr>
              <a:t>기존 서빙 v1 유지</a:t>
            </a:r>
          </a:p>
          <a:p xmlns:a="http://schemas.openxmlformats.org/drawingml/2006/main">
            <a:pPr>
              <a:buNone/>
              <a:defRPr sz="1875" b="0">
                <a:solidFill>
                  <a:srgbClr val="222A2D"/>
                </a:solidFill>
                <a:latin typeface="NanumGothic"/>
                <a:ea typeface="NanumGothic"/>
                <a:cs typeface="NanumGothic"/>
              </a:defRPr>
            </a:pPr>
            <a:r>
              <a:rPr sz="1875" b="0">
                <a:solidFill>
                  <a:srgbClr val="222A2D"/>
                </a:solidFill>
                <a:latin typeface="NanumGothic"/>
                <a:ea typeface="NanumGothic"/>
                <a:cs typeface="NanumGothic"/>
              </a:rPr>
              <a:t>후속 정답 30일 평가 대기</a:t>
            </a:r>
          </a:p>
        </p:txBody>
      </p:sp>
    </p:spTree>
    <p:extLst>
      <p:ext uri="{BB962C8B-B14F-4D97-AF65-F5344CB8AC3E}">
        <p14:creationId xmlns:p14="http://schemas.microsoft.com/office/powerpoint/2010/main" val="802299954"/>
      </p:ext>
    </p:extLst>
  </p:cSld>
</p:sld>
</file>

<file path=ppt/slides/slide25.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B9DB9D4-06F4-481D-A0A1-D97AEEA1CD02}"/>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⑥ 기존 서울 합성 시연의 실제 실행 화면</a:t>
            </a:r>
          </a:p>
        </p:txBody>
      </p:sp>
      <p:sp>
        <p:nvSpPr>
          <p:cNvPr id="2" name="">
            <a:extLst xmlns:a="http://schemas.openxmlformats.org/drawingml/2006/main">
              <a:ext uri="{FF2B5EF4-FFF2-40B4-BE49-F238E27FC236}">
                <a16:creationId xmlns:a16="http://schemas.microsoft.com/office/drawing/2014/main" id="{1FD3AF60-970B-4143-8AB9-E1F4DC54A9CE}"/>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후속 평가: 예측 오차 9.27% 감소</a:t>
            </a:r>
          </a:p>
        </p:txBody>
      </p:sp>
      <p:sp>
        <p:nvSpPr>
          <p:cNvPr id="3" name="">
            <a:extLst xmlns:a="http://schemas.openxmlformats.org/drawingml/2006/main">
              <a:ext uri="{FF2B5EF4-FFF2-40B4-BE49-F238E27FC236}">
                <a16:creationId xmlns:a16="http://schemas.microsoft.com/office/drawing/2014/main" id="{E50BECDC-3E25-40E5-A754-B6737D5C18DC}"/>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동일 후속 정답 30일 비교 · 합성 시연</a:t>
            </a:r>
          </a:p>
        </p:txBody>
      </p:sp>
      <p:sp>
        <p:nvSpPr>
          <p:cNvPr id="4" name="">
            <a:extLst xmlns:a="http://schemas.openxmlformats.org/drawingml/2006/main">
              <a:ext uri="{FF2B5EF4-FFF2-40B4-BE49-F238E27FC236}">
                <a16:creationId xmlns:a16="http://schemas.microsoft.com/office/drawing/2014/main" id="{F6907B54-99C8-448E-8256-C639D15B1738}"/>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25</a:t>
            </a:r>
          </a:p>
        </p:txBody>
      </p:sp>
      <p:pic>
        <p:nvPicPr>
          <p:cNvPr id="5" name="">
            <a:extLst xmlns:a="http://schemas.openxmlformats.org/drawingml/2006/main">
              <a:ext uri="{FF2B5EF4-FFF2-40B4-BE49-F238E27FC236}">
                <a16:creationId xmlns:a16="http://schemas.microsoft.com/office/drawing/2014/main" id="{DA027D66-842E-4710-BAFC-4451ACDFCABF}"/>
              </a:ext>
            </a:extLst>
          </p:cNvPr>
          <p:cNvPicPr>
            <a:picLocks xmlns:a="http://schemas.openxmlformats.org/drawingml/2006/main" noChangeAspect="1"/>
          </p:cNvPicPr>
          <p:nvPr/>
        </p:nvPicPr>
        <p:blipFill>
          <a:blip xmlns:r="http://schemas.openxmlformats.org/officeDocument/2006/relationships" xmlns:a="http://schemas.openxmlformats.org/drawingml/2006/main" r:embed="R29fa6965cc204292"/>
          <a:stretch xmlns:a="http://schemas.openxmlformats.org/drawingml/2006/main"/>
        </p:blipFill>
        <p:spPr>
          <a:xfrm xmlns:a="http://schemas.openxmlformats.org/drawingml/2006/main">
            <a:off x="1643529" y="1438275"/>
            <a:ext cx="5856941" cy="3048000"/>
          </a:xfrm>
          <a:prstGeom xmlns:a="http://schemas.openxmlformats.org/drawingml/2006/main" prst="rect">
            <a:avLst/>
          </a:prstGeom>
        </p:spPr>
      </p:pic>
    </p:spTree>
    <p:extLst>
      <p:ext uri="{BB962C8B-B14F-4D97-AF65-F5344CB8AC3E}">
        <p14:creationId xmlns:p14="http://schemas.microsoft.com/office/powerpoint/2010/main" val="1083526852"/>
      </p:ext>
    </p:extLst>
  </p:cSld>
</p:sld>
</file>

<file path=ppt/slides/slide26.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5630C55-010C-4CD8-A1AF-1C1F2E7727CA}"/>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⑥ 기존 서울 합성 시연의 실제 실행 화면</a:t>
            </a:r>
          </a:p>
        </p:txBody>
      </p:sp>
      <p:sp>
        <p:nvSpPr>
          <p:cNvPr id="2" name="">
            <a:extLst xmlns:a="http://schemas.openxmlformats.org/drawingml/2006/main">
              <a:ext uri="{FF2B5EF4-FFF2-40B4-BE49-F238E27FC236}">
                <a16:creationId xmlns:a16="http://schemas.microsoft.com/office/drawing/2014/main" id="{C11D3262-230C-4DD8-A16F-C754AFB636A0}"/>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게이트 통과 후: v2 실제 서빙</a:t>
            </a:r>
          </a:p>
        </p:txBody>
      </p:sp>
      <p:sp>
        <p:nvSpPr>
          <p:cNvPr id="3" name="">
            <a:extLst xmlns:a="http://schemas.openxmlformats.org/drawingml/2006/main">
              <a:ext uri="{FF2B5EF4-FFF2-40B4-BE49-F238E27FC236}">
                <a16:creationId xmlns:a16="http://schemas.microsoft.com/office/drawing/2014/main" id="{AD154AAA-AE65-4117-9BA1-8B645769A506}"/>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같은 시연 세션 · 평가 통과 → 교체 → 실제 응답 버전 확인</a:t>
            </a:r>
          </a:p>
        </p:txBody>
      </p:sp>
      <p:sp>
        <p:nvSpPr>
          <p:cNvPr id="4" name="">
            <a:extLst xmlns:a="http://schemas.openxmlformats.org/drawingml/2006/main">
              <a:ext uri="{FF2B5EF4-FFF2-40B4-BE49-F238E27FC236}">
                <a16:creationId xmlns:a16="http://schemas.microsoft.com/office/drawing/2014/main" id="{22A081A4-C2FA-475E-81C5-015AF34C5383}"/>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26</a:t>
            </a:r>
          </a:p>
        </p:txBody>
      </p:sp>
      <p:pic>
        <p:nvPicPr>
          <p:cNvPr id="5" name="">
            <a:extLst xmlns:a="http://schemas.openxmlformats.org/drawingml/2006/main">
              <a:ext uri="{FF2B5EF4-FFF2-40B4-BE49-F238E27FC236}">
                <a16:creationId xmlns:a16="http://schemas.microsoft.com/office/drawing/2014/main" id="{34B0B7A1-3DAA-4FAD-AB51-40E3F99E1721}"/>
              </a:ext>
            </a:extLst>
          </p:cNvPr>
          <p:cNvPicPr>
            <a:picLocks xmlns:a="http://schemas.openxmlformats.org/drawingml/2006/main" noChangeAspect="1"/>
          </p:cNvPicPr>
          <p:nvPr/>
        </p:nvPicPr>
        <p:blipFill>
          <a:blip xmlns:r="http://schemas.openxmlformats.org/officeDocument/2006/relationships" xmlns:a="http://schemas.openxmlformats.org/drawingml/2006/main" r:embed="R77e3043a55844d25"/>
          <a:stretch xmlns:a="http://schemas.openxmlformats.org/drawingml/2006/main"/>
        </p:blipFill>
        <p:spPr>
          <a:xfrm xmlns:a="http://schemas.openxmlformats.org/drawingml/2006/main">
            <a:off x="1439740" y="1524000"/>
            <a:ext cx="6264519" cy="2857500"/>
          </a:xfrm>
          <a:prstGeom xmlns:a="http://schemas.openxmlformats.org/drawingml/2006/main" prst="rect">
            <a:avLst/>
          </a:prstGeom>
        </p:spPr>
      </p:pic>
    </p:spTree>
    <p:extLst>
      <p:ext uri="{BB962C8B-B14F-4D97-AF65-F5344CB8AC3E}">
        <p14:creationId xmlns:p14="http://schemas.microsoft.com/office/powerpoint/2010/main" val="1196959055"/>
      </p:ext>
    </p:extLst>
  </p:cSld>
</p:sld>
</file>

<file path=ppt/slides/slide27.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379E716-0C2F-4FEF-A186-D16196D18E1E}"/>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⑥ 기존 서울 합성 시연의 실제 실행 화면</a:t>
            </a:r>
          </a:p>
        </p:txBody>
      </p:sp>
      <p:sp>
        <p:nvSpPr>
          <p:cNvPr id="2" name="">
            <a:extLst xmlns:a="http://schemas.openxmlformats.org/drawingml/2006/main">
              <a:ext uri="{FF2B5EF4-FFF2-40B4-BE49-F238E27FC236}">
                <a16:creationId xmlns:a16="http://schemas.microsoft.com/office/drawing/2014/main" id="{378ED018-0E00-42BB-BE3B-E35A4687DFC4}"/>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요청 후: v2 예측</a:t>
            </a:r>
          </a:p>
        </p:txBody>
      </p:sp>
      <p:sp>
        <p:nvSpPr>
          <p:cNvPr id="3" name="">
            <a:extLst xmlns:a="http://schemas.openxmlformats.org/drawingml/2006/main">
              <a:ext uri="{FF2B5EF4-FFF2-40B4-BE49-F238E27FC236}">
                <a16:creationId xmlns:a16="http://schemas.microsoft.com/office/drawing/2014/main" id="{1011063F-6651-4323-8624-20405080899F}"/>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종로구 · 동일 시연 세션 6d00ba · 날짜 진행 후 응답</a:t>
            </a:r>
          </a:p>
        </p:txBody>
      </p:sp>
      <p:sp>
        <p:nvSpPr>
          <p:cNvPr id="4" name="">
            <a:extLst xmlns:a="http://schemas.openxmlformats.org/drawingml/2006/main">
              <a:ext uri="{FF2B5EF4-FFF2-40B4-BE49-F238E27FC236}">
                <a16:creationId xmlns:a16="http://schemas.microsoft.com/office/drawing/2014/main" id="{ED1AD684-BD4F-45ED-B406-6CBA676D8831}"/>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27</a:t>
            </a:r>
          </a:p>
        </p:txBody>
      </p:sp>
      <p:pic>
        <p:nvPicPr>
          <p:cNvPr id="5" name="">
            <a:extLst xmlns:a="http://schemas.openxmlformats.org/drawingml/2006/main">
              <a:ext uri="{FF2B5EF4-FFF2-40B4-BE49-F238E27FC236}">
                <a16:creationId xmlns:a16="http://schemas.microsoft.com/office/drawing/2014/main" id="{3BEE6A14-DB35-406B-A882-5745B372B1C1}"/>
              </a:ext>
            </a:extLst>
          </p:cNvPr>
          <p:cNvPicPr>
            <a:picLocks xmlns:a="http://schemas.openxmlformats.org/drawingml/2006/main" noChangeAspect="1"/>
          </p:cNvPicPr>
          <p:nvPr/>
        </p:nvPicPr>
        <p:blipFill>
          <a:blip xmlns:r="http://schemas.openxmlformats.org/officeDocument/2006/relationships" xmlns:a="http://schemas.openxmlformats.org/drawingml/2006/main" r:embed="R84552a72e8db4ce8"/>
          <a:stretch xmlns:a="http://schemas.openxmlformats.org/drawingml/2006/main"/>
        </p:blipFill>
        <p:spPr>
          <a:xfrm xmlns:a="http://schemas.openxmlformats.org/drawingml/2006/main">
            <a:off x="1140554" y="1447800"/>
            <a:ext cx="2100392" cy="30670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430ED93-3EFC-40B5-95EE-2B4C4009A082}"/>
              </a:ext>
            </a:extLst>
          </p:cNvPr>
          <p:cNvSpPr>
            <a:spLocks xmlns:a="http://schemas.openxmlformats.org/drawingml/2006/main" noGrp="1"/>
          </p:cNvSpPr>
          <p:nvPr/>
        </p:nvSpPr>
        <p:spPr>
          <a:xfrm xmlns:a="http://schemas.openxmlformats.org/drawingml/2006/main">
            <a:off x="4429125" y="1704975"/>
            <a:ext cx="4143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007D68"/>
                </a:solidFill>
                <a:latin typeface="NanumGothic"/>
                <a:ea typeface="NanumGothic"/>
                <a:cs typeface="NanumGothic"/>
              </a:defRPr>
            </a:defPPr>
          </a:lstStyle>
          <a:p xmlns:a="http://schemas.openxmlformats.org/drawingml/2006/main">
            <a:pPr>
              <a:buNone/>
              <a:defRPr sz="2550" b="1">
                <a:solidFill>
                  <a:srgbClr val="007D68"/>
                </a:solidFill>
                <a:latin typeface="NanumGothic"/>
                <a:ea typeface="NanumGothic"/>
                <a:cs typeface="NanumGothic"/>
              </a:defRPr>
            </a:pPr>
            <a:r>
              <a:rPr sz="2550" b="1">
                <a:solidFill>
                  <a:srgbClr val="007D68"/>
                </a:solidFill>
                <a:latin typeface="NanumGothic"/>
                <a:ea typeface="NanumGothic"/>
                <a:cs typeface="NanumGothic"/>
              </a:rPr>
              <a:t>모델 v2</a:t>
            </a:r>
          </a:p>
        </p:txBody>
      </p:sp>
      <p:sp>
        <p:nvSpPr>
          <p:cNvPr id="7" name="">
            <a:extLst xmlns:a="http://schemas.openxmlformats.org/drawingml/2006/main">
              <a:ext uri="{FF2B5EF4-FFF2-40B4-BE49-F238E27FC236}">
                <a16:creationId xmlns:a16="http://schemas.microsoft.com/office/drawing/2014/main" id="{5621E9F2-8174-4774-AC40-CA5EE9245C8B}"/>
              </a:ext>
            </a:extLst>
          </p:cNvPr>
          <p:cNvSpPr>
            <a:spLocks xmlns:a="http://schemas.openxmlformats.org/drawingml/2006/main" noGrp="1"/>
          </p:cNvSpPr>
          <p:nvPr/>
        </p:nvSpPr>
        <p:spPr>
          <a:xfrm xmlns:a="http://schemas.openxmlformats.org/drawingml/2006/main">
            <a:off x="4429125" y="2466975"/>
            <a:ext cx="414337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22A2D"/>
                </a:solidFill>
                <a:latin typeface="NanumGothic"/>
                <a:ea typeface="NanumGothic"/>
                <a:cs typeface="NanumGothic"/>
              </a:defRPr>
            </a:defPPr>
          </a:lstStyle>
          <a:p xmlns:a="http://schemas.openxmlformats.org/drawingml/2006/main">
            <a:pPr>
              <a:buNone/>
              <a:defRPr sz="1875" b="0">
                <a:solidFill>
                  <a:srgbClr val="222A2D"/>
                </a:solidFill>
                <a:latin typeface="NanumGothic"/>
                <a:ea typeface="NanumGothic"/>
                <a:cs typeface="NanumGothic"/>
              </a:defRPr>
            </a:pPr>
            <a:r>
              <a:rPr sz="1875" b="0">
                <a:solidFill>
                  <a:srgbClr val="222A2D"/>
                </a:solidFill>
                <a:latin typeface="NanumGothic"/>
                <a:ea typeface="NanumGothic"/>
                <a:cs typeface="NanumGothic"/>
              </a:rPr>
              <a:t>예측 대상일 2026-09-02</a:t>
            </a:r>
          </a:p>
          <a:p xmlns:a="http://schemas.openxmlformats.org/drawingml/2006/main">
            <a:pPr>
              <a:buNone/>
              <a:defRPr sz="1875" b="0">
                <a:solidFill>
                  <a:srgbClr val="222A2D"/>
                </a:solidFill>
                <a:latin typeface="NanumGothic"/>
                <a:ea typeface="NanumGothic"/>
                <a:cs typeface="NanumGothic"/>
              </a:defRPr>
            </a:pPr>
            <a:r>
              <a:rPr sz="1875" b="0">
                <a:solidFill>
                  <a:srgbClr val="222A2D"/>
                </a:solidFill>
                <a:latin typeface="NanumGothic"/>
                <a:ea typeface="NanumGothic"/>
                <a:cs typeface="NanumGothic"/>
              </a:rPr>
              <a:t>예측 수위 -21.4740370 gl.-m</a:t>
            </a:r>
          </a:p>
          <a:p xmlns:a="http://schemas.openxmlformats.org/drawingml/2006/main">
            <a:pPr>
              <a:buNone/>
              <a:defRPr sz="1875" b="0">
                <a:solidFill>
                  <a:srgbClr val="222A2D"/>
                </a:solidFill>
                <a:latin typeface="NanumGothic"/>
                <a:ea typeface="NanumGothic"/>
                <a:cs typeface="NanumGothic"/>
              </a:defRPr>
            </a:pPr>
            <a:r>
              <a:rPr sz="1875" b="0">
                <a:solidFill>
                  <a:srgbClr val="222A2D"/>
                </a:solidFill>
                <a:latin typeface="NanumGothic"/>
                <a:ea typeface="NanumGothic"/>
                <a:cs typeface="NanumGothic"/>
              </a:rPr>
              <a:t>교체한 모델의 실제 응답 확인</a:t>
            </a:r>
          </a:p>
        </p:txBody>
      </p:sp>
    </p:spTree>
    <p:extLst>
      <p:ext uri="{BB962C8B-B14F-4D97-AF65-F5344CB8AC3E}">
        <p14:creationId xmlns:p14="http://schemas.microsoft.com/office/powerpoint/2010/main" val="769737299"/>
      </p:ext>
    </p:extLst>
  </p:cSld>
</p:sld>
</file>

<file path=ppt/slides/slide28.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5E92035-94D7-4F70-9460-650A0903BB8A}"/>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⑥ 기존 서울 합성 시연의 실제 실행 화면</a:t>
            </a:r>
          </a:p>
        </p:txBody>
      </p:sp>
      <p:sp>
        <p:nvSpPr>
          <p:cNvPr id="2" name="">
            <a:extLst xmlns:a="http://schemas.openxmlformats.org/drawingml/2006/main">
              <a:ext uri="{FF2B5EF4-FFF2-40B4-BE49-F238E27FC236}">
                <a16:creationId xmlns:a16="http://schemas.microsoft.com/office/drawing/2014/main" id="{BD18F104-6F6C-4AC8-A167-7D4B6022F021}"/>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관측일별 일 강수량</a:t>
            </a:r>
          </a:p>
        </p:txBody>
      </p:sp>
      <p:sp>
        <p:nvSpPr>
          <p:cNvPr id="3" name="">
            <a:extLst xmlns:a="http://schemas.openxmlformats.org/drawingml/2006/main">
              <a:ext uri="{FF2B5EF4-FFF2-40B4-BE49-F238E27FC236}">
                <a16:creationId xmlns:a16="http://schemas.microsoft.com/office/drawing/2014/main" id="{9E0596A7-7E8D-4C5B-B3DC-EF1B5FB69B7F}"/>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0mm는 점 · 결측은 빈칸 · 긴 기간은 가로 이동</a:t>
            </a:r>
          </a:p>
        </p:txBody>
      </p:sp>
      <p:sp>
        <p:nvSpPr>
          <p:cNvPr id="4" name="">
            <a:extLst xmlns:a="http://schemas.openxmlformats.org/drawingml/2006/main">
              <a:ext uri="{FF2B5EF4-FFF2-40B4-BE49-F238E27FC236}">
                <a16:creationId xmlns:a16="http://schemas.microsoft.com/office/drawing/2014/main" id="{00C0D588-E3F3-4BE0-9328-C741389826DB}"/>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28</a:t>
            </a:r>
          </a:p>
        </p:txBody>
      </p:sp>
      <p:pic>
        <p:nvPicPr>
          <p:cNvPr id="5" name="">
            <a:extLst xmlns:a="http://schemas.openxmlformats.org/drawingml/2006/main">
              <a:ext uri="{FF2B5EF4-FFF2-40B4-BE49-F238E27FC236}">
                <a16:creationId xmlns:a16="http://schemas.microsoft.com/office/drawing/2014/main" id="{CB3ABC3E-3D3E-451B-9D75-A96A8569E1E1}"/>
              </a:ext>
            </a:extLst>
          </p:cNvPr>
          <p:cNvPicPr>
            <a:picLocks xmlns:a="http://schemas.openxmlformats.org/drawingml/2006/main" noChangeAspect="1"/>
          </p:cNvPicPr>
          <p:nvPr/>
        </p:nvPicPr>
        <p:blipFill>
          <a:blip xmlns:r="http://schemas.openxmlformats.org/officeDocument/2006/relationships" xmlns:a="http://schemas.openxmlformats.org/drawingml/2006/main" r:embed="R3cd97c6876ec4b75"/>
          <a:stretch xmlns:a="http://schemas.openxmlformats.org/drawingml/2006/main"/>
        </p:blipFill>
        <p:spPr>
          <a:xfrm xmlns:a="http://schemas.openxmlformats.org/drawingml/2006/main">
            <a:off x="680723" y="1495425"/>
            <a:ext cx="7782554" cy="2952750"/>
          </a:xfrm>
          <a:prstGeom xmlns:a="http://schemas.openxmlformats.org/drawingml/2006/main" prst="rect">
            <a:avLst/>
          </a:prstGeom>
        </p:spPr>
      </p:pic>
    </p:spTree>
    <p:extLst>
      <p:ext uri="{BB962C8B-B14F-4D97-AF65-F5344CB8AC3E}">
        <p14:creationId xmlns:p14="http://schemas.microsoft.com/office/powerpoint/2010/main" val="31996118"/>
      </p:ext>
    </p:extLst>
  </p:cSld>
</p:sld>
</file>

<file path=ppt/slides/slide29.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3A54DE3-FDE1-4F26-BE9C-7B15B71357B8}"/>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전국 확장과 장마 대응</a:t>
            </a:r>
          </a:p>
        </p:txBody>
      </p:sp>
      <p:sp>
        <p:nvSpPr>
          <p:cNvPr id="2" name="">
            <a:extLst xmlns:a="http://schemas.openxmlformats.org/drawingml/2006/main">
              <a:ext uri="{FF2B5EF4-FFF2-40B4-BE49-F238E27FC236}">
                <a16:creationId xmlns:a16="http://schemas.microsoft.com/office/drawing/2014/main" id="{4CC6CF9A-EA19-47B4-9933-7E4D5E79DFCA}"/>
              </a:ext>
            </a:extLst>
          </p:cNvPr>
          <p:cNvSpPr>
            <a:spLocks xmlns:a="http://schemas.openxmlformats.org/drawingml/2006/main" noGrp="1"/>
          </p:cNvSpPr>
          <p:nvPr/>
        </p:nvSpPr>
        <p:spPr>
          <a:xfrm xmlns:a="http://schemas.openxmlformats.org/drawingml/2006/main">
            <a:off x="571500" y="781050"/>
            <a:ext cx="8001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서울 관제·전국 실측·합성 시뮬레이션</a:t>
            </a:r>
          </a:p>
        </p:txBody>
      </p:sp>
      <p:sp>
        <p:nvSpPr>
          <p:cNvPr id="3" name="">
            <a:extLst xmlns:a="http://schemas.openxmlformats.org/drawingml/2006/main">
              <a:ext uri="{FF2B5EF4-FFF2-40B4-BE49-F238E27FC236}">
                <a16:creationId xmlns:a16="http://schemas.microsoft.com/office/drawing/2014/main" id="{BC5ACDDC-FBBF-461B-BE3B-5149020957EE}"/>
              </a:ext>
            </a:extLst>
          </p:cNvPr>
          <p:cNvSpPr>
            <a:spLocks xmlns:a="http://schemas.openxmlformats.org/drawingml/2006/main" noGrp="1"/>
          </p:cNvSpPr>
          <p:nvPr/>
        </p:nvSpPr>
        <p:spPr>
          <a:xfrm xmlns:a="http://schemas.openxmlformats.org/drawingml/2006/main">
            <a:off x="571500" y="4695825"/>
            <a:ext cx="752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2026-10-08 확보·실행 결과</a:t>
            </a:r>
          </a:p>
        </p:txBody>
      </p:sp>
      <p:pic>
        <p:nvPicPr>
          <p:cNvPr id="4" name="">
            <a:extLst xmlns:a="http://schemas.openxmlformats.org/drawingml/2006/main">
              <a:ext uri="{FF2B5EF4-FFF2-40B4-BE49-F238E27FC236}">
                <a16:creationId xmlns:a16="http://schemas.microsoft.com/office/drawing/2014/main" id="{31BD57D8-6E4F-4FFB-A8A3-42AE7ACA6B04}"/>
              </a:ext>
            </a:extLst>
          </p:cNvPr>
          <p:cNvPicPr>
            <a:picLocks xmlns:a="http://schemas.openxmlformats.org/drawingml/2006/main" noChangeAspect="1"/>
          </p:cNvPicPr>
          <p:nvPr/>
        </p:nvPicPr>
        <p:blipFill>
          <a:blip xmlns:r="http://schemas.openxmlformats.org/officeDocument/2006/relationships" xmlns:a="http://schemas.openxmlformats.org/drawingml/2006/main" r:embed="Rd88881b5c3a94605"/>
          <a:stretch xmlns:a="http://schemas.openxmlformats.org/drawingml/2006/main"/>
        </p:blipFill>
        <p:spPr>
          <a:xfrm xmlns:a="http://schemas.openxmlformats.org/drawingml/2006/main">
            <a:off x="1670355" y="1504950"/>
            <a:ext cx="5803290" cy="28956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9F634E7-B559-44DC-83B2-865A8A9A1AE7}"/>
              </a:ext>
            </a:extLst>
          </p:cNvPr>
          <p:cNvSpPr>
            <a:spLocks xmlns:a="http://schemas.openxmlformats.org/drawingml/2006/main" noGrp="1"/>
          </p:cNvSpPr>
          <p:nvPr/>
        </p:nvSpPr>
        <p:spPr>
          <a:xfrm xmlns:a="http://schemas.openxmlformats.org/drawingml/2006/main">
            <a:off x="571500" y="4429125"/>
            <a:ext cx="800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007D68"/>
                </a:solidFill>
                <a:latin typeface="NanumGothic"/>
                <a:ea typeface="NanumGothic"/>
                <a:cs typeface="NanumGothic"/>
              </a:defRPr>
            </a:defPPr>
          </a:lstStyle>
          <a:p xmlns:a="http://schemas.openxmlformats.org/drawingml/2006/main">
            <a:pPr>
              <a:buNone/>
              <a:defRPr sz="1425" b="1">
                <a:solidFill>
                  <a:srgbClr val="007D68"/>
                </a:solidFill>
                <a:latin typeface="NanumGothic"/>
                <a:ea typeface="NanumGothic"/>
                <a:cs typeface="NanumGothic"/>
              </a:defRPr>
            </a:pPr>
            <a:r>
              <a:rPr sz="1425" b="1">
                <a:solidFill>
                  <a:srgbClr val="007D68"/>
                </a:solidFill>
                <a:latin typeface="NanumGothic"/>
                <a:ea typeface="NanumGothic"/>
                <a:cs typeface="NanumGothic"/>
              </a:rPr>
              <a:t>서울25 기본 · 전국 실측3 · 전국17시도 합성 모드</a:t>
            </a:r>
          </a:p>
        </p:txBody>
      </p:sp>
    </p:spTree>
    <p:extLst>
      <p:ext uri="{BB962C8B-B14F-4D97-AF65-F5344CB8AC3E}">
        <p14:creationId xmlns:p14="http://schemas.microsoft.com/office/powerpoint/2010/main" val="1884767799"/>
      </p:ext>
    </p:extLst>
  </p:cSld>
</p:sld>
</file>

<file path=ppt/slides/slide30.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60BFF3D-D937-4A42-974A-328B07F2968C}"/>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전국 확장과 장마 대응</a:t>
            </a:r>
          </a:p>
        </p:txBody>
      </p:sp>
      <p:sp>
        <p:nvSpPr>
          <p:cNvPr id="2" name="">
            <a:extLst xmlns:a="http://schemas.openxmlformats.org/drawingml/2006/main">
              <a:ext uri="{FF2B5EF4-FFF2-40B4-BE49-F238E27FC236}">
                <a16:creationId xmlns:a16="http://schemas.microsoft.com/office/drawing/2014/main" id="{5C394CE5-9977-4137-9850-615C85B8AC36}"/>
              </a:ext>
            </a:extLst>
          </p:cNvPr>
          <p:cNvSpPr>
            <a:spLocks xmlns:a="http://schemas.openxmlformats.org/drawingml/2006/main" noGrp="1"/>
          </p:cNvSpPr>
          <p:nvPr/>
        </p:nvSpPr>
        <p:spPr>
          <a:xfrm xmlns:a="http://schemas.openxmlformats.org/drawingml/2006/main">
            <a:off x="571500" y="781050"/>
            <a:ext cx="8001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전국 데이터 확보 범위</a:t>
            </a:r>
          </a:p>
        </p:txBody>
      </p:sp>
      <p:sp>
        <p:nvSpPr>
          <p:cNvPr id="3" name="">
            <a:extLst xmlns:a="http://schemas.openxmlformats.org/drawingml/2006/main">
              <a:ext uri="{FF2B5EF4-FFF2-40B4-BE49-F238E27FC236}">
                <a16:creationId xmlns:a16="http://schemas.microsoft.com/office/drawing/2014/main" id="{AABA3994-1838-49E7-9EB1-1E43B00ED7B9}"/>
              </a:ext>
            </a:extLst>
          </p:cNvPr>
          <p:cNvSpPr>
            <a:spLocks xmlns:a="http://schemas.openxmlformats.org/drawingml/2006/main" noGrp="1"/>
          </p:cNvSpPr>
          <p:nvPr/>
        </p:nvSpPr>
        <p:spPr>
          <a:xfrm xmlns:a="http://schemas.openxmlformats.org/drawingml/2006/main">
            <a:off x="571500" y="4695825"/>
            <a:ext cx="752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2026-10-08 확보·실행 결과</a:t>
            </a:r>
          </a:p>
        </p:txBody>
      </p:sp>
      <p:graphicFrame>
        <p:nvGraphicFramePr>
          <p:cNvPr id="4" name="">
            <a:extLst xmlns:a="http://schemas.openxmlformats.org/drawingml/2006/main">
              <a:ext uri="{FF2B5EF4-FFF2-40B4-BE49-F238E27FC236}">
                <a16:creationId xmlns:a16="http://schemas.microsoft.com/office/drawing/2014/main" id="{D6DCB0B2-FB64-4DA3-8A8D-15A3CCE8928B}"/>
              </a:ext>
            </a:extLst>
          </p:cNvPr>
          <p:cNvGraphicFramePr/>
          <p:nvPr/>
        </p:nvGraphicFramePr>
        <p:xfrm>
          <a:off xmlns:a="http://schemas.openxmlformats.org/drawingml/2006/main" x="571500" y="1543050"/>
          <a:ext xmlns:a="http://schemas.openxmlformats.org/drawingml/2006/main" cx="8001000" cy="2743200"/>
        </p:xfrm>
        <a:graphic xmlns:a="http://schemas.openxmlformats.org/drawingml/2006/main">
          <a:graphicData uri="http://schemas.openxmlformats.org/drawingml/2006/table">
            <a:tbl>
              <a:tblPr/>
              <a:tblGrid>
                <a:gridCol w="1571625"/>
                <a:gridCol w="3333750"/>
                <a:gridCol w="3095625"/>
              </a:tblGrid>
              <a:tr h="548640">
                <a:tc>
                  <a:txBody>
                    <a:bodyPr/>
                    <a:lstStyle/>
                    <a:p>
                      <a:r>
                        <a:rPr sz="1500" b="1">
                          <a:solidFill>
                            <a:srgbClr val="007D68"/>
                          </a:solidFill>
                          <a:latin typeface="NanumGothic"/>
                          <a:ea typeface="NanumGothic"/>
                          <a:cs typeface="NanumGothic"/>
                        </a:rPr>
                        <a:t>자료</a:t>
                      </a:r>
                    </a:p>
                  </a:txBody>
                  <a:tcPr marL="91440" marR="91440" marT="45720" marB="45720">
                    <a:solidFill>
                      <a:srgbClr val="E7EFEB"/>
                    </a:solidFill>
                  </a:tcPr>
                </a:tc>
                <a:tc>
                  <a:txBody>
                    <a:bodyPr/>
                    <a:lstStyle/>
                    <a:p>
                      <a:r>
                        <a:rPr sz="1500" b="1">
                          <a:solidFill>
                            <a:srgbClr val="007D68"/>
                          </a:solidFill>
                          <a:latin typeface="NanumGothic"/>
                          <a:ea typeface="NanumGothic"/>
                          <a:cs typeface="NanumGothic"/>
                        </a:rPr>
                        <a:t>확보 범위</a:t>
                      </a:r>
                    </a:p>
                  </a:txBody>
                  <a:tcPr marL="91440" marR="91440" marT="45720" marB="45720">
                    <a:solidFill>
                      <a:srgbClr val="E7EFEB"/>
                    </a:solidFill>
                  </a:tcPr>
                </a:tc>
                <a:tc>
                  <a:txBody>
                    <a:bodyPr/>
                    <a:lstStyle/>
                    <a:p>
                      <a:r>
                        <a:rPr sz="1500" b="1">
                          <a:solidFill>
                            <a:srgbClr val="007D68"/>
                          </a:solidFill>
                          <a:latin typeface="NanumGothic"/>
                          <a:ea typeface="NanumGothic"/>
                          <a:cs typeface="NanumGothic"/>
                        </a:rPr>
                        <a:t>사용</a:t>
                      </a:r>
                    </a:p>
                  </a:txBody>
                  <a:tcPr marL="91440" marR="91440" marT="45720" marB="45720">
                    <a:solidFill>
                      <a:srgbClr val="E7EFEB"/>
                    </a:solidFill>
                  </a:tcPr>
                </a:tc>
              </a:tr>
              <a:tr h="548640">
                <a:tc>
                  <a:txBody>
                    <a:bodyPr/>
                    <a:lstStyle/>
                    <a:p>
                      <a:r>
                        <a:rPr sz="1500" b="0">
                          <a:solidFill>
                            <a:srgbClr val="222A2D"/>
                          </a:solidFill>
                          <a:latin typeface="NanumGothic"/>
                          <a:ea typeface="NanumGothic"/>
                          <a:cs typeface="NanumGothic"/>
                        </a:rPr>
                        <a:t>서울 기본 관제</a:t>
                      </a:r>
                    </a:p>
                  </a:txBody>
                  <a:tcPr marL="91440" marR="91440" marT="45720" marB="45720">
                    <a:solidFill>
                      <a:srgbClr val="FAFBF9"/>
                    </a:solidFill>
                  </a:tcPr>
                </a:tc>
                <a:tc>
                  <a:txBody>
                    <a:bodyPr/>
                    <a:lstStyle/>
                    <a:p>
                      <a:r>
                        <a:rPr sz="1500" b="0">
                          <a:solidFill>
                            <a:srgbClr val="222A2D"/>
                          </a:solidFill>
                          <a:latin typeface="NanumGothic"/>
                          <a:ea typeface="NanumGothic"/>
                          <a:cs typeface="NanumGothic"/>
                        </a:rPr>
                        <a:t>실측22,582행 ~9/30</a:t>
                      </a:r>
                    </a:p>
                  </a:txBody>
                  <a:tcPr marL="91440" marR="91440" marT="45720" marB="45720">
                    <a:solidFill>
                      <a:srgbClr val="FAFBF9"/>
                    </a:solidFill>
                  </a:tcPr>
                </a:tc>
                <a:tc>
                  <a:txBody>
                    <a:bodyPr/>
                    <a:lstStyle/>
                    <a:p>
                      <a:r>
                        <a:rPr sz="1500" b="0">
                          <a:solidFill>
                            <a:srgbClr val="222A2D"/>
                          </a:solidFill>
                          <a:latin typeface="NanumGothic"/>
                          <a:ea typeface="NanumGothic"/>
                          <a:cs typeface="NanumGothic"/>
                        </a:rPr>
                        <a:t>10/1 합성 · 모델23/25</a:t>
                      </a:r>
                    </a:p>
                  </a:txBody>
                  <a:tcPr marL="91440" marR="91440" marT="45720" marB="45720">
                    <a:solidFill>
                      <a:srgbClr val="FAFBF9"/>
                    </a:solidFill>
                  </a:tcPr>
                </a:tc>
              </a:tr>
              <a:tr h="548640">
                <a:tc>
                  <a:txBody>
                    <a:bodyPr/>
                    <a:lstStyle/>
                    <a:p>
                      <a:r>
                        <a:rPr sz="1500" b="0">
                          <a:solidFill>
                            <a:srgbClr val="222A2D"/>
                          </a:solidFill>
                          <a:latin typeface="NanumGothic"/>
                          <a:ea typeface="NanumGothic"/>
                          <a:cs typeface="NanumGothic"/>
                        </a:rPr>
                        <a:t>전국 추가 실측</a:t>
                      </a:r>
                    </a:p>
                  </a:txBody>
                  <a:tcPr marL="91440" marR="91440" marT="45720" marB="45720">
                    <a:solidFill>
                      <a:srgbClr val="F2F6F3"/>
                    </a:solidFill>
                  </a:tcPr>
                </a:tc>
                <a:tc>
                  <a:txBody>
                    <a:bodyPr/>
                    <a:lstStyle/>
                    <a:p>
                      <a:r>
                        <a:rPr sz="1500" b="0">
                          <a:solidFill>
                            <a:srgbClr val="222A2D"/>
                          </a:solidFill>
                          <a:latin typeface="NanumGothic"/>
                          <a:ea typeface="NanumGothic"/>
                          <a:cs typeface="NanumGothic"/>
                        </a:rPr>
                        <a:t>3곳 × 연속 280일</a:t>
                      </a:r>
                    </a:p>
                  </a:txBody>
                  <a:tcPr marL="91440" marR="91440" marT="45720" marB="45720">
                    <a:solidFill>
                      <a:srgbClr val="F2F6F3"/>
                    </a:solidFill>
                  </a:tcPr>
                </a:tc>
                <a:tc>
                  <a:txBody>
                    <a:bodyPr/>
                    <a:lstStyle/>
                    <a:p>
                      <a:r>
                        <a:rPr sz="1500" b="0">
                          <a:solidFill>
                            <a:srgbClr val="222A2D"/>
                          </a:solidFill>
                          <a:latin typeface="NanumGothic"/>
                          <a:ea typeface="NanumGothic"/>
                          <a:cs typeface="NanumGothic"/>
                        </a:rPr>
                        <a:t>LSTM 1 · 비교 기준 2</a:t>
                      </a:r>
                    </a:p>
                  </a:txBody>
                  <a:tcPr marL="91440" marR="91440" marT="45720" marB="45720">
                    <a:solidFill>
                      <a:srgbClr val="F2F6F3"/>
                    </a:solidFill>
                  </a:tcPr>
                </a:tc>
              </a:tr>
              <a:tr h="548640">
                <a:tc>
                  <a:txBody>
                    <a:bodyPr/>
                    <a:lstStyle/>
                    <a:p>
                      <a:r>
                        <a:rPr sz="1500" b="0">
                          <a:solidFill>
                            <a:srgbClr val="222A2D"/>
                          </a:solidFill>
                          <a:latin typeface="NanumGothic"/>
                          <a:ea typeface="NanumGothic"/>
                          <a:cs typeface="NanumGothic"/>
                        </a:rPr>
                        <a:t>전국 합성 모드</a:t>
                      </a:r>
                    </a:p>
                  </a:txBody>
                  <a:tcPr marL="91440" marR="91440" marT="45720" marB="45720">
                    <a:solidFill>
                      <a:srgbClr val="FAFBF9"/>
                    </a:solidFill>
                  </a:tcPr>
                </a:tc>
                <a:tc>
                  <a:txBody>
                    <a:bodyPr/>
                    <a:lstStyle/>
                    <a:p>
                      <a:r>
                        <a:rPr sz="1500" b="0">
                          <a:solidFill>
                            <a:srgbClr val="222A2D"/>
                          </a:solidFill>
                          <a:latin typeface="NanumGothic"/>
                          <a:ea typeface="NanumGothic"/>
                          <a:cs typeface="NanumGothic"/>
                        </a:rPr>
                        <a:t>17시도 · 29,597행 합성</a:t>
                      </a:r>
                    </a:p>
                  </a:txBody>
                  <a:tcPr marL="91440" marR="91440" marT="45720" marB="45720">
                    <a:solidFill>
                      <a:srgbClr val="FAFBF9"/>
                    </a:solidFill>
                  </a:tcPr>
                </a:tc>
                <a:tc>
                  <a:txBody>
                    <a:bodyPr/>
                    <a:lstStyle/>
                    <a:p>
                      <a:r>
                        <a:rPr sz="1500" b="0">
                          <a:solidFill>
                            <a:srgbClr val="222A2D"/>
                          </a:solidFill>
                          <a:latin typeface="NanumGothic"/>
                          <a:ea typeface="NanumGothic"/>
                          <a:cs typeface="NanumGothic"/>
                        </a:rPr>
                        <a:t>LSTM16 · 비교 기준1</a:t>
                      </a:r>
                    </a:p>
                  </a:txBody>
                  <a:tcPr marL="91440" marR="91440" marT="45720" marB="45720">
                    <a:solidFill>
                      <a:srgbClr val="FAFBF9"/>
                    </a:solidFill>
                  </a:tcPr>
                </a:tc>
              </a:tr>
              <a:tr h="548640">
                <a:tc>
                  <a:txBody>
                    <a:bodyPr/>
                    <a:lstStyle/>
                    <a:p>
                      <a:r>
                        <a:rPr sz="1500" b="0">
                          <a:solidFill>
                            <a:srgbClr val="222A2D"/>
                          </a:solidFill>
                          <a:latin typeface="NanumGothic"/>
                          <a:ea typeface="NanumGothic"/>
                          <a:cs typeface="NanumGothic"/>
                        </a:rPr>
                        <a:t>장마 통계</a:t>
                      </a:r>
                    </a:p>
                  </a:txBody>
                  <a:tcPr marL="91440" marR="91440" marT="45720" marB="45720">
                    <a:solidFill>
                      <a:srgbClr val="F2F6F3"/>
                    </a:solidFill>
                  </a:tcPr>
                </a:tc>
                <a:tc>
                  <a:txBody>
                    <a:bodyPr/>
                    <a:lstStyle/>
                    <a:p>
                      <a:r>
                        <a:rPr sz="1500" b="0">
                          <a:solidFill>
                            <a:srgbClr val="222A2D"/>
                          </a:solidFill>
                          <a:latin typeface="NanumGothic"/>
                          <a:ea typeface="NanumGothic"/>
                          <a:cs typeface="NanumGothic"/>
                        </a:rPr>
                        <a:t>66지점 × 54년</a:t>
                      </a:r>
                    </a:p>
                  </a:txBody>
                  <a:tcPr marL="91440" marR="91440" marT="45720" marB="45720">
                    <a:solidFill>
                      <a:srgbClr val="F2F6F3"/>
                    </a:solidFill>
                  </a:tcPr>
                </a:tc>
                <a:tc>
                  <a:txBody>
                    <a:bodyPr/>
                    <a:lstStyle/>
                    <a:p>
                      <a:r>
                        <a:rPr sz="1500" b="0">
                          <a:solidFill>
                            <a:srgbClr val="222A2D"/>
                          </a:solidFill>
                          <a:latin typeface="NanumGothic"/>
                          <a:ea typeface="NanumGothic"/>
                          <a:cs typeface="NanumGothic"/>
                        </a:rPr>
                        <a:t>장마·비장마 평가</a:t>
                      </a:r>
                    </a:p>
                  </a:txBody>
                  <a:tcPr marL="91440" marR="91440" marT="45720" marB="45720">
                    <a:solidFill>
                      <a:srgbClr val="F2F6F3"/>
                    </a:solidFill>
                  </a:tcPr>
                </a:tc>
              </a:tr>
            </a:tbl>
          </a:graphicData>
        </a:graphic>
      </p:graphicFrame>
      <p:sp>
        <p:nvSpPr>
          <p:cNvPr id="5" name="">
            <a:extLst xmlns:a="http://schemas.openxmlformats.org/drawingml/2006/main">
              <a:ext uri="{FF2B5EF4-FFF2-40B4-BE49-F238E27FC236}">
                <a16:creationId xmlns:a16="http://schemas.microsoft.com/office/drawing/2014/main" id="{F44BE916-AA42-42CF-A295-272329E31D4D}"/>
              </a:ext>
            </a:extLst>
          </p:cNvPr>
          <p:cNvSpPr>
            <a:spLocks xmlns:a="http://schemas.openxmlformats.org/drawingml/2006/main" noGrp="1"/>
          </p:cNvSpPr>
          <p:nvPr/>
        </p:nvSpPr>
        <p:spPr>
          <a:xfrm xmlns:a="http://schemas.openxmlformats.org/drawingml/2006/main">
            <a:off x="571500" y="4429125"/>
            <a:ext cx="800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007D68"/>
                </a:solidFill>
                <a:latin typeface="NanumGothic"/>
                <a:ea typeface="NanumGothic"/>
                <a:cs typeface="NanumGothic"/>
              </a:defRPr>
            </a:defPPr>
          </a:lstStyle>
          <a:p xmlns:a="http://schemas.openxmlformats.org/drawingml/2006/main">
            <a:pPr>
              <a:buNone/>
              <a:defRPr sz="1425" b="1">
                <a:solidFill>
                  <a:srgbClr val="007D68"/>
                </a:solidFill>
                <a:latin typeface="NanumGothic"/>
                <a:ea typeface="NanumGothic"/>
                <a:cs typeface="NanumGothic"/>
              </a:defRPr>
            </a:pPr>
            <a:r>
              <a:rPr sz="1425" b="1">
                <a:solidFill>
                  <a:srgbClr val="007D68"/>
                </a:solidFill>
                <a:latin typeface="NanumGothic"/>
                <a:ea typeface="NanumGothic"/>
                <a:cs typeface="NanumGothic"/>
              </a:rPr>
              <a:t>ASOS6년 원천 유효2,731 · 결측3,845일 · 결측0 채움 없음</a:t>
            </a:r>
          </a:p>
        </p:txBody>
      </p:sp>
    </p:spTree>
    <p:extLst>
      <p:ext uri="{BB962C8B-B14F-4D97-AF65-F5344CB8AC3E}">
        <p14:creationId xmlns:p14="http://schemas.microsoft.com/office/powerpoint/2010/main" val="1388992490"/>
      </p:ext>
    </p:extLst>
  </p:cSld>
</p:sld>
</file>

<file path=ppt/slides/slide31.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0EB00A8-BFE4-487F-9569-6E5A5E14FD17}"/>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전국 확장과 장마 대응</a:t>
            </a:r>
          </a:p>
        </p:txBody>
      </p:sp>
      <p:sp>
        <p:nvSpPr>
          <p:cNvPr id="2" name="">
            <a:extLst xmlns:a="http://schemas.openxmlformats.org/drawingml/2006/main">
              <a:ext uri="{FF2B5EF4-FFF2-40B4-BE49-F238E27FC236}">
                <a16:creationId xmlns:a16="http://schemas.microsoft.com/office/drawing/2014/main" id="{37019B39-0301-436A-88CA-13125C23BDD9}"/>
              </a:ext>
            </a:extLst>
          </p:cNvPr>
          <p:cNvSpPr>
            <a:spLocks xmlns:a="http://schemas.openxmlformats.org/drawingml/2006/main" noGrp="1"/>
          </p:cNvSpPr>
          <p:nvPr/>
        </p:nvSpPr>
        <p:spPr>
          <a:xfrm xmlns:a="http://schemas.openxmlformats.org/drawingml/2006/main">
            <a:off x="571500" y="781050"/>
            <a:ext cx="8001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단위와 관측소 연결 검증</a:t>
            </a:r>
          </a:p>
        </p:txBody>
      </p:sp>
      <p:sp>
        <p:nvSpPr>
          <p:cNvPr id="3" name="">
            <a:extLst xmlns:a="http://schemas.openxmlformats.org/drawingml/2006/main">
              <a:ext uri="{FF2B5EF4-FFF2-40B4-BE49-F238E27FC236}">
                <a16:creationId xmlns:a16="http://schemas.microsoft.com/office/drawing/2014/main" id="{85AC6B66-BCD7-4761-AB67-0606F60A6021}"/>
              </a:ext>
            </a:extLst>
          </p:cNvPr>
          <p:cNvSpPr>
            <a:spLocks xmlns:a="http://schemas.openxmlformats.org/drawingml/2006/main" noGrp="1"/>
          </p:cNvSpPr>
          <p:nvPr/>
        </p:nvSpPr>
        <p:spPr>
          <a:xfrm xmlns:a="http://schemas.openxmlformats.org/drawingml/2006/main">
            <a:off x="571500" y="4695825"/>
            <a:ext cx="752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2026-10-08 확보·실행 결과</a:t>
            </a:r>
          </a:p>
        </p:txBody>
      </p:sp>
      <p:graphicFrame>
        <p:nvGraphicFramePr>
          <p:cNvPr id="4" name="">
            <a:extLst xmlns:a="http://schemas.openxmlformats.org/drawingml/2006/main">
              <a:ext uri="{FF2B5EF4-FFF2-40B4-BE49-F238E27FC236}">
                <a16:creationId xmlns:a16="http://schemas.microsoft.com/office/drawing/2014/main" id="{8D1CA9E9-5A1D-4572-A594-10DB9CAC420E}"/>
              </a:ext>
            </a:extLst>
          </p:cNvPr>
          <p:cNvGraphicFramePr/>
          <p:nvPr/>
        </p:nvGraphicFramePr>
        <p:xfrm>
          <a:off xmlns:a="http://schemas.openxmlformats.org/drawingml/2006/main" x="571500" y="1619250"/>
          <a:ext xmlns:a="http://schemas.openxmlformats.org/drawingml/2006/main" cx="8001000" cy="2076450"/>
        </p:xfrm>
        <a:graphic xmlns:a="http://schemas.openxmlformats.org/drawingml/2006/main">
          <a:graphicData uri="http://schemas.openxmlformats.org/drawingml/2006/table">
            <a:tbl>
              <a:tblPr/>
              <a:tblGrid>
                <a:gridCol w="2476500"/>
                <a:gridCol w="3143250"/>
                <a:gridCol w="2381250"/>
              </a:tblGrid>
              <a:tr h="519113">
                <a:tc>
                  <a:txBody>
                    <a:bodyPr/>
                    <a:lstStyle/>
                    <a:p>
                      <a:r>
                        <a:rPr sz="1650" b="1">
                          <a:solidFill>
                            <a:srgbClr val="007D68"/>
                          </a:solidFill>
                          <a:latin typeface="NanumGothic"/>
                          <a:ea typeface="NanumGothic"/>
                          <a:cs typeface="NanumGothic"/>
                        </a:rPr>
                        <a:t>지하수 관측소</a:t>
                      </a:r>
                    </a:p>
                  </a:txBody>
                  <a:tcPr marL="91440" marR="91440" marT="45720" marB="45720">
                    <a:solidFill>
                      <a:srgbClr val="E7EFEB"/>
                    </a:solidFill>
                  </a:tcPr>
                </a:tc>
                <a:tc>
                  <a:txBody>
                    <a:bodyPr/>
                    <a:lstStyle/>
                    <a:p>
                      <a:r>
                        <a:rPr sz="1650" b="1">
                          <a:solidFill>
                            <a:srgbClr val="007D68"/>
                          </a:solidFill>
                          <a:latin typeface="NanumGothic"/>
                          <a:ea typeface="NanumGothic"/>
                          <a:cs typeface="NanumGothic"/>
                        </a:rPr>
                        <a:t>기상 입력 지점</a:t>
                      </a:r>
                    </a:p>
                  </a:txBody>
                  <a:tcPr marL="91440" marR="91440" marT="45720" marB="45720">
                    <a:solidFill>
                      <a:srgbClr val="E7EFEB"/>
                    </a:solidFill>
                  </a:tcPr>
                </a:tc>
                <a:tc>
                  <a:txBody>
                    <a:bodyPr/>
                    <a:lstStyle/>
                    <a:p>
                      <a:r>
                        <a:rPr sz="1650" b="1">
                          <a:solidFill>
                            <a:srgbClr val="007D68"/>
                          </a:solidFill>
                          <a:latin typeface="NanumGothic"/>
                          <a:ea typeface="NanumGothic"/>
                          <a:cs typeface="NanumGothic"/>
                        </a:rPr>
                        <a:t>현재 승인</a:t>
                      </a:r>
                    </a:p>
                  </a:txBody>
                  <a:tcPr marL="91440" marR="91440" marT="45720" marB="45720">
                    <a:solidFill>
                      <a:srgbClr val="E7EFEB"/>
                    </a:solidFill>
                  </a:tcPr>
                </a:tc>
              </a:tr>
              <a:tr h="519113">
                <a:tc>
                  <a:txBody>
                    <a:bodyPr/>
                    <a:lstStyle/>
                    <a:p>
                      <a:r>
                        <a:rPr sz="1650" b="0">
                          <a:solidFill>
                            <a:srgbClr val="222A2D"/>
                          </a:solidFill>
                          <a:latin typeface="NanumGothic"/>
                          <a:ea typeface="NanumGothic"/>
                          <a:cs typeface="NanumGothic"/>
                        </a:rPr>
                        <a:t>광주도척</a:t>
                      </a:r>
                    </a:p>
                  </a:txBody>
                  <a:tcPr marL="91440" marR="91440" marT="45720" marB="45720">
                    <a:solidFill>
                      <a:srgbClr val="FAFBF9"/>
                    </a:solidFill>
                  </a:tcPr>
                </a:tc>
                <a:tc>
                  <a:txBody>
                    <a:bodyPr/>
                    <a:lstStyle/>
                    <a:p>
                      <a:r>
                        <a:rPr sz="1650" b="0">
                          <a:solidFill>
                            <a:srgbClr val="222A2D"/>
                          </a:solidFill>
                          <a:latin typeface="NanumGothic"/>
                          <a:ea typeface="NanumGothic"/>
                          <a:cs typeface="NanumGothic"/>
                        </a:rPr>
                        <a:t>ASOS 203 이천</a:t>
                      </a:r>
                    </a:p>
                  </a:txBody>
                  <a:tcPr marL="91440" marR="91440" marT="45720" marB="45720">
                    <a:solidFill>
                      <a:srgbClr val="FAFBF9"/>
                    </a:solidFill>
                  </a:tcPr>
                </a:tc>
                <a:tc>
                  <a:txBody>
                    <a:bodyPr/>
                    <a:lstStyle/>
                    <a:p>
                      <a:r>
                        <a:rPr sz="1650" b="0">
                          <a:solidFill>
                            <a:srgbClr val="222A2D"/>
                          </a:solidFill>
                          <a:latin typeface="NanumGothic"/>
                          <a:ea typeface="NanumGothic"/>
                          <a:cs typeface="NanumGothic"/>
                        </a:rPr>
                        <a:t>실험 연결</a:t>
                      </a:r>
                    </a:p>
                  </a:txBody>
                  <a:tcPr marL="91440" marR="91440" marT="45720" marB="45720">
                    <a:solidFill>
                      <a:srgbClr val="FAFBF9"/>
                    </a:solidFill>
                  </a:tcPr>
                </a:tc>
              </a:tr>
              <a:tr h="519113">
                <a:tc>
                  <a:txBody>
                    <a:bodyPr/>
                    <a:lstStyle/>
                    <a:p>
                      <a:r>
                        <a:rPr sz="1650" b="0">
                          <a:solidFill>
                            <a:srgbClr val="222A2D"/>
                          </a:solidFill>
                          <a:latin typeface="NanumGothic"/>
                          <a:ea typeface="NanumGothic"/>
                          <a:cs typeface="NanumGothic"/>
                        </a:rPr>
                        <a:t>무안무안</a:t>
                      </a:r>
                    </a:p>
                  </a:txBody>
                  <a:tcPr marL="91440" marR="91440" marT="45720" marB="45720">
                    <a:solidFill>
                      <a:srgbClr val="F2F6F3"/>
                    </a:solidFill>
                  </a:tcPr>
                </a:tc>
                <a:tc>
                  <a:txBody>
                    <a:bodyPr/>
                    <a:lstStyle/>
                    <a:p>
                      <a:r>
                        <a:rPr sz="1650" b="0">
                          <a:solidFill>
                            <a:srgbClr val="222A2D"/>
                          </a:solidFill>
                          <a:latin typeface="NanumGothic"/>
                          <a:ea typeface="NanumGothic"/>
                          <a:cs typeface="NanumGothic"/>
                        </a:rPr>
                        <a:t>ASOS 165 목포</a:t>
                      </a:r>
                    </a:p>
                  </a:txBody>
                  <a:tcPr marL="91440" marR="91440" marT="45720" marB="45720">
                    <a:solidFill>
                      <a:srgbClr val="F2F6F3"/>
                    </a:solidFill>
                  </a:tcPr>
                </a:tc>
                <a:tc>
                  <a:txBody>
                    <a:bodyPr/>
                    <a:lstStyle/>
                    <a:p>
                      <a:r>
                        <a:rPr sz="1650" b="0">
                          <a:solidFill>
                            <a:srgbClr val="222A2D"/>
                          </a:solidFill>
                          <a:latin typeface="NanumGothic"/>
                          <a:ea typeface="NanumGothic"/>
                          <a:cs typeface="NanumGothic"/>
                        </a:rPr>
                        <a:t>실험 연결</a:t>
                      </a:r>
                    </a:p>
                  </a:txBody>
                  <a:tcPr marL="91440" marR="91440" marT="45720" marB="45720">
                    <a:solidFill>
                      <a:srgbClr val="F2F6F3"/>
                    </a:solidFill>
                  </a:tcPr>
                </a:tc>
              </a:tr>
              <a:tr h="519113">
                <a:tc>
                  <a:txBody>
                    <a:bodyPr/>
                    <a:lstStyle/>
                    <a:p>
                      <a:r>
                        <a:rPr sz="1650" b="0">
                          <a:solidFill>
                            <a:srgbClr val="222A2D"/>
                          </a:solidFill>
                          <a:latin typeface="NanumGothic"/>
                          <a:ea typeface="NanumGothic"/>
                          <a:cs typeface="NanumGothic"/>
                        </a:rPr>
                        <a:t>제주조천</a:t>
                      </a:r>
                    </a:p>
                  </a:txBody>
                  <a:tcPr marL="91440" marR="91440" marT="45720" marB="45720">
                    <a:solidFill>
                      <a:srgbClr val="FAFBF9"/>
                    </a:solidFill>
                  </a:tcPr>
                </a:tc>
                <a:tc>
                  <a:txBody>
                    <a:bodyPr/>
                    <a:lstStyle/>
                    <a:p>
                      <a:r>
                        <a:rPr sz="1650" b="0">
                          <a:solidFill>
                            <a:srgbClr val="222A2D"/>
                          </a:solidFill>
                          <a:latin typeface="NanumGothic"/>
                          <a:ea typeface="NanumGothic"/>
                          <a:cs typeface="NanumGothic"/>
                        </a:rPr>
                        <a:t>ASOS 188 성산</a:t>
                      </a:r>
                    </a:p>
                  </a:txBody>
                  <a:tcPr marL="91440" marR="91440" marT="45720" marB="45720">
                    <a:solidFill>
                      <a:srgbClr val="FAFBF9"/>
                    </a:solidFill>
                  </a:tcPr>
                </a:tc>
                <a:tc>
                  <a:txBody>
                    <a:bodyPr/>
                    <a:lstStyle/>
                    <a:p>
                      <a:r>
                        <a:rPr sz="1650" b="0">
                          <a:solidFill>
                            <a:srgbClr val="222A2D"/>
                          </a:solidFill>
                          <a:latin typeface="NanumGothic"/>
                          <a:ea typeface="NanumGothic"/>
                          <a:cs typeface="NanumGothic"/>
                        </a:rPr>
                        <a:t>실험 연결</a:t>
                      </a:r>
                    </a:p>
                  </a:txBody>
                  <a:tcPr marL="91440" marR="91440" marT="45720" marB="45720">
                    <a:solidFill>
                      <a:srgbClr val="FAFBF9"/>
                    </a:solidFill>
                  </a:tcPr>
                </a:tc>
              </a:tr>
            </a:tbl>
          </a:graphicData>
        </a:graphic>
      </p:graphicFrame>
      <p:sp>
        <p:nvSpPr>
          <p:cNvPr id="5" name="">
            <a:extLst xmlns:a="http://schemas.openxmlformats.org/drawingml/2006/main">
              <a:ext uri="{FF2B5EF4-FFF2-40B4-BE49-F238E27FC236}">
                <a16:creationId xmlns:a16="http://schemas.microsoft.com/office/drawing/2014/main" id="{077A9A64-2345-4F23-A24A-4D3392595AFF}"/>
              </a:ext>
            </a:extLst>
          </p:cNvPr>
          <p:cNvSpPr>
            <a:spLocks xmlns:a="http://schemas.openxmlformats.org/drawingml/2006/main" noGrp="1"/>
          </p:cNvSpPr>
          <p:nvPr/>
        </p:nvSpPr>
        <p:spPr>
          <a:xfrm xmlns:a="http://schemas.openxmlformats.org/drawingml/2006/main">
            <a:off x="571500" y="3943350"/>
            <a:ext cx="800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007D68"/>
                </a:solidFill>
                <a:latin typeface="NanumGothic"/>
                <a:ea typeface="NanumGothic"/>
                <a:cs typeface="NanumGothic"/>
              </a:defRPr>
            </a:defPPr>
          </a:lstStyle>
          <a:p xmlns:a="http://schemas.openxmlformats.org/drawingml/2006/main">
            <a:pPr>
              <a:buNone/>
              <a:defRPr sz="1650" b="1">
                <a:solidFill>
                  <a:srgbClr val="007D68"/>
                </a:solidFill>
                <a:latin typeface="NanumGothic"/>
                <a:ea typeface="NanumGothic"/>
                <a:cs typeface="NanumGothic"/>
              </a:defRPr>
            </a:pPr>
            <a:r>
              <a:rPr sz="1650" b="1">
                <a:solidFill>
                  <a:srgbClr val="007D68"/>
                </a:solidFill>
                <a:latin typeface="NanumGothic"/>
                <a:ea typeface="NanumGothic"/>
                <a:cs typeface="NanumGothic"/>
              </a:rPr>
              <a:t>결측 강수는 0으로 채우지 않고, 날짜 공백은 이어 붙이지 않습니다</a:t>
            </a:r>
          </a:p>
        </p:txBody>
      </p:sp>
    </p:spTree>
    <p:extLst>
      <p:ext uri="{BB962C8B-B14F-4D97-AF65-F5344CB8AC3E}">
        <p14:creationId xmlns:p14="http://schemas.microsoft.com/office/powerpoint/2010/main" val="2110135741"/>
      </p:ext>
    </p:extLst>
  </p:cSld>
</p:sld>
</file>

<file path=ppt/slides/slide32.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374B9A7-AC75-428F-B5C8-9EBA520BAE87}"/>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전국 확장과 장마 대응</a:t>
            </a:r>
          </a:p>
        </p:txBody>
      </p:sp>
      <p:sp>
        <p:nvSpPr>
          <p:cNvPr id="2" name="">
            <a:extLst xmlns:a="http://schemas.openxmlformats.org/drawingml/2006/main">
              <a:ext uri="{FF2B5EF4-FFF2-40B4-BE49-F238E27FC236}">
                <a16:creationId xmlns:a16="http://schemas.microsoft.com/office/drawing/2014/main" id="{4EC1C3C0-A779-46AE-9714-B81D75E8632A}"/>
              </a:ext>
            </a:extLst>
          </p:cNvPr>
          <p:cNvSpPr>
            <a:spLocks xmlns:a="http://schemas.openxmlformats.org/drawingml/2006/main" noGrp="1"/>
          </p:cNvSpPr>
          <p:nvPr/>
        </p:nvSpPr>
        <p:spPr>
          <a:xfrm xmlns:a="http://schemas.openxmlformats.org/drawingml/2006/main">
            <a:off x="571500" y="781050"/>
            <a:ext cx="8001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장마 대응 모델의 입력과 평가</a:t>
            </a:r>
          </a:p>
        </p:txBody>
      </p:sp>
      <p:sp>
        <p:nvSpPr>
          <p:cNvPr id="3" name="">
            <a:extLst xmlns:a="http://schemas.openxmlformats.org/drawingml/2006/main">
              <a:ext uri="{FF2B5EF4-FFF2-40B4-BE49-F238E27FC236}">
                <a16:creationId xmlns:a16="http://schemas.microsoft.com/office/drawing/2014/main" id="{D7185335-9908-4AA3-BDE7-A999BD43E272}"/>
              </a:ext>
            </a:extLst>
          </p:cNvPr>
          <p:cNvSpPr>
            <a:spLocks xmlns:a="http://schemas.openxmlformats.org/drawingml/2006/main" noGrp="1"/>
          </p:cNvSpPr>
          <p:nvPr/>
        </p:nvSpPr>
        <p:spPr>
          <a:xfrm xmlns:a="http://schemas.openxmlformats.org/drawingml/2006/main">
            <a:off x="571500" y="4695825"/>
            <a:ext cx="752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2026-10-08 확보·실행 결과</a:t>
            </a:r>
          </a:p>
        </p:txBody>
      </p:sp>
      <p:sp>
        <p:nvSpPr>
          <p:cNvPr id="4" name="">
            <a:extLst xmlns:a="http://schemas.openxmlformats.org/drawingml/2006/main">
              <a:ext uri="{FF2B5EF4-FFF2-40B4-BE49-F238E27FC236}">
                <a16:creationId xmlns:a16="http://schemas.microsoft.com/office/drawing/2014/main" id="{FD80A64D-A54D-4918-AE5D-D094E175A68F}"/>
              </a:ext>
            </a:extLst>
          </p:cNvPr>
          <p:cNvSpPr>
            <a:spLocks xmlns:a="http://schemas.openxmlformats.org/drawingml/2006/main" noGrp="1"/>
          </p:cNvSpPr>
          <p:nvPr/>
        </p:nvSpPr>
        <p:spPr>
          <a:xfrm xmlns:a="http://schemas.openxmlformats.org/drawingml/2006/main">
            <a:off x="571500" y="1609725"/>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007D68"/>
                </a:solidFill>
                <a:latin typeface="NanumGothic"/>
                <a:ea typeface="NanumGothic"/>
                <a:cs typeface="NanumGothic"/>
              </a:defRPr>
            </a:defPPr>
          </a:lstStyle>
          <a:p xmlns:a="http://schemas.openxmlformats.org/drawingml/2006/main">
            <a:pPr>
              <a:buNone/>
              <a:defRPr sz="2025" b="1">
                <a:solidFill>
                  <a:srgbClr val="007D68"/>
                </a:solidFill>
                <a:latin typeface="NanumGothic"/>
                <a:ea typeface="NanumGothic"/>
                <a:cs typeface="NanumGothic"/>
              </a:defRPr>
            </a:pPr>
            <a:r>
              <a:rPr sz="2025" b="1">
                <a:solidFill>
                  <a:srgbClr val="007D68"/>
                </a:solidFill>
                <a:latin typeface="NanumGothic"/>
                <a:ea typeface="NanumGothic"/>
                <a:cs typeface="NanumGothic"/>
              </a:rPr>
              <a:t>M0   최근 20일의 수위·강수</a:t>
            </a:r>
          </a:p>
        </p:txBody>
      </p:sp>
      <p:sp>
        <p:nvSpPr>
          <p:cNvPr id="5" name="">
            <a:extLst xmlns:a="http://schemas.openxmlformats.org/drawingml/2006/main">
              <a:ext uri="{FF2B5EF4-FFF2-40B4-BE49-F238E27FC236}">
                <a16:creationId xmlns:a16="http://schemas.microsoft.com/office/drawing/2014/main" id="{B6E7985B-AFD8-40D4-B153-D598C4C633E8}"/>
              </a:ext>
            </a:extLst>
          </p:cNvPr>
          <p:cNvSpPr>
            <a:spLocks xmlns:a="http://schemas.openxmlformats.org/drawingml/2006/main" noGrp="1"/>
          </p:cNvSpPr>
          <p:nvPr/>
        </p:nvSpPr>
        <p:spPr>
          <a:xfrm xmlns:a="http://schemas.openxmlformats.org/drawingml/2006/main">
            <a:off x="571500" y="2162175"/>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007D68"/>
                </a:solidFill>
                <a:latin typeface="NanumGothic"/>
                <a:ea typeface="NanumGothic"/>
                <a:cs typeface="NanumGothic"/>
              </a:defRPr>
            </a:defPPr>
          </a:lstStyle>
          <a:p xmlns:a="http://schemas.openxmlformats.org/drawingml/2006/main">
            <a:pPr>
              <a:buNone/>
              <a:defRPr sz="2025" b="1">
                <a:solidFill>
                  <a:srgbClr val="007D68"/>
                </a:solidFill>
                <a:latin typeface="NanumGothic"/>
                <a:ea typeface="NanumGothic"/>
                <a:cs typeface="NanumGothic"/>
              </a:defRPr>
            </a:pPr>
            <a:r>
              <a:rPr sz="2025" b="1">
                <a:solidFill>
                  <a:srgbClr val="007D68"/>
                </a:solidFill>
                <a:latin typeface="NanumGothic"/>
                <a:ea typeface="NanumGothic"/>
                <a:cs typeface="NanumGothic"/>
              </a:rPr>
              <a:t>M1   M0 + 과거 누적 강수·달력 계절성</a:t>
            </a:r>
          </a:p>
        </p:txBody>
      </p:sp>
      <p:sp>
        <p:nvSpPr>
          <p:cNvPr id="6" name="">
            <a:extLst xmlns:a="http://schemas.openxmlformats.org/drawingml/2006/main">
              <a:ext uri="{FF2B5EF4-FFF2-40B4-BE49-F238E27FC236}">
                <a16:creationId xmlns:a16="http://schemas.microsoft.com/office/drawing/2014/main" id="{C1A4A22D-C8C0-4ADD-B48E-BB148F1A4306}"/>
              </a:ext>
            </a:extLst>
          </p:cNvPr>
          <p:cNvSpPr>
            <a:spLocks xmlns:a="http://schemas.openxmlformats.org/drawingml/2006/main" noGrp="1"/>
          </p:cNvSpPr>
          <p:nvPr/>
        </p:nvSpPr>
        <p:spPr>
          <a:xfrm xmlns:a="http://schemas.openxmlformats.org/drawingml/2006/main">
            <a:off x="571500" y="3000375"/>
            <a:ext cx="800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22A2D"/>
                </a:solidFill>
                <a:latin typeface="NanumGothic"/>
                <a:ea typeface="NanumGothic"/>
                <a:cs typeface="NanumGothic"/>
              </a:defRPr>
            </a:defPPr>
          </a:lstStyle>
          <a:p xmlns:a="http://schemas.openxmlformats.org/drawingml/2006/main">
            <a:pPr>
              <a:buNone/>
              <a:defRPr sz="1875" b="0">
                <a:solidFill>
                  <a:srgbClr val="222A2D"/>
                </a:solidFill>
                <a:latin typeface="NanumGothic"/>
                <a:ea typeface="NanumGothic"/>
                <a:cs typeface="NanumGothic"/>
              </a:defRPr>
            </a:pPr>
            <a:r>
              <a:rPr sz="1875" b="0">
                <a:solidFill>
                  <a:srgbClr val="222A2D"/>
                </a:solidFill>
                <a:latin typeface="NanumGothic"/>
                <a:ea typeface="NanumGothic"/>
                <a:cs typeface="NanumGothic"/>
              </a:rPr>
              <a:t>실측: 학습1~5월 · 검증6월 · 평가7~10월</a:t>
            </a:r>
          </a:p>
        </p:txBody>
      </p:sp>
      <p:sp>
        <p:nvSpPr>
          <p:cNvPr id="7" name="">
            <a:extLst xmlns:a="http://schemas.openxmlformats.org/drawingml/2006/main">
              <a:ext uri="{FF2B5EF4-FFF2-40B4-BE49-F238E27FC236}">
                <a16:creationId xmlns:a16="http://schemas.microsoft.com/office/drawing/2014/main" id="{5C68CF70-C83C-4EF8-BE70-2E436891FC7B}"/>
              </a:ext>
            </a:extLst>
          </p:cNvPr>
          <p:cNvSpPr>
            <a:spLocks xmlns:a="http://schemas.openxmlformats.org/drawingml/2006/main" noGrp="1"/>
          </p:cNvSpPr>
          <p:nvPr/>
        </p:nvSpPr>
        <p:spPr>
          <a:xfrm xmlns:a="http://schemas.openxmlformats.org/drawingml/2006/main">
            <a:off x="571500" y="3705225"/>
            <a:ext cx="8001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22A2D"/>
                </a:solidFill>
                <a:latin typeface="NanumGothic"/>
                <a:ea typeface="NanumGothic"/>
                <a:cs typeface="NanumGothic"/>
              </a:defRPr>
            </a:defPPr>
          </a:lstStyle>
          <a:p xmlns:a="http://schemas.openxmlformats.org/drawingml/2006/main">
            <a:pPr>
              <a:buNone/>
              <a:defRPr sz="1800" b="0">
                <a:solidFill>
                  <a:srgbClr val="222A2D"/>
                </a:solidFill>
                <a:latin typeface="NanumGothic"/>
                <a:ea typeface="NanumGothic"/>
                <a:cs typeface="NanumGothic"/>
              </a:defRPr>
            </a:pPr>
            <a:r>
              <a:rPr sz="1800" b="0">
                <a:solidFill>
                  <a:srgbClr val="222A2D"/>
                </a:solidFill>
                <a:latin typeface="NanumGothic"/>
                <a:ea typeface="NanumGothic"/>
                <a:cs typeface="NanumGothic"/>
              </a:rPr>
              <a:t>장마 시작·종료일은 평가에만 사용</a:t>
            </a:r>
          </a:p>
          <a:p xmlns:a="http://schemas.openxmlformats.org/drawingml/2006/main">
            <a:pPr>
              <a:buNone/>
              <a:defRPr sz="1800" b="0">
                <a:solidFill>
                  <a:srgbClr val="222A2D"/>
                </a:solidFill>
                <a:latin typeface="NanumGothic"/>
                <a:ea typeface="NanumGothic"/>
                <a:cs typeface="NanumGothic"/>
              </a:defRPr>
            </a:pPr>
            <a:r>
              <a:rPr sz="1800" b="0">
                <a:solidFill>
                  <a:srgbClr val="222A2D"/>
                </a:solidFill>
                <a:latin typeface="NanumGothic"/>
                <a:ea typeface="NanumGothic"/>
                <a:cs typeface="NanumGothic"/>
              </a:rPr>
              <a:t>미래 실제 강수·미래 정답을 입력에 사용하지 않음</a:t>
            </a:r>
          </a:p>
        </p:txBody>
      </p:sp>
    </p:spTree>
    <p:extLst>
      <p:ext uri="{BB962C8B-B14F-4D97-AF65-F5344CB8AC3E}">
        <p14:creationId xmlns:p14="http://schemas.microsoft.com/office/powerpoint/2010/main" val="1151989462"/>
      </p:ext>
    </p:extLst>
  </p:cSld>
</p:sld>
</file>

<file path=ppt/slides/slide33.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02B7361-ACC4-4181-AE37-23EC85B85489}"/>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전국 확장과 장마 대응</a:t>
            </a:r>
          </a:p>
        </p:txBody>
      </p:sp>
      <p:sp>
        <p:nvSpPr>
          <p:cNvPr id="2" name="">
            <a:extLst xmlns:a="http://schemas.openxmlformats.org/drawingml/2006/main">
              <a:ext uri="{FF2B5EF4-FFF2-40B4-BE49-F238E27FC236}">
                <a16:creationId xmlns:a16="http://schemas.microsoft.com/office/drawing/2014/main" id="{45B9075A-360F-40BC-A47B-7E412B18729E}"/>
              </a:ext>
            </a:extLst>
          </p:cNvPr>
          <p:cNvSpPr>
            <a:spLocks xmlns:a="http://schemas.openxmlformats.org/drawingml/2006/main" noGrp="1"/>
          </p:cNvSpPr>
          <p:nvPr/>
        </p:nvSpPr>
        <p:spPr>
          <a:xfrm xmlns:a="http://schemas.openxmlformats.org/drawingml/2006/main">
            <a:off x="571500" y="781050"/>
            <a:ext cx="8001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강수 특징의 효과는 관측소마다 달랐습니다</a:t>
            </a:r>
          </a:p>
        </p:txBody>
      </p:sp>
      <p:sp>
        <p:nvSpPr>
          <p:cNvPr id="3" name="">
            <a:extLst xmlns:a="http://schemas.openxmlformats.org/drawingml/2006/main">
              <a:ext uri="{FF2B5EF4-FFF2-40B4-BE49-F238E27FC236}">
                <a16:creationId xmlns:a16="http://schemas.microsoft.com/office/drawing/2014/main" id="{85CAE4AF-79BA-4E2E-A227-4B8A2F4B52C0}"/>
              </a:ext>
            </a:extLst>
          </p:cNvPr>
          <p:cNvSpPr>
            <a:spLocks xmlns:a="http://schemas.openxmlformats.org/drawingml/2006/main" noGrp="1"/>
          </p:cNvSpPr>
          <p:nvPr/>
        </p:nvSpPr>
        <p:spPr>
          <a:xfrm xmlns:a="http://schemas.openxmlformats.org/drawingml/2006/main">
            <a:off x="571500" y="4695825"/>
            <a:ext cx="752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2026-10-08 확보·실행 결과</a:t>
            </a:r>
          </a:p>
        </p:txBody>
      </p:sp>
      <p:graphicFrame>
        <p:nvGraphicFramePr>
          <p:cNvPr id="4" name="">
            <a:extLst xmlns:a="http://schemas.openxmlformats.org/drawingml/2006/main">
              <a:ext uri="{FF2B5EF4-FFF2-40B4-BE49-F238E27FC236}">
                <a16:creationId xmlns:a16="http://schemas.microsoft.com/office/drawing/2014/main" id="{109FF883-CCA5-4E85-8653-BCA9C00AEDBD}"/>
              </a:ext>
            </a:extLst>
          </p:cNvPr>
          <p:cNvGraphicFramePr/>
          <p:nvPr/>
        </p:nvGraphicFramePr>
        <p:xfrm>
          <a:off xmlns:a="http://schemas.openxmlformats.org/drawingml/2006/main" x="571500" y="1600200"/>
          <a:ext xmlns:a="http://schemas.openxmlformats.org/drawingml/2006/main" cx="8001000" cy="2152650"/>
        </p:xfrm>
        <a:graphic xmlns:a="http://schemas.openxmlformats.org/drawingml/2006/main">
          <a:graphicData uri="http://schemas.openxmlformats.org/drawingml/2006/table">
            <a:tbl>
              <a:tblPr/>
              <a:tblGrid>
                <a:gridCol w="1809750"/>
                <a:gridCol w="1476375"/>
                <a:gridCol w="1476375"/>
                <a:gridCol w="1571625"/>
                <a:gridCol w="1666875"/>
              </a:tblGrid>
              <a:tr h="538163">
                <a:tc>
                  <a:txBody>
                    <a:bodyPr/>
                    <a:lstStyle/>
                    <a:p>
                      <a:r>
                        <a:rPr sz="1500" b="1">
                          <a:solidFill>
                            <a:srgbClr val="007D68"/>
                          </a:solidFill>
                          <a:latin typeface="NanumGothic"/>
                          <a:ea typeface="NanumGothic"/>
                          <a:cs typeface="NanumGothic"/>
                        </a:rPr>
                        <a:t>관측소</a:t>
                      </a:r>
                    </a:p>
                  </a:txBody>
                  <a:tcPr marL="91440" marR="91440" marT="45720" marB="45720">
                    <a:solidFill>
                      <a:srgbClr val="E7EFEB"/>
                    </a:solidFill>
                  </a:tcPr>
                </a:tc>
                <a:tc>
                  <a:txBody>
                    <a:bodyPr/>
                    <a:lstStyle/>
                    <a:p>
                      <a:r>
                        <a:rPr sz="1500" b="1">
                          <a:solidFill>
                            <a:srgbClr val="007D68"/>
                          </a:solidFill>
                          <a:latin typeface="NanumGothic"/>
                          <a:ea typeface="NanumGothic"/>
                          <a:cs typeface="NanumGothic"/>
                        </a:rPr>
                        <a:t>M0 RMSE</a:t>
                      </a:r>
                    </a:p>
                  </a:txBody>
                  <a:tcPr marL="91440" marR="91440" marT="45720" marB="45720">
                    <a:solidFill>
                      <a:srgbClr val="E7EFEB"/>
                    </a:solidFill>
                  </a:tcPr>
                </a:tc>
                <a:tc>
                  <a:txBody>
                    <a:bodyPr/>
                    <a:lstStyle/>
                    <a:p>
                      <a:r>
                        <a:rPr sz="1500" b="1">
                          <a:solidFill>
                            <a:srgbClr val="007D68"/>
                          </a:solidFill>
                          <a:latin typeface="NanumGothic"/>
                          <a:ea typeface="NanumGothic"/>
                          <a:cs typeface="NanumGothic"/>
                        </a:rPr>
                        <a:t>M1 RMSE</a:t>
                      </a:r>
                    </a:p>
                  </a:txBody>
                  <a:tcPr marL="91440" marR="91440" marT="45720" marB="45720">
                    <a:solidFill>
                      <a:srgbClr val="E7EFEB"/>
                    </a:solidFill>
                  </a:tcPr>
                </a:tc>
                <a:tc>
                  <a:txBody>
                    <a:bodyPr/>
                    <a:lstStyle/>
                    <a:p>
                      <a:r>
                        <a:rPr sz="1500" b="1">
                          <a:solidFill>
                            <a:srgbClr val="007D68"/>
                          </a:solidFill>
                          <a:latin typeface="NanumGothic"/>
                          <a:ea typeface="NanumGothic"/>
                          <a:cs typeface="NanumGothic"/>
                        </a:rPr>
                        <a:t>Persistence</a:t>
                      </a:r>
                    </a:p>
                  </a:txBody>
                  <a:tcPr marL="91440" marR="91440" marT="45720" marB="45720">
                    <a:solidFill>
                      <a:srgbClr val="E7EFEB"/>
                    </a:solidFill>
                  </a:tcPr>
                </a:tc>
                <a:tc>
                  <a:txBody>
                    <a:bodyPr/>
                    <a:lstStyle/>
                    <a:p>
                      <a:r>
                        <a:rPr sz="1500" b="1">
                          <a:solidFill>
                            <a:srgbClr val="007D68"/>
                          </a:solidFill>
                          <a:latin typeface="NanumGothic"/>
                          <a:ea typeface="NanumGothic"/>
                          <a:cs typeface="NanumGothic"/>
                        </a:rPr>
                        <a:t>M0 대비 감소</a:t>
                      </a:r>
                    </a:p>
                  </a:txBody>
                  <a:tcPr marL="91440" marR="91440" marT="45720" marB="45720">
                    <a:solidFill>
                      <a:srgbClr val="E7EFEB"/>
                    </a:solidFill>
                  </a:tcPr>
                </a:tc>
              </a:tr>
              <a:tr h="538163">
                <a:tc>
                  <a:txBody>
                    <a:bodyPr/>
                    <a:lstStyle/>
                    <a:p>
                      <a:r>
                        <a:rPr sz="1500" b="0">
                          <a:solidFill>
                            <a:srgbClr val="222A2D"/>
                          </a:solidFill>
                          <a:latin typeface="NanumGothic"/>
                          <a:ea typeface="NanumGothic"/>
                          <a:cs typeface="NanumGothic"/>
                        </a:rPr>
                        <a:t>광주도척</a:t>
                      </a:r>
                    </a:p>
                  </a:txBody>
                  <a:tcPr marL="91440" marR="91440" marT="45720" marB="45720">
                    <a:solidFill>
                      <a:srgbClr val="FAFBF9"/>
                    </a:solidFill>
                  </a:tcPr>
                </a:tc>
                <a:tc>
                  <a:txBody>
                    <a:bodyPr/>
                    <a:lstStyle/>
                    <a:p>
                      <a:r>
                        <a:rPr sz="1500" b="0">
                          <a:solidFill>
                            <a:srgbClr val="222A2D"/>
                          </a:solidFill>
                          <a:latin typeface="NanumGothic"/>
                          <a:ea typeface="NanumGothic"/>
                          <a:cs typeface="NanumGothic"/>
                        </a:rPr>
                        <a:t>0.05379</a:t>
                      </a:r>
                    </a:p>
                  </a:txBody>
                  <a:tcPr marL="91440" marR="91440" marT="45720" marB="45720">
                    <a:solidFill>
                      <a:srgbClr val="FAFBF9"/>
                    </a:solidFill>
                  </a:tcPr>
                </a:tc>
                <a:tc>
                  <a:txBody>
                    <a:bodyPr/>
                    <a:lstStyle/>
                    <a:p>
                      <a:r>
                        <a:rPr sz="1500" b="0">
                          <a:solidFill>
                            <a:srgbClr val="222A2D"/>
                          </a:solidFill>
                          <a:latin typeface="NanumGothic"/>
                          <a:ea typeface="NanumGothic"/>
                          <a:cs typeface="NanumGothic"/>
                        </a:rPr>
                        <a:t>0.06235</a:t>
                      </a:r>
                    </a:p>
                  </a:txBody>
                  <a:tcPr marL="91440" marR="91440" marT="45720" marB="45720">
                    <a:solidFill>
                      <a:srgbClr val="FAFBF9"/>
                    </a:solidFill>
                  </a:tcPr>
                </a:tc>
                <a:tc>
                  <a:txBody>
                    <a:bodyPr/>
                    <a:lstStyle/>
                    <a:p>
                      <a:r>
                        <a:rPr sz="1500" b="0">
                          <a:solidFill>
                            <a:srgbClr val="222A2D"/>
                          </a:solidFill>
                          <a:latin typeface="NanumGothic"/>
                          <a:ea typeface="NanumGothic"/>
                          <a:cs typeface="NanumGothic"/>
                        </a:rPr>
                        <a:t>0.05336</a:t>
                      </a:r>
                    </a:p>
                  </a:txBody>
                  <a:tcPr marL="91440" marR="91440" marT="45720" marB="45720">
                    <a:solidFill>
                      <a:srgbClr val="FAFBF9"/>
                    </a:solidFill>
                  </a:tcPr>
                </a:tc>
                <a:tc>
                  <a:txBody>
                    <a:bodyPr/>
                    <a:lstStyle/>
                    <a:p>
                      <a:r>
                        <a:rPr sz="1500" b="0">
                          <a:solidFill>
                            <a:srgbClr val="222A2D"/>
                          </a:solidFill>
                          <a:latin typeface="NanumGothic"/>
                          <a:ea typeface="NanumGothic"/>
                          <a:cs typeface="NanumGothic"/>
                        </a:rPr>
                        <a:t>-15.92%</a:t>
                      </a:r>
                    </a:p>
                  </a:txBody>
                  <a:tcPr marL="91440" marR="91440" marT="45720" marB="45720">
                    <a:solidFill>
                      <a:srgbClr val="FAFBF9"/>
                    </a:solidFill>
                  </a:tcPr>
                </a:tc>
              </a:tr>
              <a:tr h="538163">
                <a:tc>
                  <a:txBody>
                    <a:bodyPr/>
                    <a:lstStyle/>
                    <a:p>
                      <a:r>
                        <a:rPr sz="1500" b="0">
                          <a:solidFill>
                            <a:srgbClr val="222A2D"/>
                          </a:solidFill>
                          <a:latin typeface="NanumGothic"/>
                          <a:ea typeface="NanumGothic"/>
                          <a:cs typeface="NanumGothic"/>
                        </a:rPr>
                        <a:t>무안무안</a:t>
                      </a:r>
                    </a:p>
                  </a:txBody>
                  <a:tcPr marL="91440" marR="91440" marT="45720" marB="45720">
                    <a:solidFill>
                      <a:srgbClr val="F2F6F3"/>
                    </a:solidFill>
                  </a:tcPr>
                </a:tc>
                <a:tc>
                  <a:txBody>
                    <a:bodyPr/>
                    <a:lstStyle/>
                    <a:p>
                      <a:r>
                        <a:rPr sz="1500" b="0">
                          <a:solidFill>
                            <a:srgbClr val="222A2D"/>
                          </a:solidFill>
                          <a:latin typeface="NanumGothic"/>
                          <a:ea typeface="NanumGothic"/>
                          <a:cs typeface="NanumGothic"/>
                        </a:rPr>
                        <a:t>0.09075</a:t>
                      </a:r>
                    </a:p>
                  </a:txBody>
                  <a:tcPr marL="91440" marR="91440" marT="45720" marB="45720">
                    <a:solidFill>
                      <a:srgbClr val="F2F6F3"/>
                    </a:solidFill>
                  </a:tcPr>
                </a:tc>
                <a:tc>
                  <a:txBody>
                    <a:bodyPr/>
                    <a:lstStyle/>
                    <a:p>
                      <a:r>
                        <a:rPr sz="1500" b="0">
                          <a:solidFill>
                            <a:srgbClr val="222A2D"/>
                          </a:solidFill>
                          <a:latin typeface="NanumGothic"/>
                          <a:ea typeface="NanumGothic"/>
                          <a:cs typeface="NanumGothic"/>
                        </a:rPr>
                        <a:t>0.10179</a:t>
                      </a:r>
                    </a:p>
                  </a:txBody>
                  <a:tcPr marL="91440" marR="91440" marT="45720" marB="45720">
                    <a:solidFill>
                      <a:srgbClr val="F2F6F3"/>
                    </a:solidFill>
                  </a:tcPr>
                </a:tc>
                <a:tc>
                  <a:txBody>
                    <a:bodyPr/>
                    <a:lstStyle/>
                    <a:p>
                      <a:r>
                        <a:rPr sz="1500" b="0">
                          <a:solidFill>
                            <a:srgbClr val="222A2D"/>
                          </a:solidFill>
                          <a:latin typeface="NanumGothic"/>
                          <a:ea typeface="NanumGothic"/>
                          <a:cs typeface="NanumGothic"/>
                        </a:rPr>
                        <a:t>0.09077</a:t>
                      </a:r>
                    </a:p>
                  </a:txBody>
                  <a:tcPr marL="91440" marR="91440" marT="45720" marB="45720">
                    <a:solidFill>
                      <a:srgbClr val="F2F6F3"/>
                    </a:solidFill>
                  </a:tcPr>
                </a:tc>
                <a:tc>
                  <a:txBody>
                    <a:bodyPr/>
                    <a:lstStyle/>
                    <a:p>
                      <a:r>
                        <a:rPr sz="1500" b="0">
                          <a:solidFill>
                            <a:srgbClr val="222A2D"/>
                          </a:solidFill>
                          <a:latin typeface="NanumGothic"/>
                          <a:ea typeface="NanumGothic"/>
                          <a:cs typeface="NanumGothic"/>
                        </a:rPr>
                        <a:t>-12.17%</a:t>
                      </a:r>
                    </a:p>
                  </a:txBody>
                  <a:tcPr marL="91440" marR="91440" marT="45720" marB="45720">
                    <a:solidFill>
                      <a:srgbClr val="F2F6F3"/>
                    </a:solidFill>
                  </a:tcPr>
                </a:tc>
              </a:tr>
              <a:tr h="538163">
                <a:tc>
                  <a:txBody>
                    <a:bodyPr/>
                    <a:lstStyle/>
                    <a:p>
                      <a:r>
                        <a:rPr sz="1500" b="0">
                          <a:solidFill>
                            <a:srgbClr val="222A2D"/>
                          </a:solidFill>
                          <a:latin typeface="NanumGothic"/>
                          <a:ea typeface="NanumGothic"/>
                          <a:cs typeface="NanumGothic"/>
                        </a:rPr>
                        <a:t>제주조천</a:t>
                      </a:r>
                    </a:p>
                  </a:txBody>
                  <a:tcPr marL="91440" marR="91440" marT="45720" marB="45720">
                    <a:solidFill>
                      <a:srgbClr val="FAFBF9"/>
                    </a:solidFill>
                  </a:tcPr>
                </a:tc>
                <a:tc>
                  <a:txBody>
                    <a:bodyPr/>
                    <a:lstStyle/>
                    <a:p>
                      <a:r>
                        <a:rPr sz="1500" b="0">
                          <a:solidFill>
                            <a:srgbClr val="222A2D"/>
                          </a:solidFill>
                          <a:latin typeface="NanumGothic"/>
                          <a:ea typeface="NanumGothic"/>
                          <a:cs typeface="NanumGothic"/>
                        </a:rPr>
                        <a:t>0.06904</a:t>
                      </a:r>
                    </a:p>
                  </a:txBody>
                  <a:tcPr marL="91440" marR="91440" marT="45720" marB="45720">
                    <a:solidFill>
                      <a:srgbClr val="FAFBF9"/>
                    </a:solidFill>
                  </a:tcPr>
                </a:tc>
                <a:tc>
                  <a:txBody>
                    <a:bodyPr/>
                    <a:lstStyle/>
                    <a:p>
                      <a:r>
                        <a:rPr sz="1500" b="0">
                          <a:solidFill>
                            <a:srgbClr val="222A2D"/>
                          </a:solidFill>
                          <a:latin typeface="NanumGothic"/>
                          <a:ea typeface="NanumGothic"/>
                          <a:cs typeface="NanumGothic"/>
                        </a:rPr>
                        <a:t>0.04872</a:t>
                      </a:r>
                    </a:p>
                  </a:txBody>
                  <a:tcPr marL="91440" marR="91440" marT="45720" marB="45720">
                    <a:solidFill>
                      <a:srgbClr val="FAFBF9"/>
                    </a:solidFill>
                  </a:tcPr>
                </a:tc>
                <a:tc>
                  <a:txBody>
                    <a:bodyPr/>
                    <a:lstStyle/>
                    <a:p>
                      <a:r>
                        <a:rPr sz="1500" b="0">
                          <a:solidFill>
                            <a:srgbClr val="222A2D"/>
                          </a:solidFill>
                          <a:latin typeface="NanumGothic"/>
                          <a:ea typeface="NanumGothic"/>
                          <a:cs typeface="NanumGothic"/>
                        </a:rPr>
                        <a:t>0.04838</a:t>
                      </a:r>
                    </a:p>
                  </a:txBody>
                  <a:tcPr marL="91440" marR="91440" marT="45720" marB="45720">
                    <a:solidFill>
                      <a:srgbClr val="FAFBF9"/>
                    </a:solidFill>
                  </a:tcPr>
                </a:tc>
                <a:tc>
                  <a:txBody>
                    <a:bodyPr/>
                    <a:lstStyle/>
                    <a:p>
                      <a:r>
                        <a:rPr sz="1500" b="0">
                          <a:solidFill>
                            <a:srgbClr val="222A2D"/>
                          </a:solidFill>
                          <a:latin typeface="NanumGothic"/>
                          <a:ea typeface="NanumGothic"/>
                          <a:cs typeface="NanumGothic"/>
                        </a:rPr>
                        <a:t>29.43%</a:t>
                      </a:r>
                    </a:p>
                  </a:txBody>
                  <a:tcPr marL="91440" marR="91440" marT="45720" marB="45720">
                    <a:solidFill>
                      <a:srgbClr val="FAFBF9"/>
                    </a:solidFill>
                  </a:tcPr>
                </a:tc>
              </a:tr>
            </a:tbl>
          </a:graphicData>
        </a:graphic>
      </p:graphicFrame>
      <p:sp>
        <p:nvSpPr>
          <p:cNvPr id="5" name="">
            <a:extLst xmlns:a="http://schemas.openxmlformats.org/drawingml/2006/main">
              <a:ext uri="{FF2B5EF4-FFF2-40B4-BE49-F238E27FC236}">
                <a16:creationId xmlns:a16="http://schemas.microsoft.com/office/drawing/2014/main" id="{C45B3BCE-1C07-4C8B-91E3-A02894443645}"/>
              </a:ext>
            </a:extLst>
          </p:cNvPr>
          <p:cNvSpPr>
            <a:spLocks xmlns:a="http://schemas.openxmlformats.org/drawingml/2006/main" noGrp="1"/>
          </p:cNvSpPr>
          <p:nvPr/>
        </p:nvSpPr>
        <p:spPr>
          <a:xfrm xmlns:a="http://schemas.openxmlformats.org/drawingml/2006/main">
            <a:off x="571500" y="3857625"/>
            <a:ext cx="800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C686B"/>
                </a:solidFill>
                <a:latin typeface="NanumGothic"/>
                <a:ea typeface="NanumGothic"/>
                <a:cs typeface="NanumGothic"/>
              </a:defRPr>
            </a:defPPr>
          </a:lstStyle>
          <a:p xmlns:a="http://schemas.openxmlformats.org/drawingml/2006/main">
            <a:pPr>
              <a:buNone/>
              <a:defRPr sz="1350" b="0">
                <a:solidFill>
                  <a:srgbClr val="5C686B"/>
                </a:solidFill>
                <a:latin typeface="NanumGothic"/>
                <a:ea typeface="NanumGothic"/>
                <a:cs typeface="NanumGothic"/>
              </a:defRPr>
            </a:pPr>
            <a:r>
              <a:rPr sz="1350" b="0">
                <a:solidFill>
                  <a:srgbClr val="5C686B"/>
                </a:solidFill>
                <a:latin typeface="NanumGothic"/>
                <a:ea typeface="NanumGothic"/>
                <a:cs typeface="NanumGothic"/>
              </a:rPr>
              <a:t>실측 RMSE(m) · 음수 감소율은 악화 · 제주M1도 persistence보다0.71% 악화</a:t>
            </a:r>
          </a:p>
        </p:txBody>
      </p:sp>
      <p:sp>
        <p:nvSpPr>
          <p:cNvPr id="6" name="">
            <a:extLst xmlns:a="http://schemas.openxmlformats.org/drawingml/2006/main">
              <a:ext uri="{FF2B5EF4-FFF2-40B4-BE49-F238E27FC236}">
                <a16:creationId xmlns:a16="http://schemas.microsoft.com/office/drawing/2014/main" id="{07A6B936-B43C-4690-8819-2D30EA85F549}"/>
              </a:ext>
            </a:extLst>
          </p:cNvPr>
          <p:cNvSpPr>
            <a:spLocks xmlns:a="http://schemas.openxmlformats.org/drawingml/2006/main" noGrp="1"/>
          </p:cNvSpPr>
          <p:nvPr/>
        </p:nvSpPr>
        <p:spPr>
          <a:xfrm xmlns:a="http://schemas.openxmlformats.org/drawingml/2006/main">
            <a:off x="571500" y="4210050"/>
            <a:ext cx="800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1">
                <a:solidFill>
                  <a:srgbClr val="007D68"/>
                </a:solidFill>
                <a:latin typeface="NanumGothic"/>
                <a:ea typeface="NanumGothic"/>
                <a:cs typeface="NanumGothic"/>
              </a:defRPr>
            </a:defPPr>
          </a:lstStyle>
          <a:p xmlns:a="http://schemas.openxmlformats.org/drawingml/2006/main">
            <a:pPr>
              <a:buNone/>
              <a:defRPr sz="1350" b="1">
                <a:solidFill>
                  <a:srgbClr val="007D68"/>
                </a:solidFill>
                <a:latin typeface="NanumGothic"/>
                <a:ea typeface="NanumGothic"/>
                <a:cs typeface="NanumGothic"/>
              </a:defRPr>
            </a:pPr>
            <a:r>
              <a:rPr sz="1350" b="1">
                <a:solidFill>
                  <a:srgbClr val="007D68"/>
                </a:solidFill>
                <a:latin typeface="NanumGothic"/>
                <a:ea typeface="NanumGothic"/>
                <a:cs typeface="NanumGothic"/>
              </a:rPr>
              <a:t>합성17곳 × 640일: 전체0.04083→0.04066 · 5% 개선0곳</a:t>
            </a:r>
          </a:p>
          <a:p xmlns:a="http://schemas.openxmlformats.org/drawingml/2006/main">
            <a:pPr>
              <a:buNone/>
              <a:defRPr sz="1350" b="1">
                <a:solidFill>
                  <a:srgbClr val="007D68"/>
                </a:solidFill>
                <a:latin typeface="NanumGothic"/>
                <a:ea typeface="NanumGothic"/>
                <a:cs typeface="NanumGothic"/>
              </a:defRPr>
            </a:pPr>
            <a:r>
              <a:rPr sz="1350" b="1">
                <a:solidFill>
                  <a:srgbClr val="007D68"/>
                </a:solidFill>
                <a:latin typeface="NanumGothic"/>
                <a:ea typeface="NanumGothic"/>
                <a:cs typeface="NanumGothic"/>
              </a:rPr>
              <a:t>합성 장마0.09115→0.09119 · 강한 강수도 악화 / 운영 근거 아님</a:t>
            </a:r>
          </a:p>
        </p:txBody>
      </p:sp>
    </p:spTree>
    <p:extLst>
      <p:ext uri="{BB962C8B-B14F-4D97-AF65-F5344CB8AC3E}">
        <p14:creationId xmlns:p14="http://schemas.microsoft.com/office/powerpoint/2010/main" val="1207536892"/>
      </p:ext>
    </p:extLst>
  </p:cSld>
</p:sld>
</file>

<file path=ppt/slides/slide34.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4F8782F-7884-4212-B252-174BA8288D94}"/>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전국 확장과 장마 대응</a:t>
            </a:r>
          </a:p>
        </p:txBody>
      </p:sp>
      <p:sp>
        <p:nvSpPr>
          <p:cNvPr id="2" name="">
            <a:extLst xmlns:a="http://schemas.openxmlformats.org/drawingml/2006/main">
              <a:ext uri="{FF2B5EF4-FFF2-40B4-BE49-F238E27FC236}">
                <a16:creationId xmlns:a16="http://schemas.microsoft.com/office/drawing/2014/main" id="{1690569B-C46F-4B32-BDF7-4BF82DAA4FFE}"/>
              </a:ext>
            </a:extLst>
          </p:cNvPr>
          <p:cNvSpPr>
            <a:spLocks xmlns:a="http://schemas.openxmlformats.org/drawingml/2006/main" noGrp="1"/>
          </p:cNvSpPr>
          <p:nvPr/>
        </p:nvSpPr>
        <p:spPr>
          <a:xfrm xmlns:a="http://schemas.openxmlformats.org/drawingml/2006/main">
            <a:off x="571500" y="781050"/>
            <a:ext cx="8001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자동 수집·감시와 운영 승격의 구분</a:t>
            </a:r>
          </a:p>
        </p:txBody>
      </p:sp>
      <p:sp>
        <p:nvSpPr>
          <p:cNvPr id="3" name="">
            <a:extLst xmlns:a="http://schemas.openxmlformats.org/drawingml/2006/main">
              <a:ext uri="{FF2B5EF4-FFF2-40B4-BE49-F238E27FC236}">
                <a16:creationId xmlns:a16="http://schemas.microsoft.com/office/drawing/2014/main" id="{586DB8FC-055F-4A51-A258-AF1CBC275552}"/>
              </a:ext>
            </a:extLst>
          </p:cNvPr>
          <p:cNvSpPr>
            <a:spLocks xmlns:a="http://schemas.openxmlformats.org/drawingml/2006/main" noGrp="1"/>
          </p:cNvSpPr>
          <p:nvPr/>
        </p:nvSpPr>
        <p:spPr>
          <a:xfrm xmlns:a="http://schemas.openxmlformats.org/drawingml/2006/main">
            <a:off x="571500" y="4695825"/>
            <a:ext cx="752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2026-10-08 확보·실행 결과</a:t>
            </a:r>
          </a:p>
        </p:txBody>
      </p:sp>
      <p:sp>
        <p:nvSpPr>
          <p:cNvPr id="4" name="">
            <a:extLst xmlns:a="http://schemas.openxmlformats.org/drawingml/2006/main">
              <a:ext uri="{FF2B5EF4-FFF2-40B4-BE49-F238E27FC236}">
                <a16:creationId xmlns:a16="http://schemas.microsoft.com/office/drawing/2014/main" id="{86768EE7-8CBD-4326-9058-BD3A658A8286}"/>
              </a:ext>
            </a:extLst>
          </p:cNvPr>
          <p:cNvSpPr>
            <a:spLocks xmlns:a="http://schemas.openxmlformats.org/drawingml/2006/main" noGrp="1"/>
          </p:cNvSpPr>
          <p:nvPr/>
        </p:nvSpPr>
        <p:spPr>
          <a:xfrm xmlns:a="http://schemas.openxmlformats.org/drawingml/2006/main">
            <a:off x="571500" y="1581150"/>
            <a:ext cx="8001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007D68"/>
                </a:solidFill>
                <a:latin typeface="NanumGothic"/>
                <a:ea typeface="NanumGothic"/>
                <a:cs typeface="NanumGothic"/>
              </a:defRPr>
            </a:defPPr>
          </a:lstStyle>
          <a:p xmlns:a="http://schemas.openxmlformats.org/drawingml/2006/main">
            <a:pPr>
              <a:buNone/>
              <a:defRPr sz="2025" b="1">
                <a:solidFill>
                  <a:srgbClr val="007D68"/>
                </a:solidFill>
                <a:latin typeface="NanumGothic"/>
                <a:ea typeface="NanumGothic"/>
                <a:cs typeface="NanumGothic"/>
              </a:defRPr>
            </a:pPr>
            <a:r>
              <a:rPr sz="2025" b="1">
                <a:solidFill>
                  <a:srgbClr val="007D68"/>
                </a:solidFill>
                <a:latin typeface="NanumGothic"/>
                <a:ea typeface="NanumGothic"/>
                <a:cs typeface="NanumGothic"/>
              </a:rPr>
              <a:t>D−1 일자료 자동 수집   실제 API 응답 확인</a:t>
            </a:r>
          </a:p>
        </p:txBody>
      </p:sp>
      <p:sp>
        <p:nvSpPr>
          <p:cNvPr id="5" name="">
            <a:extLst xmlns:a="http://schemas.openxmlformats.org/drawingml/2006/main">
              <a:ext uri="{FF2B5EF4-FFF2-40B4-BE49-F238E27FC236}">
                <a16:creationId xmlns:a16="http://schemas.microsoft.com/office/drawing/2014/main" id="{AE961BF2-F565-435B-89AF-BA7497AF3178}"/>
              </a:ext>
            </a:extLst>
          </p:cNvPr>
          <p:cNvSpPr>
            <a:spLocks xmlns:a="http://schemas.openxmlformats.org/drawingml/2006/main" noGrp="1"/>
          </p:cNvSpPr>
          <p:nvPr/>
        </p:nvSpPr>
        <p:spPr>
          <a:xfrm xmlns:a="http://schemas.openxmlformats.org/drawingml/2006/main">
            <a:off x="571500" y="2257425"/>
            <a:ext cx="8001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22A2D"/>
                </a:solidFill>
                <a:latin typeface="NanumGothic"/>
                <a:ea typeface="NanumGothic"/>
                <a:cs typeface="NanumGothic"/>
              </a:defRPr>
            </a:defPPr>
          </a:lstStyle>
          <a:p xmlns:a="http://schemas.openxmlformats.org/drawingml/2006/main">
            <a:pPr>
              <a:buNone/>
              <a:defRPr sz="1875" b="0">
                <a:solidFill>
                  <a:srgbClr val="222A2D"/>
                </a:solidFill>
                <a:latin typeface="NanumGothic"/>
                <a:ea typeface="NanumGothic"/>
                <a:cs typeface="NanumGothic"/>
              </a:defRPr>
            </a:pPr>
            <a:r>
              <a:rPr sz="1875" b="0">
                <a:solidFill>
                  <a:srgbClr val="222A2D"/>
                </a:solidFill>
                <a:latin typeface="NanumGothic"/>
                <a:ea typeface="NanumGothic"/>
                <a:cs typeface="NanumGothic"/>
              </a:rPr>
              <a:t>21일 RMSE 감시   연속 2회 초과   21일 대기</a:t>
            </a:r>
          </a:p>
        </p:txBody>
      </p:sp>
      <p:sp>
        <p:nvSpPr>
          <p:cNvPr id="6" name="">
            <a:extLst xmlns:a="http://schemas.openxmlformats.org/drawingml/2006/main">
              <a:ext uri="{FF2B5EF4-FFF2-40B4-BE49-F238E27FC236}">
                <a16:creationId xmlns:a16="http://schemas.microsoft.com/office/drawing/2014/main" id="{3307CF2C-7DF4-46FE-859F-97CE9FFCCD6C}"/>
              </a:ext>
            </a:extLst>
          </p:cNvPr>
          <p:cNvSpPr>
            <a:spLocks xmlns:a="http://schemas.openxmlformats.org/drawingml/2006/main" noGrp="1"/>
          </p:cNvSpPr>
          <p:nvPr/>
        </p:nvSpPr>
        <p:spPr>
          <a:xfrm xmlns:a="http://schemas.openxmlformats.org/drawingml/2006/main">
            <a:off x="571500" y="2876550"/>
            <a:ext cx="8001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22A2D"/>
                </a:solidFill>
                <a:latin typeface="NanumGothic"/>
                <a:ea typeface="NanumGothic"/>
                <a:cs typeface="NanumGothic"/>
              </a:defRPr>
            </a:defPPr>
          </a:lstStyle>
          <a:p xmlns:a="http://schemas.openxmlformats.org/drawingml/2006/main">
            <a:pPr>
              <a:buNone/>
              <a:defRPr sz="1875" b="0">
                <a:solidFill>
                  <a:srgbClr val="222A2D"/>
                </a:solidFill>
                <a:latin typeface="NanumGothic"/>
                <a:ea typeface="NanumGothic"/>
                <a:cs typeface="NanumGothic"/>
              </a:defRPr>
            </a:pPr>
            <a:r>
              <a:rPr sz="1875" b="0">
                <a:solidFill>
                  <a:srgbClr val="222A2D"/>
                </a:solidFill>
                <a:latin typeface="NanumGothic"/>
                <a:ea typeface="NanumGothic"/>
                <a:cs typeface="NanumGothic"/>
              </a:rPr>
              <a:t>41일로 후보 학습   새 정답 30일로 비교</a:t>
            </a:r>
          </a:p>
        </p:txBody>
      </p:sp>
      <p:sp>
        <p:nvSpPr>
          <p:cNvPr id="7" name="">
            <a:extLst xmlns:a="http://schemas.openxmlformats.org/drawingml/2006/main">
              <a:ext uri="{FF2B5EF4-FFF2-40B4-BE49-F238E27FC236}">
                <a16:creationId xmlns:a16="http://schemas.microsoft.com/office/drawing/2014/main" id="{78F0BCBD-2A8A-4EE9-8289-DAB66CF15076}"/>
              </a:ext>
            </a:extLst>
          </p:cNvPr>
          <p:cNvSpPr>
            <a:spLocks xmlns:a="http://schemas.openxmlformats.org/drawingml/2006/main" noGrp="1"/>
          </p:cNvSpPr>
          <p:nvPr/>
        </p:nvSpPr>
        <p:spPr>
          <a:xfrm xmlns:a="http://schemas.openxmlformats.org/drawingml/2006/main">
            <a:off x="571500" y="3581400"/>
            <a:ext cx="8001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007D68"/>
                </a:solidFill>
                <a:latin typeface="NanumGothic"/>
                <a:ea typeface="NanumGothic"/>
                <a:cs typeface="NanumGothic"/>
              </a:defRPr>
            </a:defPPr>
          </a:lstStyle>
          <a:p xmlns:a="http://schemas.openxmlformats.org/drawingml/2006/main">
            <a:pPr>
              <a:buNone/>
              <a:defRPr sz="1875" b="1">
                <a:solidFill>
                  <a:srgbClr val="007D68"/>
                </a:solidFill>
                <a:latin typeface="NanumGothic"/>
                <a:ea typeface="NanumGothic"/>
                <a:cs typeface="NanumGothic"/>
              </a:defRPr>
            </a:pPr>
            <a:r>
              <a:rPr sz="1875" b="1">
                <a:solidFill>
                  <a:srgbClr val="007D68"/>
                </a:solidFill>
                <a:latin typeface="NanumGothic"/>
                <a:ea typeface="NanumGothic"/>
                <a:cs typeface="NanumGothic"/>
              </a:rPr>
              <a:t>계절 근거 부족 즉시 만료 · 후속 정답 대기 상한 90일</a:t>
            </a:r>
          </a:p>
        </p:txBody>
      </p:sp>
      <p:sp>
        <p:nvSpPr>
          <p:cNvPr id="8" name="">
            <a:extLst xmlns:a="http://schemas.openxmlformats.org/drawingml/2006/main">
              <a:ext uri="{FF2B5EF4-FFF2-40B4-BE49-F238E27FC236}">
                <a16:creationId xmlns:a16="http://schemas.microsoft.com/office/drawing/2014/main" id="{C36E4FEC-42E9-408E-B8B4-B3DE9114226E}"/>
              </a:ext>
            </a:extLst>
          </p:cNvPr>
          <p:cNvSpPr>
            <a:spLocks xmlns:a="http://schemas.openxmlformats.org/drawingml/2006/main" noGrp="1"/>
          </p:cNvSpPr>
          <p:nvPr/>
        </p:nvSpPr>
        <p:spPr>
          <a:xfrm xmlns:a="http://schemas.openxmlformats.org/drawingml/2006/main">
            <a:off x="571500" y="4352925"/>
            <a:ext cx="8001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5C686B"/>
                </a:solidFill>
                <a:latin typeface="NanumGothic"/>
                <a:ea typeface="NanumGothic"/>
                <a:cs typeface="NanumGothic"/>
              </a:defRPr>
            </a:defPPr>
          </a:lstStyle>
          <a:p xmlns:a="http://schemas.openxmlformats.org/drawingml/2006/main">
            <a:pPr>
              <a:buNone/>
              <a:defRPr sz="1425" b="0">
                <a:solidFill>
                  <a:srgbClr val="5C686B"/>
                </a:solidFill>
                <a:latin typeface="NanumGothic"/>
                <a:ea typeface="NanumGothic"/>
                <a:cs typeface="NanumGothic"/>
              </a:defRPr>
            </a:pPr>
            <a:r>
              <a:rPr sz="1425" b="0">
                <a:solidFill>
                  <a:srgbClr val="5C686B"/>
                </a:solidFill>
                <a:latin typeface="NanumGothic"/>
                <a:ea typeface="NanumGothic"/>
                <a:cs typeface="NanumGothic"/>
              </a:rPr>
              <a:t>D−1 입력으로 D일에 발행한 값은 당일 수위 추정입니다</a:t>
            </a:r>
          </a:p>
        </p:txBody>
      </p:sp>
    </p:spTree>
    <p:extLst>
      <p:ext uri="{BB962C8B-B14F-4D97-AF65-F5344CB8AC3E}">
        <p14:creationId xmlns:p14="http://schemas.microsoft.com/office/powerpoint/2010/main" val="1696562891"/>
      </p:ext>
    </p:extLst>
  </p:cSld>
</p:sld>
</file>

<file path=ppt/slides/slide35.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D77F631-200D-4556-AD48-D6D0B1F50C26}"/>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전국 확장과 장마 대응</a:t>
            </a:r>
          </a:p>
        </p:txBody>
      </p:sp>
      <p:sp>
        <p:nvSpPr>
          <p:cNvPr id="2" name="">
            <a:extLst xmlns:a="http://schemas.openxmlformats.org/drawingml/2006/main">
              <a:ext uri="{FF2B5EF4-FFF2-40B4-BE49-F238E27FC236}">
                <a16:creationId xmlns:a16="http://schemas.microsoft.com/office/drawing/2014/main" id="{F592A735-D825-4486-91E6-A7EF38FE1B8F}"/>
              </a:ext>
            </a:extLst>
          </p:cNvPr>
          <p:cNvSpPr>
            <a:spLocks xmlns:a="http://schemas.openxmlformats.org/drawingml/2006/main" noGrp="1"/>
          </p:cNvSpPr>
          <p:nvPr/>
        </p:nvSpPr>
        <p:spPr>
          <a:xfrm xmlns:a="http://schemas.openxmlformats.org/drawingml/2006/main">
            <a:off x="571500" y="781050"/>
            <a:ext cx="8001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통합 API와 실제 실행 검증</a:t>
            </a:r>
          </a:p>
        </p:txBody>
      </p:sp>
      <p:sp>
        <p:nvSpPr>
          <p:cNvPr id="3" name="">
            <a:extLst xmlns:a="http://schemas.openxmlformats.org/drawingml/2006/main">
              <a:ext uri="{FF2B5EF4-FFF2-40B4-BE49-F238E27FC236}">
                <a16:creationId xmlns:a16="http://schemas.microsoft.com/office/drawing/2014/main" id="{6E8AEB6C-7403-41F8-AF9A-194CF4E68EFB}"/>
              </a:ext>
            </a:extLst>
          </p:cNvPr>
          <p:cNvSpPr>
            <a:spLocks xmlns:a="http://schemas.openxmlformats.org/drawingml/2006/main" noGrp="1"/>
          </p:cNvSpPr>
          <p:nvPr/>
        </p:nvSpPr>
        <p:spPr>
          <a:xfrm xmlns:a="http://schemas.openxmlformats.org/drawingml/2006/main">
            <a:off x="571500" y="4695825"/>
            <a:ext cx="752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2026-10-09 최종 소스 검증 · 성능 수치는 기존 평가</a:t>
            </a:r>
          </a:p>
        </p:txBody>
      </p:sp>
      <p:graphicFrame>
        <p:nvGraphicFramePr>
          <p:cNvPr id="4" name="">
            <a:extLst xmlns:a="http://schemas.openxmlformats.org/drawingml/2006/main">
              <a:ext uri="{FF2B5EF4-FFF2-40B4-BE49-F238E27FC236}">
                <a16:creationId xmlns:a16="http://schemas.microsoft.com/office/drawing/2014/main" id="{188B7DA0-9E5A-4B8B-8C73-FAF67570AC49}"/>
              </a:ext>
            </a:extLst>
          </p:cNvPr>
          <p:cNvGraphicFramePr/>
          <p:nvPr/>
        </p:nvGraphicFramePr>
        <p:xfrm>
          <a:off xmlns:a="http://schemas.openxmlformats.org/drawingml/2006/main" x="571500" y="1581150"/>
          <a:ext xmlns:a="http://schemas.openxmlformats.org/drawingml/2006/main" cx="8001000" cy="2257425"/>
        </p:xfrm>
        <a:graphic xmlns:a="http://schemas.openxmlformats.org/drawingml/2006/main">
          <a:graphicData uri="http://schemas.openxmlformats.org/drawingml/2006/table">
            <a:tbl>
              <a:tblPr/>
              <a:tblGrid>
                <a:gridCol w="4429125"/>
                <a:gridCol w="3571875"/>
              </a:tblGrid>
              <a:tr h="564356">
                <a:tc>
                  <a:txBody>
                    <a:bodyPr/>
                    <a:lstStyle/>
                    <a:p>
                      <a:r>
                        <a:rPr sz="1425" b="1">
                          <a:solidFill>
                            <a:srgbClr val="007D68"/>
                          </a:solidFill>
                          <a:latin typeface="NanumGothic"/>
                          <a:ea typeface="NanumGothic"/>
                          <a:cs typeface="NanumGothic"/>
                        </a:rPr>
                        <a:t>요청</a:t>
                      </a:r>
                    </a:p>
                  </a:txBody>
                  <a:tcPr marL="91440" marR="91440" marT="45720" marB="45720">
                    <a:solidFill>
                      <a:srgbClr val="E7EFEB"/>
                    </a:solidFill>
                  </a:tcPr>
                </a:tc>
                <a:tc>
                  <a:txBody>
                    <a:bodyPr/>
                    <a:lstStyle/>
                    <a:p>
                      <a:r>
                        <a:rPr sz="1425" b="1">
                          <a:solidFill>
                            <a:srgbClr val="007D68"/>
                          </a:solidFill>
                          <a:latin typeface="NanumGothic"/>
                          <a:ea typeface="NanumGothic"/>
                          <a:cs typeface="NanumGothic"/>
                        </a:rPr>
                        <a:t>같은 서비스에서 확인하는 정보</a:t>
                      </a:r>
                    </a:p>
                  </a:txBody>
                  <a:tcPr marL="91440" marR="91440" marT="45720" marB="45720">
                    <a:solidFill>
                      <a:srgbClr val="E7EFEB"/>
                    </a:solidFill>
                  </a:tcPr>
                </a:tc>
              </a:tr>
              <a:tr h="564356">
                <a:tc>
                  <a:txBody>
                    <a:bodyPr/>
                    <a:lstStyle/>
                    <a:p>
                      <a:r>
                        <a:rPr sz="1425" b="0">
                          <a:solidFill>
                            <a:srgbClr val="222A2D"/>
                          </a:solidFill>
                          <a:latin typeface="NanumGothic"/>
                          <a:ea typeface="NanumGothic"/>
                          <a:cs typeface="NanumGothic"/>
                        </a:rPr>
                        <a:t>GET /api/v2/network/stations</a:t>
                      </a:r>
                    </a:p>
                  </a:txBody>
                  <a:tcPr marL="91440" marR="91440" marT="45720" marB="45720">
                    <a:solidFill>
                      <a:srgbClr val="FAFBF9"/>
                    </a:solidFill>
                  </a:tcPr>
                </a:tc>
                <a:tc>
                  <a:txBody>
                    <a:bodyPr/>
                    <a:lstStyle/>
                    <a:p>
                      <a:r>
                        <a:rPr sz="1425" b="0">
                          <a:solidFill>
                            <a:srgbClr val="222A2D"/>
                          </a:solidFill>
                          <a:latin typeface="NanumGothic"/>
                          <a:ea typeface="NanumGothic"/>
                          <a:cs typeface="NanumGothic"/>
                        </a:rPr>
                        <a:t>선택 자료 범위·자료·모델 준비</a:t>
                      </a:r>
                    </a:p>
                  </a:txBody>
                  <a:tcPr marL="91440" marR="91440" marT="45720" marB="45720">
                    <a:solidFill>
                      <a:srgbClr val="FAFBF9"/>
                    </a:solidFill>
                  </a:tcPr>
                </a:tc>
              </a:tr>
              <a:tr h="564356">
                <a:tc>
                  <a:txBody>
                    <a:bodyPr/>
                    <a:lstStyle/>
                    <a:p>
                      <a:r>
                        <a:rPr sz="1425" b="0">
                          <a:solidFill>
                            <a:srgbClr val="222A2D"/>
                          </a:solidFill>
                          <a:latin typeface="NanumGothic"/>
                          <a:ea typeface="NanumGothic"/>
                          <a:cs typeface="NanumGothic"/>
                        </a:rPr>
                        <a:t>GET /api/v2/network/stations/{id}/history</a:t>
                      </a:r>
                    </a:p>
                  </a:txBody>
                  <a:tcPr marL="91440" marR="91440" marT="45720" marB="45720">
                    <a:solidFill>
                      <a:srgbClr val="F2F6F3"/>
                    </a:solidFill>
                  </a:tcPr>
                </a:tc>
                <a:tc>
                  <a:txBody>
                    <a:bodyPr/>
                    <a:lstStyle/>
                    <a:p>
                      <a:r>
                        <a:rPr sz="1425" b="0">
                          <a:solidFill>
                            <a:srgbClr val="222A2D"/>
                          </a:solidFill>
                          <a:latin typeface="NanumGothic"/>
                          <a:ea typeface="NanumGothic"/>
                          <a:cs typeface="NanumGothic"/>
                        </a:rPr>
                        <a:t>수위·연결 강수·장마 문맥</a:t>
                      </a:r>
                    </a:p>
                  </a:txBody>
                  <a:tcPr marL="91440" marR="91440" marT="45720" marB="45720">
                    <a:solidFill>
                      <a:srgbClr val="F2F6F3"/>
                    </a:solidFill>
                  </a:tcPr>
                </a:tc>
              </a:tr>
              <a:tr h="564356">
                <a:tc>
                  <a:txBody>
                    <a:bodyPr/>
                    <a:lstStyle/>
                    <a:p>
                      <a:r>
                        <a:rPr sz="1425" b="0">
                          <a:solidFill>
                            <a:srgbClr val="222A2D"/>
                          </a:solidFill>
                          <a:latin typeface="NanumGothic"/>
                          <a:ea typeface="NanumGothic"/>
                          <a:cs typeface="NanumGothic"/>
                        </a:rPr>
                        <a:t>GET /api/v2/network/pipeline?station_id=…</a:t>
                      </a:r>
                    </a:p>
                  </a:txBody>
                  <a:tcPr marL="91440" marR="91440" marT="45720" marB="45720">
                    <a:solidFill>
                      <a:srgbClr val="FAFBF9"/>
                    </a:solidFill>
                  </a:tcPr>
                </a:tc>
                <a:tc>
                  <a:txBody>
                    <a:bodyPr/>
                    <a:lstStyle/>
                    <a:p>
                      <a:r>
                        <a:rPr sz="1425" b="0">
                          <a:solidFill>
                            <a:srgbClr val="222A2D"/>
                          </a:solidFill>
                          <a:latin typeface="NanumGothic"/>
                          <a:ea typeface="NanumGothic"/>
                          <a:cs typeface="NanumGothic"/>
                        </a:rPr>
                        <a:t>감시·후보·장마 평가·수집 상태</a:t>
                      </a:r>
                    </a:p>
                  </a:txBody>
                  <a:tcPr marL="91440" marR="91440" marT="45720" marB="45720">
                    <a:solidFill>
                      <a:srgbClr val="FAFBF9"/>
                    </a:solidFill>
                  </a:tcPr>
                </a:tc>
              </a:tr>
            </a:tbl>
          </a:graphicData>
        </a:graphic>
      </p:graphicFrame>
      <p:sp>
        <p:nvSpPr>
          <p:cNvPr id="5" name="">
            <a:extLst xmlns:a="http://schemas.openxmlformats.org/drawingml/2006/main">
              <a:ext uri="{FF2B5EF4-FFF2-40B4-BE49-F238E27FC236}">
                <a16:creationId xmlns:a16="http://schemas.microsoft.com/office/drawing/2014/main" id="{C1734F72-0359-4214-A864-ED985170D1EC}"/>
              </a:ext>
            </a:extLst>
          </p:cNvPr>
          <p:cNvSpPr>
            <a:spLocks xmlns:a="http://schemas.openxmlformats.org/drawingml/2006/main" noGrp="1"/>
          </p:cNvSpPr>
          <p:nvPr/>
        </p:nvSpPr>
        <p:spPr>
          <a:xfrm xmlns:a="http://schemas.openxmlformats.org/drawingml/2006/main">
            <a:off x="571500" y="4048125"/>
            <a:ext cx="8001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007D68"/>
                </a:solidFill>
                <a:latin typeface="NanumGothic"/>
                <a:ea typeface="NanumGothic"/>
                <a:cs typeface="NanumGothic"/>
              </a:defRPr>
            </a:defPPr>
          </a:lstStyle>
          <a:p xmlns:a="http://schemas.openxmlformats.org/drawingml/2006/main">
            <a:pPr>
              <a:buNone/>
              <a:defRPr sz="1650" b="1">
                <a:solidFill>
                  <a:srgbClr val="007D68"/>
                </a:solidFill>
                <a:latin typeface="NanumGothic"/>
                <a:ea typeface="NanumGothic"/>
                <a:cs typeface="NanumGothic"/>
              </a:defRPr>
            </a:pPr>
            <a:r>
              <a:rPr sz="1650" b="1">
                <a:solidFill>
                  <a:srgbClr val="007D68"/>
                </a:solidFill>
                <a:latin typeface="NanumGothic"/>
                <a:ea typeface="NanumGothic"/>
                <a:cs typeface="NanumGothic"/>
              </a:rPr>
              <a:t>Python 245통과·1skip / 단위35·통합5·E2E4 통과</a:t>
            </a:r>
          </a:p>
        </p:txBody>
      </p:sp>
    </p:spTree>
    <p:extLst>
      <p:ext uri="{BB962C8B-B14F-4D97-AF65-F5344CB8AC3E}">
        <p14:creationId xmlns:p14="http://schemas.microsoft.com/office/powerpoint/2010/main" val="635536397"/>
      </p:ext>
    </p:extLst>
  </p:cSld>
</p:sld>
</file>

<file path=ppt/slides/slide36.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ADDF2C1-86F9-4E24-8779-4EE1C9F1ED61}"/>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전국 확장과 장마 대응</a:t>
            </a:r>
          </a:p>
        </p:txBody>
      </p:sp>
      <p:sp>
        <p:nvSpPr>
          <p:cNvPr id="2" name="">
            <a:extLst xmlns:a="http://schemas.openxmlformats.org/drawingml/2006/main">
              <a:ext uri="{FF2B5EF4-FFF2-40B4-BE49-F238E27FC236}">
                <a16:creationId xmlns:a16="http://schemas.microsoft.com/office/drawing/2014/main" id="{A17F41E4-F680-4E25-9785-74C8A7354A9D}"/>
              </a:ext>
            </a:extLst>
          </p:cNvPr>
          <p:cNvSpPr>
            <a:spLocks xmlns:a="http://schemas.openxmlformats.org/drawingml/2006/main" noGrp="1"/>
          </p:cNvSpPr>
          <p:nvPr/>
        </p:nvSpPr>
        <p:spPr>
          <a:xfrm xmlns:a="http://schemas.openxmlformats.org/drawingml/2006/main">
            <a:off x="571500" y="781050"/>
            <a:ext cx="8001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검증 범위와 다음 단계</a:t>
            </a:r>
          </a:p>
        </p:txBody>
      </p:sp>
      <p:sp>
        <p:nvSpPr>
          <p:cNvPr id="3" name="">
            <a:extLst xmlns:a="http://schemas.openxmlformats.org/drawingml/2006/main">
              <a:ext uri="{FF2B5EF4-FFF2-40B4-BE49-F238E27FC236}">
                <a16:creationId xmlns:a16="http://schemas.microsoft.com/office/drawing/2014/main" id="{52EFB882-0A4D-439A-BF57-AEC8EF8989FC}"/>
              </a:ext>
            </a:extLst>
          </p:cNvPr>
          <p:cNvSpPr>
            <a:spLocks xmlns:a="http://schemas.openxmlformats.org/drawingml/2006/main" noGrp="1"/>
          </p:cNvSpPr>
          <p:nvPr/>
        </p:nvSpPr>
        <p:spPr>
          <a:xfrm xmlns:a="http://schemas.openxmlformats.org/drawingml/2006/main">
            <a:off x="571500" y="4695825"/>
            <a:ext cx="752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2026-10-08 확보·실행 결과</a:t>
            </a:r>
          </a:p>
        </p:txBody>
      </p:sp>
      <p:sp>
        <p:nvSpPr>
          <p:cNvPr id="4" name="">
            <a:extLst xmlns:a="http://schemas.openxmlformats.org/drawingml/2006/main">
              <a:ext uri="{FF2B5EF4-FFF2-40B4-BE49-F238E27FC236}">
                <a16:creationId xmlns:a16="http://schemas.microsoft.com/office/drawing/2014/main" id="{0C100DCA-EBE4-4A86-8962-70FDD487A687}"/>
              </a:ext>
            </a:extLst>
          </p:cNvPr>
          <p:cNvSpPr>
            <a:spLocks xmlns:a="http://schemas.openxmlformats.org/drawingml/2006/main" noGrp="1"/>
          </p:cNvSpPr>
          <p:nvPr/>
        </p:nvSpPr>
        <p:spPr>
          <a:xfrm xmlns:a="http://schemas.openxmlformats.org/drawingml/2006/main">
            <a:off x="571500" y="1600200"/>
            <a:ext cx="361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007D68"/>
                </a:solidFill>
                <a:latin typeface="NanumGothic"/>
                <a:ea typeface="NanumGothic"/>
                <a:cs typeface="NanumGothic"/>
              </a:defRPr>
            </a:defPPr>
          </a:lstStyle>
          <a:p xmlns:a="http://schemas.openxmlformats.org/drawingml/2006/main">
            <a:pPr>
              <a:buNone/>
              <a:defRPr sz="1875" b="1">
                <a:solidFill>
                  <a:srgbClr val="007D68"/>
                </a:solidFill>
                <a:latin typeface="NanumGothic"/>
                <a:ea typeface="NanumGothic"/>
                <a:cs typeface="NanumGothic"/>
              </a:defRPr>
            </a:pPr>
            <a:r>
              <a:rPr sz="1875" b="1">
                <a:solidFill>
                  <a:srgbClr val="007D68"/>
                </a:solidFill>
                <a:latin typeface="NanumGothic"/>
                <a:ea typeface="NanumGothic"/>
                <a:cs typeface="NanumGothic"/>
              </a:rPr>
              <a:t>확인 완료</a:t>
            </a:r>
          </a:p>
        </p:txBody>
      </p:sp>
      <p:sp>
        <p:nvSpPr>
          <p:cNvPr id="5" name="">
            <a:extLst xmlns:a="http://schemas.openxmlformats.org/drawingml/2006/main">
              <a:ext uri="{FF2B5EF4-FFF2-40B4-BE49-F238E27FC236}">
                <a16:creationId xmlns:a16="http://schemas.microsoft.com/office/drawing/2014/main" id="{E64BC241-BB1B-4456-B709-E7F6A945C813}"/>
              </a:ext>
            </a:extLst>
          </p:cNvPr>
          <p:cNvSpPr>
            <a:spLocks xmlns:a="http://schemas.openxmlformats.org/drawingml/2006/main" noGrp="1"/>
          </p:cNvSpPr>
          <p:nvPr/>
        </p:nvSpPr>
        <p:spPr>
          <a:xfrm xmlns:a="http://schemas.openxmlformats.org/drawingml/2006/main">
            <a:off x="571500" y="2105025"/>
            <a:ext cx="37147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22A2D"/>
                </a:solidFill>
                <a:latin typeface="NanumGothic"/>
                <a:ea typeface="NanumGothic"/>
                <a:cs typeface="NanumGothic"/>
              </a:defRPr>
            </a:defPPr>
          </a:lstStyle>
          <a:p xmlns:a="http://schemas.openxmlformats.org/drawingml/2006/main">
            <a:pPr>
              <a:buNone/>
              <a:defRPr sz="1800" b="0">
                <a:solidFill>
                  <a:srgbClr val="222A2D"/>
                </a:solidFill>
                <a:latin typeface="NanumGothic"/>
                <a:ea typeface="NanumGothic"/>
                <a:cs typeface="NanumGothic"/>
              </a:defRPr>
            </a:pPr>
            <a:r>
              <a:rPr sz="1800" b="0">
                <a:solidFill>
                  <a:srgbClr val="222A2D"/>
                </a:solidFill>
                <a:latin typeface="NanumGothic"/>
                <a:ea typeface="NanumGothic"/>
                <a:cs typeface="NanumGothic"/>
              </a:rPr>
              <a:t>서울 실측 ~9/30 확보</a:t>
            </a:r>
          </a:p>
          <a:p xmlns:a="http://schemas.openxmlformats.org/drawingml/2006/main">
            <a:pPr>
              <a:buNone/>
              <a:defRPr sz="1800" b="0">
                <a:solidFill>
                  <a:srgbClr val="222A2D"/>
                </a:solidFill>
                <a:latin typeface="NanumGothic"/>
                <a:ea typeface="NanumGothic"/>
                <a:cs typeface="NanumGothic"/>
              </a:defRPr>
            </a:pPr>
            <a:r>
              <a:rPr sz="1800" b="0">
                <a:solidFill>
                  <a:srgbClr val="222A2D"/>
                </a:solidFill>
                <a:latin typeface="NanumGothic"/>
                <a:ea typeface="NanumGothic"/>
                <a:cs typeface="NanumGothic"/>
              </a:rPr>
              <a:t>전국 실측3·합성17 분리</a:t>
            </a:r>
          </a:p>
          <a:p xmlns:a="http://schemas.openxmlformats.org/drawingml/2006/main">
            <a:pPr>
              <a:buNone/>
              <a:defRPr sz="1800" b="0">
                <a:solidFill>
                  <a:srgbClr val="222A2D"/>
                </a:solidFill>
                <a:latin typeface="NanumGothic"/>
                <a:ea typeface="NanumGothic"/>
                <a:cs typeface="NanumGothic"/>
              </a:defRPr>
            </a:pPr>
            <a:r>
              <a:rPr sz="1800" b="0">
                <a:solidFill>
                  <a:srgbClr val="222A2D"/>
                </a:solidFill>
                <a:latin typeface="NanumGothic"/>
                <a:ea typeface="NanumGothic"/>
                <a:cs typeface="NanumGothic"/>
              </a:rPr>
              <a:t>수집·감시·교체 차단</a:t>
            </a:r>
          </a:p>
        </p:txBody>
      </p:sp>
      <p:sp>
        <p:nvSpPr>
          <p:cNvPr id="6" name="">
            <a:extLst xmlns:a="http://schemas.openxmlformats.org/drawingml/2006/main">
              <a:ext uri="{FF2B5EF4-FFF2-40B4-BE49-F238E27FC236}">
                <a16:creationId xmlns:a16="http://schemas.microsoft.com/office/drawing/2014/main" id="{8A2768D2-B8E6-4679-9609-6957D617BC2D}"/>
              </a:ext>
            </a:extLst>
          </p:cNvPr>
          <p:cNvSpPr>
            <a:spLocks xmlns:a="http://schemas.openxmlformats.org/drawingml/2006/main" noGrp="1"/>
          </p:cNvSpPr>
          <p:nvPr/>
        </p:nvSpPr>
        <p:spPr>
          <a:xfrm xmlns:a="http://schemas.openxmlformats.org/drawingml/2006/main">
            <a:off x="4857750" y="1600200"/>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007D68"/>
                </a:solidFill>
                <a:latin typeface="NanumGothic"/>
                <a:ea typeface="NanumGothic"/>
                <a:cs typeface="NanumGothic"/>
              </a:defRPr>
            </a:defPPr>
          </a:lstStyle>
          <a:p xmlns:a="http://schemas.openxmlformats.org/drawingml/2006/main">
            <a:pPr>
              <a:buNone/>
              <a:defRPr sz="1875" b="1">
                <a:solidFill>
                  <a:srgbClr val="007D68"/>
                </a:solidFill>
                <a:latin typeface="NanumGothic"/>
                <a:ea typeface="NanumGothic"/>
                <a:cs typeface="NanumGothic"/>
              </a:defRPr>
            </a:pPr>
            <a:r>
              <a:rPr sz="1875" b="1">
                <a:solidFill>
                  <a:srgbClr val="007D68"/>
                </a:solidFill>
                <a:latin typeface="NanumGothic"/>
                <a:ea typeface="NanumGothic"/>
                <a:cs typeface="NanumGothic"/>
              </a:rPr>
              <a:t>추가 검증</a:t>
            </a:r>
          </a:p>
        </p:txBody>
      </p:sp>
      <p:sp>
        <p:nvSpPr>
          <p:cNvPr id="7" name="">
            <a:extLst xmlns:a="http://schemas.openxmlformats.org/drawingml/2006/main">
              <a:ext uri="{FF2B5EF4-FFF2-40B4-BE49-F238E27FC236}">
                <a16:creationId xmlns:a16="http://schemas.microsoft.com/office/drawing/2014/main" id="{B0B6C495-0478-46CA-B6FC-8386B86206BC}"/>
              </a:ext>
            </a:extLst>
          </p:cNvPr>
          <p:cNvSpPr>
            <a:spLocks xmlns:a="http://schemas.openxmlformats.org/drawingml/2006/main" noGrp="1"/>
          </p:cNvSpPr>
          <p:nvPr/>
        </p:nvSpPr>
        <p:spPr>
          <a:xfrm xmlns:a="http://schemas.openxmlformats.org/drawingml/2006/main">
            <a:off x="4857750" y="2105025"/>
            <a:ext cx="37147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22A2D"/>
                </a:solidFill>
                <a:latin typeface="NanumGothic"/>
                <a:ea typeface="NanumGothic"/>
                <a:cs typeface="NanumGothic"/>
              </a:defRPr>
            </a:defPPr>
          </a:lstStyle>
          <a:p xmlns:a="http://schemas.openxmlformats.org/drawingml/2006/main">
            <a:pPr>
              <a:buNone/>
              <a:defRPr sz="1800" b="0">
                <a:solidFill>
                  <a:srgbClr val="222A2D"/>
                </a:solidFill>
                <a:latin typeface="NanumGothic"/>
                <a:ea typeface="NanumGothic"/>
                <a:cs typeface="NanumGothic"/>
              </a:defRPr>
            </a:pPr>
            <a:r>
              <a:rPr sz="1800" b="0">
                <a:solidFill>
                  <a:srgbClr val="222A2D"/>
                </a:solidFill>
                <a:latin typeface="NanumGothic"/>
                <a:ea typeface="NanumGothic"/>
                <a:cs typeface="NanumGothic"/>
              </a:rPr>
              <a:t>추가 실측·기존 모델 재평가</a:t>
            </a:r>
          </a:p>
          <a:p xmlns:a="http://schemas.openxmlformats.org/drawingml/2006/main">
            <a:pPr>
              <a:buNone/>
              <a:defRPr sz="1800" b="0">
                <a:solidFill>
                  <a:srgbClr val="222A2D"/>
                </a:solidFill>
                <a:latin typeface="NanumGothic"/>
                <a:ea typeface="NanumGothic"/>
                <a:cs typeface="NanumGothic"/>
              </a:defRPr>
            </a:pPr>
            <a:r>
              <a:rPr sz="1800" b="0">
                <a:solidFill>
                  <a:srgbClr val="222A2D"/>
                </a:solidFill>
                <a:latin typeface="NanumGothic"/>
                <a:ea typeface="NanumGothic"/>
                <a:cs typeface="NanumGothic"/>
              </a:rPr>
              <a:t>예보 격자·과거 발표본</a:t>
            </a:r>
          </a:p>
          <a:p xmlns:a="http://schemas.openxmlformats.org/drawingml/2006/main">
            <a:pPr>
              <a:buNone/>
              <a:defRPr sz="1800" b="0">
                <a:solidFill>
                  <a:srgbClr val="222A2D"/>
                </a:solidFill>
                <a:latin typeface="NanumGothic"/>
                <a:ea typeface="NanumGothic"/>
                <a:cs typeface="NanumGothic"/>
              </a:defRPr>
            </a:pPr>
            <a:r>
              <a:rPr sz="1800" b="0">
                <a:solidFill>
                  <a:srgbClr val="222A2D"/>
                </a:solidFill>
                <a:latin typeface="NanumGothic"/>
                <a:ea typeface="NanumGothic"/>
                <a:cs typeface="NanumGothic"/>
              </a:rPr>
              <a:t>합성 검증과 현장 실증</a:t>
            </a:r>
          </a:p>
          <a:p xmlns:a="http://schemas.openxmlformats.org/drawingml/2006/main">
            <a:pPr>
              <a:buNone/>
              <a:defRPr sz="1800" b="0">
                <a:solidFill>
                  <a:srgbClr val="222A2D"/>
                </a:solidFill>
                <a:latin typeface="NanumGothic"/>
                <a:ea typeface="NanumGothic"/>
                <a:cs typeface="NanumGothic"/>
              </a:defRPr>
            </a:pPr>
            <a:r>
              <a:rPr sz="1800" b="0">
                <a:solidFill>
                  <a:srgbClr val="222A2D"/>
                </a:solidFill>
                <a:latin typeface="NanumGothic"/>
                <a:ea typeface="NanumGothic"/>
                <a:cs typeface="NanumGothic"/>
              </a:rPr>
              <a:t>실제 후속30일·운영 승인</a:t>
            </a:r>
          </a:p>
        </p:txBody>
      </p:sp>
      <p:sp>
        <p:nvSpPr>
          <p:cNvPr id="8" name="">
            <a:extLst xmlns:a="http://schemas.openxmlformats.org/drawingml/2006/main">
              <a:ext uri="{FF2B5EF4-FFF2-40B4-BE49-F238E27FC236}">
                <a16:creationId xmlns:a16="http://schemas.microsoft.com/office/drawing/2014/main" id="{087EBF74-0359-4CBF-AF24-9B3B10F48B18}"/>
              </a:ext>
            </a:extLst>
          </p:cNvPr>
          <p:cNvSpPr>
            <a:spLocks xmlns:a="http://schemas.openxmlformats.org/drawingml/2006/main" noGrp="1"/>
          </p:cNvSpPr>
          <p:nvPr/>
        </p:nvSpPr>
        <p:spPr>
          <a:xfrm xmlns:a="http://schemas.openxmlformats.org/drawingml/2006/main">
            <a:off x="571500" y="4162425"/>
            <a:ext cx="8001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C686B"/>
                </a:solidFill>
                <a:latin typeface="NanumGothic"/>
                <a:ea typeface="NanumGothic"/>
                <a:cs typeface="NanumGothic"/>
              </a:defRPr>
            </a:defPPr>
          </a:lstStyle>
          <a:p xmlns:a="http://schemas.openxmlformats.org/drawingml/2006/main">
            <a:pPr>
              <a:buNone/>
              <a:defRPr sz="1500" b="0">
                <a:solidFill>
                  <a:srgbClr val="5C686B"/>
                </a:solidFill>
                <a:latin typeface="NanumGothic"/>
                <a:ea typeface="NanumGothic"/>
                <a:cs typeface="NanumGothic"/>
              </a:defRPr>
            </a:pPr>
            <a:r>
              <a:rPr sz="1500" b="0">
                <a:solidFill>
                  <a:srgbClr val="5C686B"/>
                </a:solidFill>
                <a:latin typeface="NanumGothic"/>
                <a:ea typeface="NanumGothic"/>
                <a:cs typeface="NanumGothic"/>
              </a:rPr>
              <a:t>싱크홀 확률·안전 등급·사고 예방 효과는 검증 범위에 포함하지 않음</a:t>
            </a:r>
          </a:p>
        </p:txBody>
      </p:sp>
    </p:spTree>
    <p:extLst>
      <p:ext uri="{BB962C8B-B14F-4D97-AF65-F5344CB8AC3E}">
        <p14:creationId xmlns:p14="http://schemas.microsoft.com/office/powerpoint/2010/main" val="1337656605"/>
      </p:ext>
    </p:extLst>
  </p:cSld>
</p:sld>
</file>

<file path=ppt/slides/slide37.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C8017C1-E4C1-457F-AB7E-0AF8CBBFFC9E}"/>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⑥ 최종 수정본 · 실제 화면 확인</a:t>
            </a:r>
          </a:p>
        </p:txBody>
      </p:sp>
      <p:sp>
        <p:nvSpPr>
          <p:cNvPr id="2" name="">
            <a:extLst xmlns:a="http://schemas.openxmlformats.org/drawingml/2006/main">
              <a:ext uri="{FF2B5EF4-FFF2-40B4-BE49-F238E27FC236}">
                <a16:creationId xmlns:a16="http://schemas.microsoft.com/office/drawing/2014/main" id="{4F0B519A-7718-4A61-B487-073C14313C03}"/>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관측소 화면과 자료 준비 상태</a:t>
            </a:r>
          </a:p>
        </p:txBody>
      </p:sp>
      <p:sp>
        <p:nvSpPr>
          <p:cNvPr id="3" name="">
            <a:extLst xmlns:a="http://schemas.openxmlformats.org/drawingml/2006/main">
              <a:ext uri="{FF2B5EF4-FFF2-40B4-BE49-F238E27FC236}">
                <a16:creationId xmlns:a16="http://schemas.microsoft.com/office/drawing/2014/main" id="{26192BAD-CA8B-449F-AFC7-67F6C4663C0C}"/>
              </a:ext>
            </a:extLst>
          </p:cNvPr>
          <p:cNvSpPr>
            <a:spLocks xmlns:a="http://schemas.openxmlformats.org/drawingml/2006/main" noGrp="1"/>
          </p:cNvSpPr>
          <p:nvPr/>
        </p:nvSpPr>
        <p:spPr>
          <a:xfrm xmlns:a="http://schemas.openxmlformats.org/drawingml/2006/main">
            <a:off x="571500" y="1419225"/>
            <a:ext cx="800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C686B"/>
                </a:solidFill>
                <a:latin typeface="NanumGothic"/>
                <a:ea typeface="NanumGothic"/>
                <a:cs typeface="NanumGothic"/>
              </a:defRPr>
            </a:defPPr>
          </a:lstStyle>
          <a:p xmlns:a="http://schemas.openxmlformats.org/drawingml/2006/main">
            <a:pPr>
              <a:defRPr sz="1275" b="0">
                <a:solidFill>
                  <a:srgbClr val="5C686B"/>
                </a:solidFill>
                <a:latin typeface="NanumGothic"/>
                <a:ea typeface="NanumGothic"/>
                <a:cs typeface="NanumGothic"/>
              </a:defRPr>
            </a:pPr>
            <a:r>
              <a:rPr sz="1275" b="0">
                <a:solidFill>
                  <a:srgbClr val="5C686B"/>
                </a:solidFill>
                <a:latin typeface="NanumGothic"/>
                <a:ea typeface="NanumGothic"/>
                <a:cs typeface="NanumGothic"/>
              </a:rPr>
              <a:t>2026-10-09 · 복사한 검증 볼륨 · 실제 HTTP와 Chrome 확인</a:t>
            </a:r>
          </a:p>
        </p:txBody>
      </p:sp>
      <p:pic>
        <p:nvPicPr>
          <p:cNvPr id="4" name="">
            <a:extLst xmlns:a="http://schemas.openxmlformats.org/drawingml/2006/main">
              <a:ext uri="{FF2B5EF4-FFF2-40B4-BE49-F238E27FC236}">
                <a16:creationId xmlns:a16="http://schemas.microsoft.com/office/drawing/2014/main" id="{891CEF15-1E57-481B-B44A-BF642A20EE92}"/>
              </a:ext>
            </a:extLst>
          </p:cNvPr>
          <p:cNvPicPr>
            <a:picLocks xmlns:a="http://schemas.openxmlformats.org/drawingml/2006/main" noChangeAspect="1"/>
          </p:cNvPicPr>
          <p:nvPr/>
        </p:nvPicPr>
        <p:blipFill>
          <a:blip xmlns:r="http://schemas.openxmlformats.org/officeDocument/2006/relationships" xmlns:a="http://schemas.openxmlformats.org/drawingml/2006/main" r:embed="R0279f453e2c14b18"/>
          <a:stretch xmlns:a="http://schemas.openxmlformats.org/drawingml/2006/main"/>
        </p:blipFill>
        <p:spPr>
          <a:xfrm xmlns:a="http://schemas.openxmlformats.org/drawingml/2006/main">
            <a:off x="781050" y="1857375"/>
            <a:ext cx="3771900" cy="2619375"/>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9F9E1965-6974-417F-84F9-C2C4A44B7945}"/>
              </a:ext>
            </a:extLst>
          </p:cNvPr>
          <p:cNvPicPr>
            <a:picLocks xmlns:a="http://schemas.openxmlformats.org/drawingml/2006/main" noChangeAspect="1"/>
          </p:cNvPicPr>
          <p:nvPr/>
        </p:nvPicPr>
        <p:blipFill>
          <a:blip xmlns:r="http://schemas.openxmlformats.org/officeDocument/2006/relationships" xmlns:a="http://schemas.openxmlformats.org/drawingml/2006/main" r:embed="Rebf4b72585ac4f5c"/>
          <a:stretch xmlns:a="http://schemas.openxmlformats.org/drawingml/2006/main"/>
        </p:blipFill>
        <p:spPr>
          <a:xfrm xmlns:a="http://schemas.openxmlformats.org/drawingml/2006/main">
            <a:off x="4905375" y="1893755"/>
            <a:ext cx="3667125" cy="254661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6BA4DF5-89FE-4EC8-92AB-A8CE44A5C997}"/>
              </a:ext>
            </a:extLst>
          </p:cNvPr>
          <p:cNvSpPr>
            <a:spLocks xmlns:a="http://schemas.openxmlformats.org/drawingml/2006/main" noGrp="1"/>
          </p:cNvSpPr>
          <p:nvPr/>
        </p:nvSpPr>
        <p:spPr>
          <a:xfrm xmlns:a="http://schemas.openxmlformats.org/drawingml/2006/main">
            <a:off x="571500" y="4572000"/>
            <a:ext cx="781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007D68"/>
                </a:solidFill>
                <a:latin typeface="NanumGothic"/>
                <a:ea typeface="NanumGothic"/>
                <a:cs typeface="NanumGothic"/>
              </a:defRPr>
            </a:defPPr>
          </a:lstStyle>
          <a:p xmlns:a="http://schemas.openxmlformats.org/drawingml/2006/main">
            <a:pPr>
              <a:defRPr sz="1275" b="1">
                <a:solidFill>
                  <a:srgbClr val="007D68"/>
                </a:solidFill>
                <a:latin typeface="NanumGothic"/>
                <a:ea typeface="NanumGothic"/>
                <a:cs typeface="NanumGothic"/>
              </a:defRPr>
            </a:pPr>
            <a:r>
              <a:rPr sz="1275" b="1">
                <a:solidFill>
                  <a:srgbClr val="007D68"/>
                </a:solidFill>
                <a:latin typeface="NanumGothic"/>
                <a:ea typeface="NanumGothic"/>
                <a:cs typeface="NanumGothic"/>
              </a:rPr>
              <a:t>현재 준비 503 표시 · 저장 자료(7/31) 모델 v1의 실제 예측도 확인</a:t>
            </a:r>
          </a:p>
        </p:txBody>
      </p:sp>
      <p:sp>
        <p:nvSpPr>
          <p:cNvPr id="7" name="">
            <a:extLst xmlns:a="http://schemas.openxmlformats.org/drawingml/2006/main">
              <a:ext uri="{FF2B5EF4-FFF2-40B4-BE49-F238E27FC236}">
                <a16:creationId xmlns:a16="http://schemas.microsoft.com/office/drawing/2014/main" id="{30406FA0-65AB-4F3C-9B57-F72A2C68F0B9}"/>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37</a:t>
            </a:r>
          </a:p>
        </p:txBody>
      </p:sp>
    </p:spTree>
    <p:extLst>
      <p:ext uri="{BB962C8B-B14F-4D97-AF65-F5344CB8AC3E}">
        <p14:creationId xmlns:p14="http://schemas.microsoft.com/office/powerpoint/2010/main" val="92490117"/>
      </p:ext>
    </p:extLst>
  </p:cSld>
</p:sld>
</file>

<file path=ppt/slides/slide38.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88924EA-ADC9-4FB1-834F-C8137CB8BBAE}"/>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최종 수정본 · 개발 구조와 재현 방법</a:t>
            </a:r>
          </a:p>
        </p:txBody>
      </p:sp>
      <p:sp>
        <p:nvSpPr>
          <p:cNvPr id="2" name="">
            <a:extLst xmlns:a="http://schemas.openxmlformats.org/drawingml/2006/main">
              <a:ext uri="{FF2B5EF4-FFF2-40B4-BE49-F238E27FC236}">
                <a16:creationId xmlns:a16="http://schemas.microsoft.com/office/drawing/2014/main" id="{3E30FFAD-F0B8-4FF5-98EC-A20237A8099C}"/>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코드 구조와 최종 검증</a:t>
            </a:r>
          </a:p>
        </p:txBody>
      </p:sp>
      <p:sp>
        <p:nvSpPr>
          <p:cNvPr id="3" name="">
            <a:extLst xmlns:a="http://schemas.openxmlformats.org/drawingml/2006/main">
              <a:ext uri="{FF2B5EF4-FFF2-40B4-BE49-F238E27FC236}">
                <a16:creationId xmlns:a16="http://schemas.microsoft.com/office/drawing/2014/main" id="{21F068D5-6C59-4D5B-B3E8-CAAF5733C814}"/>
              </a:ext>
            </a:extLst>
          </p:cNvPr>
          <p:cNvSpPr>
            <a:spLocks xmlns:a="http://schemas.openxmlformats.org/drawingml/2006/main" noGrp="1"/>
          </p:cNvSpPr>
          <p:nvPr/>
        </p:nvSpPr>
        <p:spPr>
          <a:xfrm xmlns:a="http://schemas.openxmlformats.org/drawingml/2006/main">
            <a:off x="571500" y="1666875"/>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07D68"/>
                </a:solidFill>
                <a:latin typeface="NanumGothic"/>
                <a:ea typeface="NanumGothic"/>
                <a:cs typeface="NanumGothic"/>
              </a:defRPr>
            </a:defPPr>
          </a:lstStyle>
          <a:p xmlns:a="http://schemas.openxmlformats.org/drawingml/2006/main">
            <a:pPr>
              <a:defRPr sz="1800" b="1">
                <a:solidFill>
                  <a:srgbClr val="007D68"/>
                </a:solidFill>
                <a:latin typeface="NanumGothic"/>
                <a:ea typeface="NanumGothic"/>
                <a:cs typeface="NanumGothic"/>
              </a:defRPr>
            </a:pPr>
            <a:r>
              <a:rPr sz="1800" b="1">
                <a:solidFill>
                  <a:srgbClr val="007D68"/>
                </a:solidFill>
                <a:latin typeface="NanumGothic"/>
                <a:ea typeface="NanumGothic"/>
                <a:cs typeface="NanumGothic"/>
              </a:rPr>
              <a:t>프론트엔드</a:t>
            </a:r>
          </a:p>
        </p:txBody>
      </p:sp>
      <p:sp>
        <p:nvSpPr>
          <p:cNvPr id="4" name="">
            <a:extLst xmlns:a="http://schemas.openxmlformats.org/drawingml/2006/main">
              <a:ext uri="{FF2B5EF4-FFF2-40B4-BE49-F238E27FC236}">
                <a16:creationId xmlns:a16="http://schemas.microsoft.com/office/drawing/2014/main" id="{FD63AA9A-6A44-461B-8C2C-EBBDA2997C81}"/>
              </a:ext>
            </a:extLst>
          </p:cNvPr>
          <p:cNvSpPr>
            <a:spLocks xmlns:a="http://schemas.openxmlformats.org/drawingml/2006/main" noGrp="1"/>
          </p:cNvSpPr>
          <p:nvPr/>
        </p:nvSpPr>
        <p:spPr>
          <a:xfrm xmlns:a="http://schemas.openxmlformats.org/drawingml/2006/main">
            <a:off x="571500" y="2133600"/>
            <a:ext cx="3810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222A2D"/>
                </a:solidFill>
                <a:latin typeface="NanumGothic"/>
                <a:ea typeface="NanumGothic"/>
                <a:cs typeface="NanumGothic"/>
              </a:defRPr>
            </a:defPPr>
          </a:lstStyle>
          <a:p xmlns:a="http://schemas.openxmlformats.org/drawingml/2006/main">
            <a:pPr>
              <a:defRPr sz="1725" b="0">
                <a:solidFill>
                  <a:srgbClr val="222A2D"/>
                </a:solidFill>
                <a:latin typeface="NanumGothic"/>
                <a:ea typeface="NanumGothic"/>
                <a:cs typeface="NanumGothic"/>
              </a:defRPr>
            </a:pPr>
            <a:r>
              <a:rPr sz="1725" b="0">
                <a:solidFill>
                  <a:srgbClr val="222A2D"/>
                </a:solidFill>
                <a:latin typeface="NanumGothic"/>
                <a:ea typeface="NanumGothic"/>
                <a:cs typeface="NanumGothic"/>
              </a:rPr>
              <a:t>React · Tailwind · shadcn/ui</a:t>
            </a:r>
          </a:p>
          <a:p xmlns:a="http://schemas.openxmlformats.org/drawingml/2006/main">
            <a:pPr>
              <a:defRPr sz="1725" b="0">
                <a:solidFill>
                  <a:srgbClr val="222A2D"/>
                </a:solidFill>
                <a:latin typeface="NanumGothic"/>
                <a:ea typeface="NanumGothic"/>
                <a:cs typeface="NanumGothic"/>
              </a:defRPr>
            </a:pPr>
            <a:r>
              <a:rPr sz="1725" b="0">
                <a:solidFill>
                  <a:srgbClr val="222A2D"/>
                </a:solidFill>
                <a:latin typeface="NanumGothic"/>
                <a:ea typeface="NanumGothic"/>
                <a:cs typeface="NanumGothic"/>
              </a:rPr>
              <a:t>Atomic Design · 전역 store</a:t>
            </a:r>
          </a:p>
          <a:p xmlns:a="http://schemas.openxmlformats.org/drawingml/2006/main">
            <a:pPr>
              <a:defRPr sz="1725" b="0">
                <a:solidFill>
                  <a:srgbClr val="222A2D"/>
                </a:solidFill>
                <a:latin typeface="NanumGothic"/>
                <a:ea typeface="NanumGothic"/>
                <a:cs typeface="NanumGothic"/>
              </a:defRPr>
            </a:pPr>
            <a:r>
              <a:rPr sz="1725" b="0">
                <a:solidFill>
                  <a:srgbClr val="222A2D"/>
                </a:solidFill>
                <a:latin typeface="NanumGothic"/>
                <a:ea typeface="NanumGothic"/>
                <a:cs typeface="NanumGothic"/>
              </a:rPr>
              <a:t>공통 HTTP 인터셉터</a:t>
            </a:r>
          </a:p>
          <a:p xmlns:a="http://schemas.openxmlformats.org/drawingml/2006/main">
            <a:pPr>
              <a:defRPr sz="1725" b="0">
                <a:solidFill>
                  <a:srgbClr val="222A2D"/>
                </a:solidFill>
                <a:latin typeface="NanumGothic"/>
                <a:ea typeface="NanumGothic"/>
                <a:cs typeface="NanumGothic"/>
              </a:defRPr>
            </a:pPr>
            <a:r>
              <a:rPr sz="1725" b="0">
                <a:solidFill>
                  <a:srgbClr val="222A2D"/>
                </a:solidFill>
                <a:latin typeface="NanumGothic"/>
                <a:ea typeface="NanumGothic"/>
                <a:cs typeface="NanumGothic"/>
              </a:rPr>
              <a:t>단위35 · 통합5 · E2E4 통과</a:t>
            </a:r>
          </a:p>
        </p:txBody>
      </p:sp>
      <p:sp>
        <p:nvSpPr>
          <p:cNvPr id="5" name="">
            <a:extLst xmlns:a="http://schemas.openxmlformats.org/drawingml/2006/main">
              <a:ext uri="{FF2B5EF4-FFF2-40B4-BE49-F238E27FC236}">
                <a16:creationId xmlns:a16="http://schemas.microsoft.com/office/drawing/2014/main" id="{9F0E3446-BBFA-4D5A-BF1B-1EE2B30711BF}"/>
              </a:ext>
            </a:extLst>
          </p:cNvPr>
          <p:cNvSpPr>
            <a:spLocks xmlns:a="http://schemas.openxmlformats.org/drawingml/2006/main" noGrp="1"/>
          </p:cNvSpPr>
          <p:nvPr/>
        </p:nvSpPr>
        <p:spPr>
          <a:xfrm xmlns:a="http://schemas.openxmlformats.org/drawingml/2006/main">
            <a:off x="4905375" y="1666875"/>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07D68"/>
                </a:solidFill>
                <a:latin typeface="NanumGothic"/>
                <a:ea typeface="NanumGothic"/>
                <a:cs typeface="NanumGothic"/>
              </a:defRPr>
            </a:defPPr>
          </a:lstStyle>
          <a:p xmlns:a="http://schemas.openxmlformats.org/drawingml/2006/main">
            <a:pPr>
              <a:defRPr sz="1800" b="1">
                <a:solidFill>
                  <a:srgbClr val="007D68"/>
                </a:solidFill>
                <a:latin typeface="NanumGothic"/>
                <a:ea typeface="NanumGothic"/>
                <a:cs typeface="NanumGothic"/>
              </a:defRPr>
            </a:pPr>
            <a:r>
              <a:rPr sz="1800" b="1">
                <a:solidFill>
                  <a:srgbClr val="007D68"/>
                </a:solidFill>
                <a:latin typeface="NanumGothic"/>
                <a:ea typeface="NanumGothic"/>
                <a:cs typeface="NanumGothic"/>
              </a:rPr>
              <a:t>백엔드 · AIOps</a:t>
            </a:r>
          </a:p>
        </p:txBody>
      </p:sp>
      <p:sp>
        <p:nvSpPr>
          <p:cNvPr id="6" name="">
            <a:extLst xmlns:a="http://schemas.openxmlformats.org/drawingml/2006/main">
              <a:ext uri="{FF2B5EF4-FFF2-40B4-BE49-F238E27FC236}">
                <a16:creationId xmlns:a16="http://schemas.microsoft.com/office/drawing/2014/main" id="{4B93309A-7892-4341-BCEE-BCA6D201F712}"/>
              </a:ext>
            </a:extLst>
          </p:cNvPr>
          <p:cNvSpPr>
            <a:spLocks xmlns:a="http://schemas.openxmlformats.org/drawingml/2006/main" noGrp="1"/>
          </p:cNvSpPr>
          <p:nvPr/>
        </p:nvSpPr>
        <p:spPr>
          <a:xfrm xmlns:a="http://schemas.openxmlformats.org/drawingml/2006/main">
            <a:off x="4905375" y="2133600"/>
            <a:ext cx="3619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222A2D"/>
                </a:solidFill>
                <a:latin typeface="NanumGothic"/>
                <a:ea typeface="NanumGothic"/>
                <a:cs typeface="NanumGothic"/>
              </a:defRPr>
            </a:defPPr>
          </a:lstStyle>
          <a:p xmlns:a="http://schemas.openxmlformats.org/drawingml/2006/main">
            <a:pPr>
              <a:defRPr sz="1725" b="0">
                <a:solidFill>
                  <a:srgbClr val="222A2D"/>
                </a:solidFill>
                <a:latin typeface="NanumGothic"/>
                <a:ea typeface="NanumGothic"/>
                <a:cs typeface="NanumGothic"/>
              </a:defRPr>
            </a:pPr>
            <a:r>
              <a:rPr sz="1725" b="0">
                <a:solidFill>
                  <a:srgbClr val="222A2D"/>
                </a:solidFill>
                <a:latin typeface="NanumGothic"/>
                <a:ea typeface="NanumGothic"/>
                <a:cs typeface="NanumGothic"/>
              </a:rPr>
              <a:t>backend/로 API·서빙·worker 관리</a:t>
            </a:r>
          </a:p>
          <a:p xmlns:a="http://schemas.openxmlformats.org/drawingml/2006/main">
            <a:pPr>
              <a:defRPr sz="1725" b="0">
                <a:solidFill>
                  <a:srgbClr val="222A2D"/>
                </a:solidFill>
                <a:latin typeface="NanumGothic"/>
                <a:ea typeface="NanumGothic"/>
                <a:cs typeface="NanumGothic"/>
              </a:defRPr>
            </a:pPr>
            <a:r>
              <a:rPr sz="1725" b="0">
                <a:solidFill>
                  <a:srgbClr val="222A2D"/>
                </a:solidFill>
                <a:latin typeface="NanumGothic"/>
                <a:ea typeface="NanumGothic"/>
                <a:cs typeface="NanumGothic"/>
              </a:rPr>
              <a:t>API 통합 · 데이터 · 모델 테스트 분리</a:t>
            </a:r>
          </a:p>
          <a:p xmlns:a="http://schemas.openxmlformats.org/drawingml/2006/main">
            <a:pPr>
              <a:defRPr sz="1725" b="0">
                <a:solidFill>
                  <a:srgbClr val="222A2D"/>
                </a:solidFill>
                <a:latin typeface="NanumGothic"/>
                <a:ea typeface="NanumGothic"/>
                <a:cs typeface="NanumGothic"/>
              </a:defRPr>
            </a:pPr>
            <a:r>
              <a:rPr sz="1725" b="0">
                <a:solidFill>
                  <a:srgbClr val="222A2D"/>
                </a:solidFill>
                <a:latin typeface="NanumGothic"/>
                <a:ea typeface="NanumGothic"/>
                <a:cs typeface="NanumGothic"/>
              </a:rPr>
              <a:t>Python 245통과 · 1skip</a:t>
            </a:r>
          </a:p>
          <a:p xmlns:a="http://schemas.openxmlformats.org/drawingml/2006/main">
            <a:pPr>
              <a:defRPr sz="1725" b="0">
                <a:solidFill>
                  <a:srgbClr val="222A2D"/>
                </a:solidFill>
                <a:latin typeface="NanumGothic"/>
                <a:ea typeface="NanumGothic"/>
                <a:cs typeface="NanumGothic"/>
              </a:defRPr>
            </a:pPr>
            <a:r>
              <a:rPr sz="1725" b="0">
                <a:solidFill>
                  <a:srgbClr val="222A2D"/>
                </a:solidFill>
                <a:latin typeface="NanumGothic"/>
                <a:ea typeface="NanumGothic"/>
                <a:cs typeface="NanumGothic"/>
              </a:rPr>
              <a:t>Docker 빌드 · 기동 · 재기동 확인</a:t>
            </a:r>
          </a:p>
        </p:txBody>
      </p:sp>
      <p:sp>
        <p:nvSpPr>
          <p:cNvPr id="7" name="">
            <a:extLst xmlns:a="http://schemas.openxmlformats.org/drawingml/2006/main">
              <a:ext uri="{FF2B5EF4-FFF2-40B4-BE49-F238E27FC236}">
                <a16:creationId xmlns:a16="http://schemas.microsoft.com/office/drawing/2014/main" id="{4B3F4361-415F-4062-94B0-6961202C73E0}"/>
              </a:ext>
            </a:extLst>
          </p:cNvPr>
          <p:cNvSpPr>
            <a:spLocks xmlns:a="http://schemas.openxmlformats.org/drawingml/2006/main" noGrp="1"/>
          </p:cNvSpPr>
          <p:nvPr/>
        </p:nvSpPr>
        <p:spPr>
          <a:xfrm xmlns:a="http://schemas.openxmlformats.org/drawingml/2006/main">
            <a:off x="571500" y="4019550"/>
            <a:ext cx="781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C686B"/>
                </a:solidFill>
                <a:latin typeface="NanumGothic"/>
                <a:ea typeface="NanumGothic"/>
                <a:cs typeface="NanumGothic"/>
              </a:defRPr>
            </a:defPPr>
          </a:lstStyle>
          <a:p xmlns:a="http://schemas.openxmlformats.org/drawingml/2006/main">
            <a:pPr>
              <a:defRPr sz="1425" b="0">
                <a:solidFill>
                  <a:srgbClr val="5C686B"/>
                </a:solidFill>
                <a:latin typeface="NanumGothic"/>
                <a:ea typeface="NanumGothic"/>
                <a:cs typeface="NanumGothic"/>
              </a:defRPr>
            </a:pPr>
            <a:r>
              <a:rPr sz="1425" b="0">
                <a:solidFill>
                  <a:srgbClr val="5C686B"/>
                </a:solidFill>
                <a:latin typeface="NanumGothic"/>
                <a:ea typeface="NanumGothic"/>
                <a:cs typeface="NanumGothic"/>
              </a:rPr>
              <a:t>실행: docker compose up --build</a:t>
            </a:r>
          </a:p>
          <a:p xmlns:a="http://schemas.openxmlformats.org/drawingml/2006/main">
            <a:pPr>
              <a:defRPr sz="1425" b="0">
                <a:solidFill>
                  <a:srgbClr val="5C686B"/>
                </a:solidFill>
                <a:latin typeface="NanumGothic"/>
                <a:ea typeface="NanumGothic"/>
                <a:cs typeface="NanumGothic"/>
              </a:defRPr>
            </a:pPr>
            <a:r>
              <a:rPr sz="1425" b="0">
                <a:solidFill>
                  <a:srgbClr val="5C686B"/>
                </a:solidFill>
                <a:latin typeface="NanumGothic"/>
                <a:ea typeface="NanumGothic"/>
                <a:cs typeface="NanumGothic"/>
              </a:rPr>
              <a:t>테스트: frontend/README.md · backend/README.md</a:t>
            </a:r>
          </a:p>
        </p:txBody>
      </p:sp>
      <p:sp>
        <p:nvSpPr>
          <p:cNvPr id="8" name="">
            <a:extLst xmlns:a="http://schemas.openxmlformats.org/drawingml/2006/main">
              <a:ext uri="{FF2B5EF4-FFF2-40B4-BE49-F238E27FC236}">
                <a16:creationId xmlns:a16="http://schemas.microsoft.com/office/drawing/2014/main" id="{9D5B4F2C-B8E3-4F88-A0FC-0B220FF9A3D3}"/>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38</a:t>
            </a:r>
          </a:p>
        </p:txBody>
      </p:sp>
    </p:spTree>
    <p:extLst>
      <p:ext uri="{BB962C8B-B14F-4D97-AF65-F5344CB8AC3E}">
        <p14:creationId xmlns:p14="http://schemas.microsoft.com/office/powerpoint/2010/main" val="2058443658"/>
      </p:ext>
    </p:extLst>
  </p:cSld>
</p:sld>
</file>

<file path=ppt/slides/slide39.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D6840C9-CB16-4F05-AC25-96CA747DC5DF}"/>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팀원 및 역할</a:t>
            </a:r>
          </a:p>
        </p:txBody>
      </p:sp>
      <p:sp>
        <p:nvSpPr>
          <p:cNvPr id="2" name="">
            <a:extLst xmlns:a="http://schemas.openxmlformats.org/drawingml/2006/main">
              <a:ext uri="{FF2B5EF4-FFF2-40B4-BE49-F238E27FC236}">
                <a16:creationId xmlns:a16="http://schemas.microsoft.com/office/drawing/2014/main" id="{C7696BA8-709F-4EB4-80F6-E6F3DE6C7B79}"/>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SKALA 4기 광주3반 5조 · GroundWatch</a:t>
            </a:r>
          </a:p>
        </p:txBody>
      </p:sp>
      <p:sp>
        <p:nvSpPr>
          <p:cNvPr id="3" name="">
            <a:extLst xmlns:a="http://schemas.openxmlformats.org/drawingml/2006/main">
              <a:ext uri="{FF2B5EF4-FFF2-40B4-BE49-F238E27FC236}">
                <a16:creationId xmlns:a16="http://schemas.microsoft.com/office/drawing/2014/main" id="{F4479EB9-E03D-433C-931F-4711A9B057A0}"/>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사용자 제공 프로필 사진 · 역할은 팀 기획 기준</a:t>
            </a:r>
          </a:p>
        </p:txBody>
      </p:sp>
      <p:sp>
        <p:nvSpPr>
          <p:cNvPr id="4" name="">
            <a:extLst xmlns:a="http://schemas.openxmlformats.org/drawingml/2006/main">
              <a:ext uri="{FF2B5EF4-FFF2-40B4-BE49-F238E27FC236}">
                <a16:creationId xmlns:a16="http://schemas.microsoft.com/office/drawing/2014/main" id="{AE8AE0BB-15F3-4A8A-9039-B6D09077A4FC}"/>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39</a:t>
            </a:r>
          </a:p>
        </p:txBody>
      </p:sp>
      <p:pic>
        <p:nvPicPr>
          <p:cNvPr id="5" name="">
            <a:extLst xmlns:a="http://schemas.openxmlformats.org/drawingml/2006/main">
              <a:ext uri="{FF2B5EF4-FFF2-40B4-BE49-F238E27FC236}">
                <a16:creationId xmlns:a16="http://schemas.microsoft.com/office/drawing/2014/main" id="{D75942AD-2BA1-48D2-854B-931CAAFFA485}"/>
              </a:ext>
            </a:extLst>
          </p:cNvPr>
          <p:cNvPicPr>
            <a:picLocks xmlns:a="http://schemas.openxmlformats.org/drawingml/2006/main" noChangeAspect="1"/>
          </p:cNvPicPr>
          <p:nvPr/>
        </p:nvPicPr>
        <p:blipFill>
          <a:blip xmlns:r="http://schemas.openxmlformats.org/officeDocument/2006/relationships" xmlns:a="http://schemas.openxmlformats.org/drawingml/2006/main" r:embed="Rfccd6566453d4ef6"/>
          <a:stretch xmlns:a="http://schemas.openxmlformats.org/drawingml/2006/main"/>
        </p:blipFill>
        <p:spPr>
          <a:xfrm xmlns:a="http://schemas.openxmlformats.org/drawingml/2006/main">
            <a:off x="619813" y="1447800"/>
            <a:ext cx="779675" cy="11715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0F46733-4364-46B2-A08A-145F4B32B2AC}"/>
              </a:ext>
            </a:extLst>
          </p:cNvPr>
          <p:cNvSpPr>
            <a:spLocks xmlns:a="http://schemas.openxmlformats.org/drawingml/2006/main" noGrp="1"/>
          </p:cNvSpPr>
          <p:nvPr/>
        </p:nvSpPr>
        <p:spPr>
          <a:xfrm xmlns:a="http://schemas.openxmlformats.org/drawingml/2006/main">
            <a:off x="1581150" y="1638300"/>
            <a:ext cx="16287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007D68"/>
                </a:solidFill>
                <a:latin typeface="NanumGothic"/>
                <a:ea typeface="NanumGothic"/>
                <a:cs typeface="NanumGothic"/>
              </a:defRPr>
            </a:defPPr>
          </a:lstStyle>
          <a:p xmlns:a="http://schemas.openxmlformats.org/drawingml/2006/main">
            <a:pPr>
              <a:buNone/>
              <a:defRPr sz="1725" b="1">
                <a:solidFill>
                  <a:srgbClr val="007D68"/>
                </a:solidFill>
                <a:latin typeface="NanumGothic"/>
                <a:ea typeface="NanumGothic"/>
                <a:cs typeface="NanumGothic"/>
              </a:defRPr>
            </a:pPr>
            <a:r>
              <a:rPr sz="1725" b="1">
                <a:solidFill>
                  <a:srgbClr val="007D68"/>
                </a:solidFill>
                <a:latin typeface="NanumGothic"/>
                <a:ea typeface="NanumGothic"/>
                <a:cs typeface="NanumGothic"/>
              </a:rPr>
              <a:t>조건우</a:t>
            </a:r>
          </a:p>
        </p:txBody>
      </p:sp>
      <p:sp>
        <p:nvSpPr>
          <p:cNvPr id="7" name="">
            <a:extLst xmlns:a="http://schemas.openxmlformats.org/drawingml/2006/main">
              <a:ext uri="{FF2B5EF4-FFF2-40B4-BE49-F238E27FC236}">
                <a16:creationId xmlns:a16="http://schemas.microsoft.com/office/drawing/2014/main" id="{38BFC0CB-C94E-401E-9289-43E9CB7FF169}"/>
              </a:ext>
            </a:extLst>
          </p:cNvPr>
          <p:cNvSpPr>
            <a:spLocks xmlns:a="http://schemas.openxmlformats.org/drawingml/2006/main" noGrp="1"/>
          </p:cNvSpPr>
          <p:nvPr/>
        </p:nvSpPr>
        <p:spPr>
          <a:xfrm xmlns:a="http://schemas.openxmlformats.org/drawingml/2006/main">
            <a:off x="1581150" y="2028825"/>
            <a:ext cx="16287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222A2D"/>
                </a:solidFill>
                <a:latin typeface="NanumGothic"/>
                <a:ea typeface="NanumGothic"/>
                <a:cs typeface="NanumGothic"/>
              </a:defRPr>
            </a:defPPr>
          </a:lstStyle>
          <a:p xmlns:a="http://schemas.openxmlformats.org/drawingml/2006/main">
            <a:pPr>
              <a:buNone/>
              <a:defRPr sz="1200" b="0">
                <a:solidFill>
                  <a:srgbClr val="222A2D"/>
                </a:solidFill>
                <a:latin typeface="NanumGothic"/>
                <a:ea typeface="NanumGothic"/>
                <a:cs typeface="NanumGothic"/>
              </a:defRPr>
            </a:pPr>
            <a:r>
              <a:rPr sz="1200" b="0">
                <a:solidFill>
                  <a:srgbClr val="222A2D"/>
                </a:solidFill>
                <a:latin typeface="NanumGothic"/>
                <a:ea typeface="NanumGothic"/>
                <a:cs typeface="NanumGothic"/>
              </a:rPr>
              <a:t>PM · 기획 및 일정 관리</a:t>
            </a:r>
          </a:p>
        </p:txBody>
      </p:sp>
      <p:pic>
        <p:nvPicPr>
          <p:cNvPr id="8" name="">
            <a:extLst xmlns:a="http://schemas.openxmlformats.org/drawingml/2006/main">
              <a:ext uri="{FF2B5EF4-FFF2-40B4-BE49-F238E27FC236}">
                <a16:creationId xmlns:a16="http://schemas.microsoft.com/office/drawing/2014/main" id="{2E4A4D04-7BCC-4D83-91E1-94DC743DE216}"/>
              </a:ext>
            </a:extLst>
          </p:cNvPr>
          <p:cNvPicPr>
            <a:picLocks xmlns:a="http://schemas.openxmlformats.org/drawingml/2006/main" noChangeAspect="1"/>
          </p:cNvPicPr>
          <p:nvPr/>
        </p:nvPicPr>
        <p:blipFill>
          <a:blip xmlns:r="http://schemas.openxmlformats.org/officeDocument/2006/relationships" xmlns:a="http://schemas.openxmlformats.org/drawingml/2006/main" r:embed="Rb5851b8adac94a6a"/>
          <a:stretch xmlns:a="http://schemas.openxmlformats.org/drawingml/2006/main"/>
        </p:blipFill>
        <p:spPr>
          <a:xfrm xmlns:a="http://schemas.openxmlformats.org/drawingml/2006/main">
            <a:off x="3286125" y="1470252"/>
            <a:ext cx="876300" cy="1126671"/>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1533FE0B-8ABA-4A5E-BD46-803A2195A95F}"/>
              </a:ext>
            </a:extLst>
          </p:cNvPr>
          <p:cNvSpPr>
            <a:spLocks xmlns:a="http://schemas.openxmlformats.org/drawingml/2006/main" noGrp="1"/>
          </p:cNvSpPr>
          <p:nvPr/>
        </p:nvSpPr>
        <p:spPr>
          <a:xfrm xmlns:a="http://schemas.openxmlformats.org/drawingml/2006/main">
            <a:off x="4295775" y="1638300"/>
            <a:ext cx="16287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007D68"/>
                </a:solidFill>
                <a:latin typeface="NanumGothic"/>
                <a:ea typeface="NanumGothic"/>
                <a:cs typeface="NanumGothic"/>
              </a:defRPr>
            </a:defPPr>
          </a:lstStyle>
          <a:p xmlns:a="http://schemas.openxmlformats.org/drawingml/2006/main">
            <a:pPr>
              <a:buNone/>
              <a:defRPr sz="1725" b="1">
                <a:solidFill>
                  <a:srgbClr val="007D68"/>
                </a:solidFill>
                <a:latin typeface="NanumGothic"/>
                <a:ea typeface="NanumGothic"/>
                <a:cs typeface="NanumGothic"/>
              </a:defRPr>
            </a:pPr>
            <a:r>
              <a:rPr sz="1725" b="1">
                <a:solidFill>
                  <a:srgbClr val="007D68"/>
                </a:solidFill>
                <a:latin typeface="NanumGothic"/>
                <a:ea typeface="NanumGothic"/>
                <a:cs typeface="NanumGothic"/>
              </a:rPr>
              <a:t>박건우</a:t>
            </a:r>
          </a:p>
        </p:txBody>
      </p:sp>
      <p:sp>
        <p:nvSpPr>
          <p:cNvPr id="10" name="">
            <a:extLst xmlns:a="http://schemas.openxmlformats.org/drawingml/2006/main">
              <a:ext uri="{FF2B5EF4-FFF2-40B4-BE49-F238E27FC236}">
                <a16:creationId xmlns:a16="http://schemas.microsoft.com/office/drawing/2014/main" id="{0AE54CBB-194C-43AD-A3C3-7B5A031DBBFA}"/>
              </a:ext>
            </a:extLst>
          </p:cNvPr>
          <p:cNvSpPr>
            <a:spLocks xmlns:a="http://schemas.openxmlformats.org/drawingml/2006/main" noGrp="1"/>
          </p:cNvSpPr>
          <p:nvPr/>
        </p:nvSpPr>
        <p:spPr>
          <a:xfrm xmlns:a="http://schemas.openxmlformats.org/drawingml/2006/main">
            <a:off x="4295775" y="2028825"/>
            <a:ext cx="16287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222A2D"/>
                </a:solidFill>
                <a:latin typeface="NanumGothic"/>
                <a:ea typeface="NanumGothic"/>
                <a:cs typeface="NanumGothic"/>
              </a:defRPr>
            </a:defPPr>
          </a:lstStyle>
          <a:p xmlns:a="http://schemas.openxmlformats.org/drawingml/2006/main">
            <a:pPr>
              <a:buNone/>
              <a:defRPr sz="1200" b="0">
                <a:solidFill>
                  <a:srgbClr val="222A2D"/>
                </a:solidFill>
                <a:latin typeface="NanumGothic"/>
                <a:ea typeface="NanumGothic"/>
                <a:cs typeface="NanumGothic"/>
              </a:defRPr>
            </a:pPr>
            <a:r>
              <a:rPr sz="1200" b="0">
                <a:solidFill>
                  <a:srgbClr val="222A2D"/>
                </a:solidFill>
                <a:latin typeface="NanumGothic"/>
                <a:ea typeface="NanumGothic"/>
                <a:cs typeface="NanumGothic"/>
              </a:rPr>
              <a:t>프론트엔드 · 백엔드</a:t>
            </a:r>
          </a:p>
        </p:txBody>
      </p:sp>
      <p:pic>
        <p:nvPicPr>
          <p:cNvPr id="11" name="">
            <a:extLst xmlns:a="http://schemas.openxmlformats.org/drawingml/2006/main">
              <a:ext uri="{FF2B5EF4-FFF2-40B4-BE49-F238E27FC236}">
                <a16:creationId xmlns:a16="http://schemas.microsoft.com/office/drawing/2014/main" id="{32AD95C6-BC4E-42B6-A83D-038EA194E61B}"/>
              </a:ext>
            </a:extLst>
          </p:cNvPr>
          <p:cNvPicPr>
            <a:picLocks xmlns:a="http://schemas.openxmlformats.org/drawingml/2006/main" noChangeAspect="1"/>
          </p:cNvPicPr>
          <p:nvPr/>
        </p:nvPicPr>
        <p:blipFill>
          <a:blip xmlns:r="http://schemas.openxmlformats.org/officeDocument/2006/relationships" xmlns:a="http://schemas.openxmlformats.org/drawingml/2006/main" r:embed="R69300877bc8e4c34"/>
          <a:stretch xmlns:a="http://schemas.openxmlformats.org/drawingml/2006/main"/>
        </p:blipFill>
        <p:spPr>
          <a:xfrm xmlns:a="http://schemas.openxmlformats.org/drawingml/2006/main">
            <a:off x="6000750" y="1595438"/>
            <a:ext cx="876300" cy="8763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57CC5D54-42F8-432F-8499-CC8591E9E591}"/>
              </a:ext>
            </a:extLst>
          </p:cNvPr>
          <p:cNvSpPr>
            <a:spLocks xmlns:a="http://schemas.openxmlformats.org/drawingml/2006/main" noGrp="1"/>
          </p:cNvSpPr>
          <p:nvPr/>
        </p:nvSpPr>
        <p:spPr>
          <a:xfrm xmlns:a="http://schemas.openxmlformats.org/drawingml/2006/main">
            <a:off x="7010400" y="1638300"/>
            <a:ext cx="16287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007D68"/>
                </a:solidFill>
                <a:latin typeface="NanumGothic"/>
                <a:ea typeface="NanumGothic"/>
                <a:cs typeface="NanumGothic"/>
              </a:defRPr>
            </a:defPPr>
          </a:lstStyle>
          <a:p xmlns:a="http://schemas.openxmlformats.org/drawingml/2006/main">
            <a:pPr>
              <a:buNone/>
              <a:defRPr sz="1725" b="1">
                <a:solidFill>
                  <a:srgbClr val="007D68"/>
                </a:solidFill>
                <a:latin typeface="NanumGothic"/>
                <a:ea typeface="NanumGothic"/>
                <a:cs typeface="NanumGothic"/>
              </a:defRPr>
            </a:pPr>
            <a:r>
              <a:rPr sz="1725" b="1">
                <a:solidFill>
                  <a:srgbClr val="007D68"/>
                </a:solidFill>
                <a:latin typeface="NanumGothic"/>
                <a:ea typeface="NanumGothic"/>
                <a:cs typeface="NanumGothic"/>
              </a:rPr>
              <a:t>이병주</a:t>
            </a:r>
          </a:p>
        </p:txBody>
      </p:sp>
      <p:sp>
        <p:nvSpPr>
          <p:cNvPr id="13" name="">
            <a:extLst xmlns:a="http://schemas.openxmlformats.org/drawingml/2006/main">
              <a:ext uri="{FF2B5EF4-FFF2-40B4-BE49-F238E27FC236}">
                <a16:creationId xmlns:a16="http://schemas.microsoft.com/office/drawing/2014/main" id="{7FEE3177-25CE-4645-A4D9-69D24073DA62}"/>
              </a:ext>
            </a:extLst>
          </p:cNvPr>
          <p:cNvSpPr>
            <a:spLocks xmlns:a="http://schemas.openxmlformats.org/drawingml/2006/main" noGrp="1"/>
          </p:cNvSpPr>
          <p:nvPr/>
        </p:nvSpPr>
        <p:spPr>
          <a:xfrm xmlns:a="http://schemas.openxmlformats.org/drawingml/2006/main">
            <a:off x="7010400" y="2028825"/>
            <a:ext cx="16287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222A2D"/>
                </a:solidFill>
                <a:latin typeface="NanumGothic"/>
                <a:ea typeface="NanumGothic"/>
                <a:cs typeface="NanumGothic"/>
              </a:defRPr>
            </a:defPPr>
          </a:lstStyle>
          <a:p xmlns:a="http://schemas.openxmlformats.org/drawingml/2006/main">
            <a:pPr>
              <a:buNone/>
              <a:defRPr sz="1200" b="0">
                <a:solidFill>
                  <a:srgbClr val="222A2D"/>
                </a:solidFill>
                <a:latin typeface="NanumGothic"/>
                <a:ea typeface="NanumGothic"/>
                <a:cs typeface="NanumGothic"/>
              </a:defRPr>
            </a:pPr>
            <a:r>
              <a:rPr sz="1200" b="0">
                <a:solidFill>
                  <a:srgbClr val="222A2D"/>
                </a:solidFill>
                <a:latin typeface="NanumGothic"/>
                <a:ea typeface="NanumGothic"/>
                <a:cs typeface="NanumGothic"/>
              </a:rPr>
              <a:t>프론트엔드 · 백엔드</a:t>
            </a:r>
          </a:p>
        </p:txBody>
      </p:sp>
      <p:pic>
        <p:nvPicPr>
          <p:cNvPr id="14" name="">
            <a:extLst xmlns:a="http://schemas.openxmlformats.org/drawingml/2006/main">
              <a:ext uri="{FF2B5EF4-FFF2-40B4-BE49-F238E27FC236}">
                <a16:creationId xmlns:a16="http://schemas.microsoft.com/office/drawing/2014/main" id="{6CD55A22-14E4-4562-892E-E3035AC1279A}"/>
              </a:ext>
            </a:extLst>
          </p:cNvPr>
          <p:cNvPicPr>
            <a:picLocks xmlns:a="http://schemas.openxmlformats.org/drawingml/2006/main" noChangeAspect="1"/>
          </p:cNvPicPr>
          <p:nvPr/>
        </p:nvPicPr>
        <p:blipFill>
          <a:blip xmlns:r="http://schemas.openxmlformats.org/officeDocument/2006/relationships" xmlns:a="http://schemas.openxmlformats.org/drawingml/2006/main" r:embed="R8bbcc601cb6a4788"/>
          <a:stretch xmlns:a="http://schemas.openxmlformats.org/drawingml/2006/main"/>
        </p:blipFill>
        <p:spPr>
          <a:xfrm xmlns:a="http://schemas.openxmlformats.org/drawingml/2006/main">
            <a:off x="571500" y="3022827"/>
            <a:ext cx="876300" cy="1126671"/>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CA4AB1D4-1FF7-4782-816A-658DE9776016}"/>
              </a:ext>
            </a:extLst>
          </p:cNvPr>
          <p:cNvSpPr>
            <a:spLocks xmlns:a="http://schemas.openxmlformats.org/drawingml/2006/main" noGrp="1"/>
          </p:cNvSpPr>
          <p:nvPr/>
        </p:nvSpPr>
        <p:spPr>
          <a:xfrm xmlns:a="http://schemas.openxmlformats.org/drawingml/2006/main">
            <a:off x="1581150" y="3190875"/>
            <a:ext cx="16287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007D68"/>
                </a:solidFill>
                <a:latin typeface="NanumGothic"/>
                <a:ea typeface="NanumGothic"/>
                <a:cs typeface="NanumGothic"/>
              </a:defRPr>
            </a:defPPr>
          </a:lstStyle>
          <a:p xmlns:a="http://schemas.openxmlformats.org/drawingml/2006/main">
            <a:pPr>
              <a:buNone/>
              <a:defRPr sz="1725" b="1">
                <a:solidFill>
                  <a:srgbClr val="007D68"/>
                </a:solidFill>
                <a:latin typeface="NanumGothic"/>
                <a:ea typeface="NanumGothic"/>
                <a:cs typeface="NanumGothic"/>
              </a:defRPr>
            </a:pPr>
            <a:r>
              <a:rPr sz="1725" b="1">
                <a:solidFill>
                  <a:srgbClr val="007D68"/>
                </a:solidFill>
                <a:latin typeface="NanumGothic"/>
                <a:ea typeface="NanumGothic"/>
                <a:cs typeface="NanumGothic"/>
              </a:rPr>
              <a:t>최은주</a:t>
            </a:r>
          </a:p>
        </p:txBody>
      </p:sp>
      <p:sp>
        <p:nvSpPr>
          <p:cNvPr id="16" name="">
            <a:extLst xmlns:a="http://schemas.openxmlformats.org/drawingml/2006/main">
              <a:ext uri="{FF2B5EF4-FFF2-40B4-BE49-F238E27FC236}">
                <a16:creationId xmlns:a16="http://schemas.microsoft.com/office/drawing/2014/main" id="{83B10780-0F90-4708-9766-317D868EC75F}"/>
              </a:ext>
            </a:extLst>
          </p:cNvPr>
          <p:cNvSpPr>
            <a:spLocks xmlns:a="http://schemas.openxmlformats.org/drawingml/2006/main" noGrp="1"/>
          </p:cNvSpPr>
          <p:nvPr/>
        </p:nvSpPr>
        <p:spPr>
          <a:xfrm xmlns:a="http://schemas.openxmlformats.org/drawingml/2006/main">
            <a:off x="1581150" y="3581400"/>
            <a:ext cx="16287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222A2D"/>
                </a:solidFill>
                <a:latin typeface="NanumGothic"/>
                <a:ea typeface="NanumGothic"/>
                <a:cs typeface="NanumGothic"/>
              </a:defRPr>
            </a:defPPr>
          </a:lstStyle>
          <a:p xmlns:a="http://schemas.openxmlformats.org/drawingml/2006/main">
            <a:pPr>
              <a:buNone/>
              <a:defRPr sz="1200" b="0">
                <a:solidFill>
                  <a:srgbClr val="222A2D"/>
                </a:solidFill>
                <a:latin typeface="NanumGothic"/>
                <a:ea typeface="NanumGothic"/>
                <a:cs typeface="NanumGothic"/>
              </a:defRPr>
            </a:pPr>
            <a:r>
              <a:rPr sz="1200" b="0">
                <a:solidFill>
                  <a:srgbClr val="222A2D"/>
                </a:solidFill>
                <a:latin typeface="NanumGothic"/>
                <a:ea typeface="NanumGothic"/>
                <a:cs typeface="NanumGothic"/>
              </a:rPr>
              <a:t>AI 모델 · AIOps</a:t>
            </a:r>
          </a:p>
        </p:txBody>
      </p:sp>
      <p:pic>
        <p:nvPicPr>
          <p:cNvPr id="17" name="">
            <a:extLst xmlns:a="http://schemas.openxmlformats.org/drawingml/2006/main">
              <a:ext uri="{FF2B5EF4-FFF2-40B4-BE49-F238E27FC236}">
                <a16:creationId xmlns:a16="http://schemas.microsoft.com/office/drawing/2014/main" id="{28ED28FC-41BF-4628-94AC-9DBC9A650EF8}"/>
              </a:ext>
            </a:extLst>
          </p:cNvPr>
          <p:cNvPicPr>
            <a:picLocks xmlns:a="http://schemas.openxmlformats.org/drawingml/2006/main" noChangeAspect="1"/>
          </p:cNvPicPr>
          <p:nvPr/>
        </p:nvPicPr>
        <p:blipFill>
          <a:blip xmlns:r="http://schemas.openxmlformats.org/officeDocument/2006/relationships" xmlns:a="http://schemas.openxmlformats.org/drawingml/2006/main" r:embed="Rdd7ecfdd9926499a"/>
          <a:stretch xmlns:a="http://schemas.openxmlformats.org/drawingml/2006/main"/>
        </p:blipFill>
        <p:spPr>
          <a:xfrm xmlns:a="http://schemas.openxmlformats.org/drawingml/2006/main">
            <a:off x="3286125" y="3038475"/>
            <a:ext cx="876300" cy="1095375"/>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56FD59C5-DB0B-47A2-897B-A388BAF11412}"/>
              </a:ext>
            </a:extLst>
          </p:cNvPr>
          <p:cNvSpPr>
            <a:spLocks xmlns:a="http://schemas.openxmlformats.org/drawingml/2006/main" noGrp="1"/>
          </p:cNvSpPr>
          <p:nvPr/>
        </p:nvSpPr>
        <p:spPr>
          <a:xfrm xmlns:a="http://schemas.openxmlformats.org/drawingml/2006/main">
            <a:off x="4295775" y="3190875"/>
            <a:ext cx="16287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007D68"/>
                </a:solidFill>
                <a:latin typeface="NanumGothic"/>
                <a:ea typeface="NanumGothic"/>
                <a:cs typeface="NanumGothic"/>
              </a:defRPr>
            </a:defPPr>
          </a:lstStyle>
          <a:p xmlns:a="http://schemas.openxmlformats.org/drawingml/2006/main">
            <a:pPr>
              <a:buNone/>
              <a:defRPr sz="1725" b="1">
                <a:solidFill>
                  <a:srgbClr val="007D68"/>
                </a:solidFill>
                <a:latin typeface="NanumGothic"/>
                <a:ea typeface="NanumGothic"/>
                <a:cs typeface="NanumGothic"/>
              </a:defRPr>
            </a:pPr>
            <a:r>
              <a:rPr sz="1725" b="1">
                <a:solidFill>
                  <a:srgbClr val="007D68"/>
                </a:solidFill>
                <a:latin typeface="NanumGothic"/>
                <a:ea typeface="NanumGothic"/>
                <a:cs typeface="NanumGothic"/>
              </a:rPr>
              <a:t>장서연</a:t>
            </a:r>
          </a:p>
        </p:txBody>
      </p:sp>
      <p:sp>
        <p:nvSpPr>
          <p:cNvPr id="19" name="">
            <a:extLst xmlns:a="http://schemas.openxmlformats.org/drawingml/2006/main">
              <a:ext uri="{FF2B5EF4-FFF2-40B4-BE49-F238E27FC236}">
                <a16:creationId xmlns:a16="http://schemas.microsoft.com/office/drawing/2014/main" id="{A713CC41-B832-41EB-BCD7-A6FC9A7C0759}"/>
              </a:ext>
            </a:extLst>
          </p:cNvPr>
          <p:cNvSpPr>
            <a:spLocks xmlns:a="http://schemas.openxmlformats.org/drawingml/2006/main" noGrp="1"/>
          </p:cNvSpPr>
          <p:nvPr/>
        </p:nvSpPr>
        <p:spPr>
          <a:xfrm xmlns:a="http://schemas.openxmlformats.org/drawingml/2006/main">
            <a:off x="4295775" y="3581400"/>
            <a:ext cx="16287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222A2D"/>
                </a:solidFill>
                <a:latin typeface="NanumGothic"/>
                <a:ea typeface="NanumGothic"/>
                <a:cs typeface="NanumGothic"/>
              </a:defRPr>
            </a:defPPr>
          </a:lstStyle>
          <a:p xmlns:a="http://schemas.openxmlformats.org/drawingml/2006/main">
            <a:pPr>
              <a:buNone/>
              <a:defRPr sz="1200" b="0">
                <a:solidFill>
                  <a:srgbClr val="222A2D"/>
                </a:solidFill>
                <a:latin typeface="NanumGothic"/>
                <a:ea typeface="NanumGothic"/>
                <a:cs typeface="NanumGothic"/>
              </a:defRPr>
            </a:pPr>
            <a:r>
              <a:rPr sz="1200" b="0">
                <a:solidFill>
                  <a:srgbClr val="222A2D"/>
                </a:solidFill>
                <a:latin typeface="NanumGothic"/>
                <a:ea typeface="NanumGothic"/>
                <a:cs typeface="NanumGothic"/>
              </a:rPr>
              <a:t>AI 모델 · AIOps</a:t>
            </a:r>
          </a:p>
        </p:txBody>
      </p:sp>
      <p:pic>
        <p:nvPicPr>
          <p:cNvPr id="20" name="">
            <a:extLst xmlns:a="http://schemas.openxmlformats.org/drawingml/2006/main">
              <a:ext uri="{FF2B5EF4-FFF2-40B4-BE49-F238E27FC236}">
                <a16:creationId xmlns:a16="http://schemas.microsoft.com/office/drawing/2014/main" id="{822B5873-C9DF-4491-B39B-85512BFA0D4D}"/>
              </a:ext>
            </a:extLst>
          </p:cNvPr>
          <p:cNvPicPr>
            <a:picLocks xmlns:a="http://schemas.openxmlformats.org/drawingml/2006/main" noChangeAspect="1"/>
          </p:cNvPicPr>
          <p:nvPr/>
        </p:nvPicPr>
        <p:blipFill>
          <a:blip xmlns:r="http://schemas.openxmlformats.org/officeDocument/2006/relationships" xmlns:a="http://schemas.openxmlformats.org/drawingml/2006/main" r:embed="R2b20d24bd505457c"/>
          <a:stretch xmlns:a="http://schemas.openxmlformats.org/drawingml/2006/main"/>
        </p:blipFill>
        <p:spPr>
          <a:xfrm xmlns:a="http://schemas.openxmlformats.org/drawingml/2006/main">
            <a:off x="6000750" y="3001619"/>
            <a:ext cx="876300" cy="1169087"/>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C4B74276-7FC7-44FD-BAF2-6E14BEAA8A97}"/>
              </a:ext>
            </a:extLst>
          </p:cNvPr>
          <p:cNvSpPr>
            <a:spLocks xmlns:a="http://schemas.openxmlformats.org/drawingml/2006/main" noGrp="1"/>
          </p:cNvSpPr>
          <p:nvPr/>
        </p:nvSpPr>
        <p:spPr>
          <a:xfrm xmlns:a="http://schemas.openxmlformats.org/drawingml/2006/main">
            <a:off x="7010400" y="3190875"/>
            <a:ext cx="16287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007D68"/>
                </a:solidFill>
                <a:latin typeface="NanumGothic"/>
                <a:ea typeface="NanumGothic"/>
                <a:cs typeface="NanumGothic"/>
              </a:defRPr>
            </a:defPPr>
          </a:lstStyle>
          <a:p xmlns:a="http://schemas.openxmlformats.org/drawingml/2006/main">
            <a:pPr>
              <a:buNone/>
              <a:defRPr sz="1725" b="1">
                <a:solidFill>
                  <a:srgbClr val="007D68"/>
                </a:solidFill>
                <a:latin typeface="NanumGothic"/>
                <a:ea typeface="NanumGothic"/>
                <a:cs typeface="NanumGothic"/>
              </a:defRPr>
            </a:pPr>
            <a:r>
              <a:rPr sz="1725" b="1">
                <a:solidFill>
                  <a:srgbClr val="007D68"/>
                </a:solidFill>
                <a:latin typeface="NanumGothic"/>
                <a:ea typeface="NanumGothic"/>
                <a:cs typeface="NanumGothic"/>
              </a:rPr>
              <a:t>한형준</a:t>
            </a:r>
          </a:p>
        </p:txBody>
      </p:sp>
      <p:sp>
        <p:nvSpPr>
          <p:cNvPr id="22" name="">
            <a:extLst xmlns:a="http://schemas.openxmlformats.org/drawingml/2006/main">
              <a:ext uri="{FF2B5EF4-FFF2-40B4-BE49-F238E27FC236}">
                <a16:creationId xmlns:a16="http://schemas.microsoft.com/office/drawing/2014/main" id="{A3242C13-2096-4C81-97FF-09BB318FC532}"/>
              </a:ext>
            </a:extLst>
          </p:cNvPr>
          <p:cNvSpPr>
            <a:spLocks xmlns:a="http://schemas.openxmlformats.org/drawingml/2006/main" noGrp="1"/>
          </p:cNvSpPr>
          <p:nvPr/>
        </p:nvSpPr>
        <p:spPr>
          <a:xfrm xmlns:a="http://schemas.openxmlformats.org/drawingml/2006/main">
            <a:off x="7010400" y="3581400"/>
            <a:ext cx="16287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222A2D"/>
                </a:solidFill>
                <a:latin typeface="NanumGothic"/>
                <a:ea typeface="NanumGothic"/>
                <a:cs typeface="NanumGothic"/>
              </a:defRPr>
            </a:defPPr>
          </a:lstStyle>
          <a:p xmlns:a="http://schemas.openxmlformats.org/drawingml/2006/main">
            <a:pPr>
              <a:buNone/>
              <a:defRPr sz="1200" b="0">
                <a:solidFill>
                  <a:srgbClr val="222A2D"/>
                </a:solidFill>
                <a:latin typeface="NanumGothic"/>
                <a:ea typeface="NanumGothic"/>
                <a:cs typeface="NanumGothic"/>
              </a:defRPr>
            </a:pPr>
            <a:r>
              <a:rPr sz="1200" b="0">
                <a:solidFill>
                  <a:srgbClr val="222A2D"/>
                </a:solidFill>
                <a:latin typeface="NanumGothic"/>
                <a:ea typeface="NanumGothic"/>
                <a:cs typeface="NanumGothic"/>
              </a:rPr>
              <a:t>데이터 분석 · 전처리 · 발표</a:t>
            </a:r>
          </a:p>
        </p:txBody>
      </p:sp>
    </p:spTree>
    <p:extLst>
      <p:ext uri="{BB962C8B-B14F-4D97-AF65-F5344CB8AC3E}">
        <p14:creationId xmlns:p14="http://schemas.microsoft.com/office/powerpoint/2010/main" val="21013162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anumGothic"/>
        <a:ea typeface="NanumGothic"/>
        <a:cs typeface="NanumGothic"/>
      </a:majorFont>
      <a:minorFont>
        <a:latin typeface="NanumGothic"/>
        <a:ea typeface="NanumGothic"/>
        <a:cs typeface="NanumGothic"/>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2026-10-08T16:41:37.8060000Z</dcterms:created>
  <dcterms:modified xsi:type="dcterms:W3CDTF">2026-10-08T16:41:37.8060000Z</dcterms:modified>
</coreProperties>
</file>